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3F3A34"/>
                </a:solidFill>
                <a:latin typeface="微软雅黑"/>
              </a:defRPr>
            </a:pPr>
            <a:r>
              <a:t>投资结构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8A8276"/>
              </a:solidFill>
            </c:spPr>
          </c:dPt>
          <c:dPt>
            <c:idx val="1"/>
            <c:spPr>
              <a:solidFill>
                <a:srgbClr val="DEA44E"/>
              </a:solidFill>
            </c:spPr>
          </c:dPt>
          <c:dPt>
            <c:idx val="2"/>
            <c:spPr>
              <a:solidFill>
                <a:srgbClr val="C4533C"/>
              </a:solidFill>
            </c:spPr>
          </c:dPt>
          <c:dPt>
            <c:idx val="3"/>
            <c:spPr>
              <a:solidFill>
                <a:srgbClr val="9E3B2B"/>
              </a:solidFill>
            </c:spPr>
          </c:dPt>
          <c:dPt>
            <c:idx val="4"/>
            <c:spPr>
              <a:solidFill>
                <a:srgbClr val="4C8577"/>
              </a:solidFill>
            </c:spPr>
          </c:dPt>
          <c:dPt>
            <c:idx val="5"/>
            <c:spPr>
              <a:solidFill>
                <a:srgbClr val="E7DDCC"/>
              </a:solidFill>
            </c:spPr>
          </c:dPt>
          <c:cat>
            <c:strRef>
              <c:f>Sheet1!$A$2:$A$7</c:f>
              <c:strCache>
                <c:ptCount val="6"/>
                <c:pt idx="0">
                  <c:v>场地基础</c:v>
                </c:pt>
                <c:pt idx="1">
                  <c:v>建筑工程</c:v>
                </c:pt>
                <c:pt idx="2">
                  <c:v>演艺工程</c:v>
                </c:pt>
                <c:pt idx="3">
                  <c:v>内容制作</c:v>
                </c:pt>
                <c:pt idx="4">
                  <c:v>景观环境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12.9</c:v>
                </c:pt>
                <c:pt idx="1">
                  <c:v>31.3</c:v>
                </c:pt>
                <c:pt idx="2">
                  <c:v>21.3</c:v>
                </c:pt>
                <c:pt idx="3">
                  <c:v>11.3</c:v>
                </c:pt>
                <c:pt idx="4">
                  <c:v>8.1</c:v>
                </c:pt>
                <c:pt idx="5">
                  <c:v>15.2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F3A34"/>
                </a:solidFill>
                <a:latin typeface="微软雅黑"/>
              </a:defRPr>
            </a:pPr>
            <a:r>
              <a:t>收入与EBITDA(万元/年)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收入合计</c:v>
                </c:pt>
              </c:strCache>
            </c:strRef>
          </c:tx>
          <c:spPr>
            <a:solidFill>
              <a:srgbClr val="DEA44E"/>
            </a:solidFill>
          </c:spPr>
          <c:cat>
            <c:strRef>
              <c:f>Sheet1!$A$2:$A$4</c:f>
              <c:strCache>
                <c:ptCount val="3"/>
                <c:pt idx="0">
                  <c:v>保守(60万)</c:v>
                </c:pt>
                <c:pt idx="1">
                  <c:v>基准(100万)</c:v>
                </c:pt>
                <c:pt idx="2">
                  <c:v>乐观(150万)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4620</c:v>
                </c:pt>
                <c:pt idx="1">
                  <c:v>7700</c:v>
                </c:pt>
                <c:pt idx="2">
                  <c:v>11550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4C8577"/>
            </a:solidFill>
          </c:spPr>
          <c:cat>
            <c:strRef>
              <c:f>Sheet1!$A$2:$A$4</c:f>
              <c:strCache>
                <c:ptCount val="3"/>
                <c:pt idx="0">
                  <c:v>保守(60万)</c:v>
                </c:pt>
                <c:pt idx="1">
                  <c:v>基准(100万)</c:v>
                </c:pt>
                <c:pt idx="2">
                  <c:v>乐观(150万)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-473</c:v>
                </c:pt>
                <c:pt idx="1">
                  <c:v>2145</c:v>
                </c:pt>
                <c:pt idx="2">
                  <c:v>5418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50" b="1">
                  <a:solidFill>
                    <a:srgbClr val="3F3A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DCC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CE4D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3F3A34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F3A34"/>
                </a:solidFill>
                <a:latin typeface="微软雅黑"/>
              </a:defRPr>
            </a:pPr>
            <a:r>
              <a:t>月度客流分布(基准100万)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月客流(万人次,基准)</c:v>
                </c:pt>
              </c:strCache>
            </c:strRef>
          </c:tx>
          <c:spPr>
            <a:solidFill>
              <a:srgbClr val="4C8577"/>
            </a:solidFill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14</c:v>
                </c:pt>
                <c:pt idx="7">
                  <c:v>14</c:v>
                </c:pt>
                <c:pt idx="8">
                  <c:v>10</c:v>
                </c:pt>
                <c:pt idx="9">
                  <c:v>10</c:v>
                </c:pt>
                <c:pt idx="10">
                  <c:v>5</c:v>
                </c:pt>
                <c:pt idx="11">
                  <c:v>5</c:v>
                </c:pt>
              </c:numCache>
            </c:numRef>
          </c:val>
        </c:ser>
        <c:dLbls>
          <c:numFmt formatCode="0&quot;万&quot;" sourceLinked="0"/>
          <c:txPr>
            <a:bodyPr/>
            <a:lstStyle/>
            <a:p>
              <a:pPr>
                <a:defRPr sz="850" b="1">
                  <a:solidFill>
                    <a:srgbClr val="3F3A3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DDCC"/>
            </a:solidFill>
          </a:ln>
        </c:spPr>
        <c:txPr>
          <a:bodyPr/>
          <a:lstStyle/>
          <a:p>
            <a:pPr>
              <a:defRPr sz="95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CE4D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F3A34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2194560"/>
            <a:ext cx="6858000" cy="6858000"/>
          </a:xfrm>
          <a:prstGeom prst="ellipse">
            <a:avLst/>
          </a:prstGeom>
          <a:solidFill>
            <a:srgbClr val="F3E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4663440" cy="466344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11680" y="4480560"/>
            <a:ext cx="4937760" cy="4937760"/>
          </a:xfrm>
          <a:prstGeom prst="ellipse">
            <a:avLst/>
          </a:prstGeom>
          <a:solidFill>
            <a:srgbClr val="E9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394960"/>
            <a:ext cx="3108960" cy="310896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005840"/>
            <a:ext cx="2926080" cy="45720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05840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一期深化 · 三合一交付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916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C4533C"/>
                </a:solidFill>
                <a:latin typeface="微软雅黑"/>
              </a:rPr>
              <a:t>「鸭绿江 · 1950」一期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3F3A34"/>
                </a:solidFill>
                <a:latin typeface="微软雅黑"/>
              </a:rPr>
              <a:t>概念方案与投资估算 · 客流与收入测算模型 · 演艺内容大纲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463040" cy="64008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033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</a:pPr>
            <a:r>
              <a:rPr sz="1350" b="0">
                <a:solidFill>
                  <a:srgbClr val="3F3A34"/>
                </a:solidFill>
                <a:latin typeface="微软雅黑"/>
              </a:rPr>
              <a:t>选址:虎山长城—叆河片区 · 免大门票开放街区 · 一期投资约3.1亿元(概念级±30%)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8A8276"/>
                </a:solidFill>
                <a:latin typeface="微软雅黑"/>
              </a:rPr>
              <a:t>附:可编辑Excel测算模型(参数联动,黄色单元格即改即算)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892040"/>
            <a:ext cx="3383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89204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一期约200亩 · 12个月建成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4892040"/>
            <a:ext cx="3383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89204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DEA44E"/>
                </a:solidFill>
                <a:latin typeface="微软雅黑"/>
              </a:rPr>
              <a:t>基准年客流100万 · 收入7,700万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4892040"/>
            <a:ext cx="33832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89204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4C8577"/>
                </a:solidFill>
                <a:latin typeface="微软雅黑"/>
              </a:rPr>
              <a:t>日场抢渡 + 4小剧场 + NPC街区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897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8A8276"/>
                </a:solidFill>
                <a:latin typeface="微软雅黑"/>
              </a:rPr>
              <a:t>2026年8月 · 概念深化稿(V1) · 前序:《丹东红色文旅小镇可行性与全链路旅游体系》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9751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F3A34"/>
                </a:solidFill>
                <a:latin typeface="微软雅黑"/>
              </a:rPr>
              <a:t>一期概念方案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3591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定位与开发原则 · 一轴四区分区 · 业态面积清单 · 12个月建设时序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8036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266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F3A34"/>
                </a:solidFill>
                <a:latin typeface="微软雅黑"/>
              </a:rPr>
              <a:t>投资估算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41071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分项估算表(概念级±30%) · 投资结构 · 二三期预留与决策门槛 · 资金组织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3192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0782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F3A34"/>
                </a:solidFill>
                <a:latin typeface="微软雅黑"/>
              </a:rPr>
              <a:t>客流与收入测算模型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6227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测算逻辑与假设 · 三情景客流 · 收入/成本/盈亏平衡 · 敏感性 · Excel模型使用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5212080"/>
            <a:ext cx="457200" cy="45720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1297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F3A34"/>
                </a:solidFill>
                <a:latin typeface="微软雅黑"/>
              </a:rPr>
              <a:t>演艺内容大纲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51383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A8276"/>
                </a:solidFill>
                <a:latin typeface="微软雅黑"/>
              </a:rPr>
              <a:t>总叙事 · 日场《抢渡鸭绿江》 · NPC任务线 · 小剧场群剧目 · 夜演分幕(二期) · 更新机制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壹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一期概念方案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定位:全链路的「留量心脏」,免大门票开放街区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一期约200亩,一轴四区,建筑面积约1.9万㎡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12个月建成开业,先内容后砖头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概念方案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一期定位与六条开发原则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小步快跑:用最小可行产品验证「渡江叙事+免票街区」模型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691640"/>
            <a:ext cx="11064240" cy="960120"/>
          </a:xfrm>
          <a:prstGeom prst="roundRect">
            <a:avLst/>
          </a:prstGeom>
          <a:solidFill>
            <a:srgbClr val="F3EBDB"/>
          </a:solidFill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C4533C"/>
                </a:solidFill>
                <a:latin typeface="微软雅黑"/>
              </a:rPr>
              <a:t>一期定位:</a:t>
            </a:r>
            <a:r>
              <a:rPr sz="1400" b="0">
                <a:solidFill>
                  <a:srgbClr val="3F3A34"/>
                </a:solidFill>
                <a:latin typeface="微软雅黑"/>
              </a:rPr>
              <a:t>「鸭绿江·1950」支前老街与日场演艺核心区 —— 白天有市井、午后有抢渡、四季有剧场,先把「值得专程」立起来。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26080"/>
            <a:ext cx="3611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① 内容先行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01568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演艺与NPC剧目先于建筑定稿;建筑为内容服务,不做无内容的仿古空壳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926080"/>
            <a:ext cx="3611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035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② 免票聚客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401568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街区开放进入;收入靠演艺票+餐饮+文创+研学,开业即执行三层收入结构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2926080"/>
            <a:ext cx="3611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3035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③ 最小可行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401568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一期只建支撑「半日体验」的必要体量,拒绝一次铺满;预留二期用地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07408"/>
            <a:ext cx="3611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6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④ 四季可用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82896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小剧场全室内;冬季「1950年的冬天」主题接续,不做纯季节性资产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07408"/>
            <a:ext cx="3611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4517136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⑤ 庄重底线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882896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战斗与牺牲只在演艺/研学呈现;商业业态限定于支前市井层面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407408"/>
            <a:ext cx="3611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4517136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⑥ 组团联动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4882896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与虎山长城、零公里、国门湾营地共享停车/接驳/客流,不自建孤岛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98932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98932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一期的成功标准不是「建了多少」,而是:开业首年客流70万+、复游与口碑数据达标——达标才解锁二期夜演大剧场与酒店。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概念方案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一期「一轴四区」分区方案(约200亩)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沿叆河水岸展开;酒店与夜演大剧场为二期预留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7223760" cy="3977639"/>
          </a:xfrm>
          <a:prstGeom prst="roundRect">
            <a:avLst/>
          </a:prstGeom>
          <a:solidFill>
            <a:srgbClr val="F4EEE0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22960" y="4297680"/>
            <a:ext cx="6903719" cy="960120"/>
          </a:xfrm>
          <a:custGeom>
            <a:avLst/>
            <a:gdLst/>
            <a:ahLst/>
            <a:cxnLst/>
            <a:rect l="l" t="t" r="r" b="b"/>
            <a:pathLst>
              <a:path w="6903719" h="960120">
                <a:moveTo>
                  <a:pt x="0" y="960120"/>
                </a:moveTo>
                <a:lnTo>
                  <a:pt x="1554480" y="594360"/>
                </a:lnTo>
                <a:lnTo>
                  <a:pt x="3383280" y="457200"/>
                </a:lnTo>
                <a:lnTo>
                  <a:pt x="5212080" y="182880"/>
                </a:lnTo>
                <a:lnTo>
                  <a:pt x="6903719" y="0"/>
                </a:lnTo>
              </a:path>
            </a:pathLst>
          </a:custGeom>
          <a:noFill/>
          <a:ln w="571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5720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4A7FA5"/>
                </a:solidFill>
                <a:latin typeface="微软雅黑"/>
              </a:rPr>
              <a:t>叆河水岸(演艺水域)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057400"/>
            <a:ext cx="15544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12264"/>
            <a:ext cx="1408176" cy="10058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C4533C"/>
                </a:solidFill>
                <a:latin typeface="微软雅黑"/>
              </a:rPr>
              <a:t>A 入口广场区
约15亩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入伍登记·游客中心
仪式广场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1965960"/>
            <a:ext cx="21031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79192" y="2020824"/>
            <a:ext cx="1956815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DEA44E"/>
                </a:solidFill>
                <a:latin typeface="微软雅黑"/>
              </a:rPr>
              <a:t>B 支前老街区
约45亩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商街12,000㎡
NPC市井+美食+文创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057400"/>
            <a:ext cx="17373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2112264"/>
            <a:ext cx="1591056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4C8577"/>
                </a:solidFill>
                <a:latin typeface="微软雅黑"/>
              </a:rPr>
              <a:t>C 小剧场群区
约25亩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F3A34"/>
                </a:solidFill>
                <a:latin typeface="微软雅黑"/>
              </a:rPr>
              <a:t>室内小剧场×4
(一期先开2个)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3703320"/>
            <a:ext cx="17373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42032" y="3758183"/>
            <a:ext cx="15910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4C8577"/>
                </a:solidFill>
                <a:latin typeface="微软雅黑"/>
              </a:rPr>
              <a:t>D 研学营地区
约30亩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566160"/>
            <a:ext cx="21031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3621024"/>
            <a:ext cx="19568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4A7FA5"/>
                </a:solidFill>
                <a:latin typeface="微软雅黑"/>
              </a:rPr>
              <a:t>E 抢渡实景区 约40亩
看台1,500座+水域舞台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40680"/>
            <a:ext cx="310896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A827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108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8A8276"/>
                </a:solidFill>
                <a:latin typeface="微软雅黑"/>
              </a:rPr>
              <a:t>二期预留:夜演大剧场+主题酒店+温泉(约45亩)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874519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4C8577"/>
                </a:solidFill>
                <a:latin typeface="微软雅黑"/>
              </a:rPr>
              <a:t>→ 虎山长城·零公里 3km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828800"/>
            <a:ext cx="3566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动静分离: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演艺/研学沿水岸(动区),二期酒店在背水侧(静区)。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动线闭环: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入口→老街(逛吃)→小剧场(看)→水岸(抢渡日场)→返程老街(带走文创),半日闭环约4小时。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容量: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瞬时承载约8,000人,日最大约2.5万人次;停车位一期800个+房车位联动国门湾。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0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00" b="1">
                <a:solidFill>
                  <a:srgbClr val="C4533C"/>
                </a:solidFill>
                <a:latin typeface="微软雅黑"/>
              </a:rPr>
              <a:t>市政: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接驳专线站点设于入口广场;水电气讯与防洪按二期总规模一次敷设,避免二次开挖。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概念方案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一期业态与建筑面积清单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总建筑面积约19,000㎡;改造与轻建造优先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304"/>
                <a:gridCol w="2731957"/>
                <a:gridCol w="2185565"/>
                <a:gridCol w="4371131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分区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建设内容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规模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功能/业态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A 入口广场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游客中心+仪式广场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3,000㎡建筑+广场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入伍登记NPC、寄存、护照发放、集散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B 支前老街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商街建筑(两层为主)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12,000㎡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美食档口40+、文创店8、老字号6、NPC剧目点位10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C 小剧场群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室内小剧场×2(一期)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2×750㎡·各约250座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《坑道》《战地医院》轮演;预留2个剧场基础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E 抢渡实景区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看台+水域舞台+设备库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看台1,500座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日场《抢渡鸭绿江》;旺季日2–4场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D 研学营地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营房+多功能教室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1,200㎡+场地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半日/一日课程;淡季承接团建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配套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停车/市政/景观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车位800个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接驳站、亮化、防洪与水岸整治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62356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对比参照:延安红街61公顷/1.5公里街区为成熟态;一期13公顷(200亩)约为其1/5,匹配丹东客流基数,避免「大而空」。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壹 · 概念方案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12个月建设与开业时序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内容与工程双线并行;第13个月「五一」开业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28800"/>
            <a:ext cx="1188720" cy="1051560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1188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工程线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48256" y="192024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M1–M3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223113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土地整理·市政·防洪水岸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65676" y="221284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07408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192024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M3–M8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23113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老街与游客中心主体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52844" y="221284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94576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192024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M6–M10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223113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小剧场×2·看台与水域舞台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40012" y="221284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81744" y="182880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92024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M9–M12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23113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装修·景观·亮化·联调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063240"/>
            <a:ext cx="1188720" cy="1051560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063240"/>
            <a:ext cx="1188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内容线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30632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48256" y="315468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M1–M4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8256" y="346557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剧本创作·导演团队组建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265676" y="344728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07408" y="30632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424" y="315468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M4–M8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5424" y="346557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选角培训·服装道具·音乐制作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752844" y="344728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894576" y="30632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315468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M8–M11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46557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排练·设备进场·合成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240012" y="344728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81744" y="306324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315468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M11–M12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346557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带妆彩排·压力测试·试运营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297680"/>
            <a:ext cx="1188720" cy="105156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297680"/>
            <a:ext cx="1188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运营线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42976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48256" y="438912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M3–M6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48256" y="470001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招商(美食/文创/老字号)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4265676" y="468172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07408" y="42976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35424" y="438912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M6–M9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5424" y="470001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商户进场装修·研学课程开发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6752844" y="468172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894576" y="42976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2592" y="438912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M9–M12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470001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预热营销·通票系统上线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9240012" y="4681728"/>
            <a:ext cx="128016" cy="256032"/>
          </a:xfrm>
          <a:prstGeom prst="rightArrow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381744" y="42976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09760" y="4389120"/>
            <a:ext cx="2075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4C8577"/>
                </a:solidFill>
                <a:latin typeface="微软雅黑"/>
              </a:rPr>
              <a:t>M13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4700016"/>
            <a:ext cx="20756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「五一」正式开业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571500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571500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关键路径是内容线:剧本与导演团队必须在M1启动——工程可以压缩,内容打磨不能;宁可延期开业,不可带着平庸的戏开业。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贰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投资估算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一期总投资约3.1亿元(概念级估算,精度±30%)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内容与演艺设备占约33%,「先内容后砖头」落在钱上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二期约3.2亿元,以一期数据达标为决策门槛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贰 · 投资估算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一期投资估算表(概念级 ±30%)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单位:万元;取费按辽宁地区2026年造价水平估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6949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/>
                <a:gridCol w="3257550"/>
                <a:gridCol w="1194435"/>
                <a:gridCol w="868680"/>
              </a:tblGrid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科目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估算(万元)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占比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1 场地与基础设施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土地整理、市政管网、防洪水岸、停车与接驳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4,000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12.9%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2 建筑工程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支前老街12,000㎡、小剧场×2、游客中心、研学营地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9,700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31.3%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3 演艺工程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水岸看台与舞台土建、水效/烟火/声光电设备、小剧场舞美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6,600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21.3%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4 内容制作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日场演艺创排、小剧场剧目×4、NPC体系与服装道具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3,500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11.3%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5 景观环境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景观绿化、街区亮化、标识系统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2,500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8.1%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6 其他费用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设计咨询、开办培训、不可预见费(8%)、流动资金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4,700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15.2%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31,000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726679" y="1783080"/>
          <a:ext cx="39319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89788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演艺工程+内容制作合计约1.01亿(占33%)——这是与「仿古街区」项目最大的区别:钱花在内容上,内容才是复游理由。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贰 · 投资估算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二三期预留与投资决策门槛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一期数据说话,达标解锁,不达标止损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261"/>
                <a:gridCol w="3755479"/>
                <a:gridCol w="1564783"/>
                <a:gridCol w="4068436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期次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建设内容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估算投资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启动条件(决策门槛)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一期(本案)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支前老街+小剧场×2+日场抢渡+研学营地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约3.1亿元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即刻启动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二期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夜演大剧场(1,200座)+主题酒店(150间)+温泉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约3.2亿元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一期开业首年:客流≥70万、演艺转化≥30%、商户存活率≥80%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三期(弹性)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小剧场扩至4–6个、水岸夜游、营地扩容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约1–1.5亿元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二期开业后:过夜率≥25%、全年EBITDA≥5,000万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44348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资金组织建议: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政府平台公司资本金约40%(含土地作价)+ 政策性贷款/专项债约40%(文旅基础设施方向)+ 社会资本约20%(演艺运营方跟投、商户联营保证金)。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50" b="0">
                <a:solidFill>
                  <a:srgbClr val="DEA44E"/>
                </a:solidFill>
                <a:latin typeface="微软雅黑"/>
              </a:rPr>
              <a:t>✦ </a:t>
            </a:r>
            <a:r>
              <a:rPr sz="1150" b="1">
                <a:solidFill>
                  <a:srgbClr val="C4533C"/>
                </a:solidFill>
                <a:latin typeface="微软雅黑"/>
              </a:rPr>
              <a:t>风险控制: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演艺设备与内容制作合同与票房对赌条款挂钩;商街采用「低保底+高抽成」租约,与商户共担爬坡期。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98932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98932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总盘子约6.3–6.8亿分三期滚动,任何一期数据不达标即暂停加码——把「重资产沉没」风险锁在单期3亿的可承受范围内。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4C8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叁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客流与收入测算模型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三情景:保守60万 / 基准100万 / 乐观150万人次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基准年收入约7,700万、EBITDA约2,145万、盈亏平衡约67万人次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附Excel联动模型:改黄色参数即自动重算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叁 · 测算模型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测算逻辑与关键假设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口径:稳定运营年(开业第3年);首年按基准×70%爬坡理解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086"/>
                <a:gridCol w="2687893"/>
                <a:gridCol w="555498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假设项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取值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依据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年客流(保守/基准/乐观)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60 / 100 / 150万人次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基准=城市旗舰锚定率约15%;≈遵义1935单月120万的1/14强度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日场演艺转化率×票价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35% × 80元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免票入街聚客后的观演转化;票价取同类实景演艺区间下沿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小剧场转化率×均价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25% × 40元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多剧场轮演+通票含1场的加购逻辑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餐饮商业人均贡献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18元(租金+抽成口径)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约合商户流水20%抽成,商户人均流水约90元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文创/研学/其他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8元 + 研学6%×150元 + 4元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研学对接学校/机关,淡季填舱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固定4,400万 + 变动15%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演职员约120人+运营80人、能耗物业、营销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62356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全部参数开放在Excel「01_假设」表黄色单元格,即改即算——本页数字是模型默认值,不是结论;决策请以敏感性区间看待。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叁 · 测算模型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三情景测算结果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单位:万元/年;一期业态口径(夜演与酒店在二期)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13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2920" y="1783080"/>
          <a:ext cx="566928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783080"/>
          <a:ext cx="525779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85"/>
                <a:gridCol w="1126671"/>
                <a:gridCol w="1126671"/>
                <a:gridCol w="1126671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保守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基准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乐观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年客流(万人次)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收入合计(万元)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4,620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7,700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11,550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EBITDA(万元)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-473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2,145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5,418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EBITDA率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27.9%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46.9%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一期回收期(年)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14.5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5.7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4937760"/>
            <a:ext cx="5257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C4533C"/>
                </a:solidFill>
                <a:latin typeface="微软雅黑"/>
              </a:rPr>
              <a:t>盈亏平衡:</a:t>
            </a:r>
            <a:r>
              <a:rPr sz="1100" b="0">
                <a:solidFill>
                  <a:srgbClr val="3F3A34"/>
                </a:solidFill>
                <a:latin typeface="微软雅黑"/>
              </a:rPr>
              <a:t>约67万人次/年(按基准人均77元口径)——即保守情景略低于平衡点,基准情景有约33万人次安全垫。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52160"/>
            <a:ext cx="1115568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回收期14.5年是「纯一期票据口径」;叠加二期夜演+酒店(过夜消费)与土地增值后,整体回收预计缩短至8–10年——一期的使命是验证,不是回本。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叁 · 测算模型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月度客流与敏感性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冬季占比20%靠室内剧场与主题season支撑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02920" y="1783080"/>
          <a:ext cx="58521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0" y="1783080"/>
          <a:ext cx="5074917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278"/>
                <a:gridCol w="1180213"/>
                <a:gridCol w="1180213"/>
                <a:gridCol w="1180213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EBITDA(万元)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人均60元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人均77元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人均95元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客流60万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-1,340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-473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445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客流80万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-320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836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2,060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客流100万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2,145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3,675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客流120万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1,720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3,454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5,290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C4533C"/>
                          </a:solidFill>
                          <a:latin typeface="微软雅黑"/>
                        </a:rPr>
                        <a:t>客流150万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3,250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5,418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F3A34"/>
                          </a:solidFill>
                          <a:latin typeface="微软雅黑"/>
                        </a:rPr>
                        <a:t>7,713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0" y="5029200"/>
            <a:ext cx="5074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敏感性读法: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客流跌破70万且人均低于77元即亏损——运营重心应放在「人均提升」(演艺转化与二消),其弹性大于客流拉新。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97880"/>
            <a:ext cx="1115568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107899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Excel模型五张表:00使用说明 / 01假设(黄色可改) / 02收入 / 03成本利润 / 04月度 / 05敏感性,全公式联动,可直接用于向上汇报与银行尽调底稿。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1645920"/>
            <a:ext cx="5669280" cy="566928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234440" cy="457200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第 肆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演艺内容大纲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总叙事「出征之城·1950」:一条大江、一座城、最可爱的人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日场抢渡 · NPC任务线 · 小剧场群 · 夜演(二期)四层内容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DEA44E"/>
                </a:solidFill>
                <a:latin typeface="微软雅黑"/>
              </a:rPr>
              <a:t>— </a:t>
            </a:r>
            <a:r>
              <a:rPr sz="1400" b="0">
                <a:solidFill>
                  <a:srgbClr val="8A8276"/>
                </a:solidFill>
                <a:latin typeface="微软雅黑"/>
              </a:rPr>
              <a:t>季度上新机制对抗审美疲劳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4652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演艺大纲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总叙事与四层内容体系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叙事母题:江的这一边是家,那一边是战场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691640"/>
            <a:ext cx="11064240" cy="914400"/>
          </a:xfrm>
          <a:prstGeom prst="roundRect">
            <a:avLst/>
          </a:prstGeom>
          <a:solidFill>
            <a:srgbClr val="F3EBDB"/>
          </a:solidFill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>
                <a:solidFill>
                  <a:srgbClr val="C4533C"/>
                </a:solidFill>
                <a:latin typeface="微软雅黑"/>
              </a:rPr>
              <a:t>总叙事「出征之城·1950」:</a:t>
            </a:r>
            <a:r>
              <a:rPr sz="1350" b="0">
                <a:solidFill>
                  <a:srgbClr val="3F3A34"/>
                </a:solidFill>
                <a:latin typeface="微软雅黑"/>
              </a:rPr>
              <a:t>以安东城1950年10月为时空切片——市井的烟火、集结的青春、渡江的决绝、后方的守望;不渲染仇恨,只讲「平凡人如何成为最可爱的人」。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80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79806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90672"/>
            <a:ext cx="24140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DEA44E"/>
                </a:solidFill>
                <a:latin typeface="微软雅黑"/>
              </a:rPr>
              <a:t>第一层 · 街区NPC(常态)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2414016" cy="38404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22311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F3A34"/>
                </a:solidFill>
                <a:latin typeface="微软雅黑"/>
              </a:rPr>
              <a:t>免费,人人可遇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61104"/>
            <a:ext cx="2414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支前市井10个点位剧目,游客领任务成为「剧中人」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2880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75304" y="279806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3090672"/>
            <a:ext cx="24140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4C8577"/>
                </a:solidFill>
                <a:latin typeface="微软雅黑"/>
              </a:rPr>
              <a:t>第二层 · 小剧场群(轮演)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75304" y="3749039"/>
            <a:ext cx="2414016" cy="38404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3749039"/>
            <a:ext cx="22311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F3A34"/>
                </a:solidFill>
                <a:latin typeface="微软雅黑"/>
              </a:rPr>
              <a:t>40元/场,通票含1场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4261104"/>
            <a:ext cx="2414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15–30分钟强情感小戏,室内四季可演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4496" y="2880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279806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090672"/>
            <a:ext cx="24140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第三层 · 日场《抢渡鸭绿江》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19088" y="3749039"/>
            <a:ext cx="2414016" cy="38404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749039"/>
            <a:ext cx="22311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F3A34"/>
                </a:solidFill>
                <a:latin typeface="微软雅黑"/>
              </a:rPr>
              <a:t>80元,一期旗舰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261104"/>
            <a:ext cx="2414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水岸实景战争场面,每日2场旺季4场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880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62872" y="279806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3090672"/>
            <a:ext cx="24140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4A7FA5"/>
                </a:solidFill>
                <a:latin typeface="微软雅黑"/>
              </a:rPr>
              <a:t>第四层 · 夜演《鸭绿江·1950》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2872" y="3749039"/>
            <a:ext cx="2414016" cy="384048"/>
          </a:xfrm>
          <a:prstGeom prst="roundRect">
            <a:avLst/>
          </a:prstGeom>
          <a:solidFill>
            <a:srgbClr val="F6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3749039"/>
            <a:ext cx="22311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3F3A34"/>
                </a:solidFill>
                <a:latin typeface="微软雅黑"/>
              </a:rPr>
              <a:t>120元,二期旗舰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4261104"/>
            <a:ext cx="24140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1,200座大剧场史诗歌舞,留客过夜引擎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44068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44068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四层内容对应四个消费深度:白逛(免费)→ 浅看(40元)→ 必看(80元)→ 过夜(120元+住宿)——层层向上转化,免票不等于免费。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演艺大纲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日场旗舰《抢渡鸭绿江》分幕大纲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水岸实景 · 约30分钟 · 看台1,500座 · 每日2场(旺季4场)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10995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710"/>
                <a:gridCol w="1041558"/>
                <a:gridCol w="4513421"/>
                <a:gridCol w="3298269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幕次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时长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舞台手段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序幕《江城十月》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3分钟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1950年10月的安东:江风、汽笛、市井声;广播骤响,气氛陡转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全场灯光渐暗,江面雾效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第一幕《集结》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7分钟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码头集结:新兵告别、老兵沉默、母亲塞进怀里的一把炒面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演员从观众席穿行入场,近距离告别戏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第二幕《炮火封江》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8分钟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敌机轰炸浮桥,工兵冒火抢修;水爆、烟火、机械桥体断裂复位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全剧技术高潮:水效+烟火+特技坠水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第三幕《抢渡》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9分钟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夜色强渡:百人方阵踏桥过江,攻打对岸据点;火光映江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观众席震动音效;据点爆破占位对岸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4533C"/>
                          </a:solidFill>
                          <a:latin typeface="微软雅黑"/>
                        </a:rPr>
                        <a:t>尾声《回望》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3分钟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硝烟散去,江面恢复平静;画外音:「他们中的很多人,再也没有回来」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F3A34"/>
                          </a:solidFill>
                          <a:latin typeface="微软雅黑"/>
                        </a:rPr>
                        <a:t>全场肃立段落,禁止鼓掌提示——庄重收束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623560"/>
            <a:ext cx="1110996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44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创排要求:军事顾问+党史专家全程把关;尾声「静默段落」是全剧的精神落点,宁可牺牲「爽感」也要保住庄重。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演艺大纲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街区NPC任务线与小剧场群剧目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常态内容:让「逛街」变成「入戏」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691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C4533C"/>
                </a:solidFill>
                <a:latin typeface="微软雅黑"/>
              </a:rPr>
              <a:t>NPC任务线「支前模范」(免费)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40"/>
            <a:ext cx="5394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03704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① 入伍登记处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03704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领「支前通行证」,选择身份:民工/护士/文工团员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62072"/>
            <a:ext cx="5394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916936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② 炒面坊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916936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参与炒面打包任务,盖第一枚章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75304"/>
            <a:ext cx="5394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30168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③ 军邮所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630168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代写一封家书(可寄出/可带走),盖第二枚章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88536"/>
            <a:ext cx="5394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4340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④ 担架队集合点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4340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双人担架运送任务,盖第三枚章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001768"/>
            <a:ext cx="5394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056632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DEA44E"/>
                </a:solidFill>
                <a:latin typeface="微软雅黑"/>
              </a:rPr>
              <a:t>⑤ 车站送别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056632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F3A34"/>
                </a:solidFill>
                <a:latin typeface="微软雅黑"/>
              </a:rPr>
              <a:t>参与整点「送别」群戏,授「支前模范」纪念章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4C8577"/>
                </a:solidFill>
                <a:latin typeface="微软雅黑"/>
              </a:rPr>
              <a:t>小剧场群剧目表(一期开2个厅,轮演4剧目)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263640" y="2148840"/>
          <a:ext cx="53949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436"/>
                <a:gridCol w="1262650"/>
                <a:gridCol w="2754873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剧目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类型/时长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一句话内容</a:t>
                      </a:r>
                    </a:p>
                  </a:txBody>
                  <a:tcPr marL="54864" marR="54864" marT="27432" marB="27432" anchor="ctr">
                    <a:solidFill>
                      <a:srgbClr val="C4533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4533C"/>
                          </a:solidFill>
                          <a:latin typeface="微软雅黑"/>
                        </a:rPr>
                        <a:t>《坑道》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沉浸声光·20分钟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上甘岭坑道七天七夜,黑暗中的呼吸与歌声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4533C"/>
                          </a:solidFill>
                          <a:latin typeface="微软雅黑"/>
                        </a:rPr>
                        <a:t>《战地医院》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互动剧·25分钟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观众成为担架员与护士,亲历一场抢救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4533C"/>
                          </a:solidFill>
                          <a:latin typeface="微软雅黑"/>
                        </a:rPr>
                        <a:t>《一封家书》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独角戏·15分钟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军邮员读信,一封没有寄出的家书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4533C"/>
                          </a:solidFill>
                          <a:latin typeface="微软雅黑"/>
                        </a:rPr>
                        <a:t>《凯旋1953》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合家欢·20分钟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停战日的安东车站,重逢与等待</a:t>
                      </a:r>
                    </a:p>
                  </a:txBody>
                  <a:tcPr marL="54864" marR="54864" marT="27432" marB="27432" anchor="ctr">
                    <a:solidFill>
                      <a:srgbClr val="F6F0E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C4533C"/>
                          </a:solidFill>
                          <a:latin typeface="微软雅黑"/>
                        </a:rPr>
                        <a:t>《1950年的冬天》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季节限定(冬)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F3A34"/>
                          </a:solidFill>
                          <a:latin typeface="微软雅黑"/>
                        </a:rPr>
                        <a:t>长津湖主题:严寒、坚守与「冰雕连」的注目礼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566928" y="580644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80644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050" b="0">
                <a:solidFill>
                  <a:srgbClr val="3F3A34"/>
                </a:solidFill>
                <a:latin typeface="微软雅黑"/>
              </a:rPr>
              <a:t>NPC任务线的终点设计成「送别群戏」——它同时是游客的情感高潮与日场《抢渡》的天然导流口(送别的队伍正是即将渡江的人)。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演艺大纲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夜演《鸭绿江·1950》分幕大纲(二期旗舰)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1,200座大剧场 · 约60分钟 · 史诗歌舞 · 过夜引擎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0078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892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序《江水安澜》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5856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江畔渔歌与婚礼,1950年秋安东的寻常幸福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5351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水袖群舞·江面纱幕投影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8308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170078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892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A7FA5"/>
                </a:solidFill>
                <a:latin typeface="微软雅黑"/>
              </a:rPr>
              <a:t>一幕《烽火骤起》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25856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战火烧到江边,安东夜空的第一声警报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95351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机械升降+全息空袭场面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78308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84464" y="170078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89280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二幕《雄赳赳》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25856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誓师与渡江:军歌大合唱推向第一高潮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95351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军歌交响改编·百人方阵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6616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348386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67588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A7FA5"/>
                </a:solidFill>
                <a:latin typeface="微软雅黑"/>
              </a:rPr>
              <a:t>三幕《战地之春》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4164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双线并行:前线坑道的歌声/后方支前的灯火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36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双层舞台上下切换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56616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07992" y="348386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367588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4533C"/>
                </a:solidFill>
                <a:latin typeface="微软雅黑"/>
              </a:rPr>
              <a:t>四幕《最可爱的人》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404164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牺牲与铭记:雪落长津湖,英名墙亮起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4736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全场星光·英名墙装置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356616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84464" y="348386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4" y="3675888"/>
            <a:ext cx="3291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4A7FA5"/>
                </a:solidFill>
                <a:latin typeface="微软雅黑"/>
              </a:rPr>
              <a:t>尾声《山河无恙》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4041648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3F3A34"/>
                </a:solidFill>
                <a:latin typeface="微软雅黑"/>
              </a:rPr>
              <a:t>回到今天:断桥、银杏、江上晨光;和平即答案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4736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儿童合唱·观众烛光互动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32120"/>
            <a:ext cx="11064240" cy="512064"/>
          </a:xfrm>
          <a:prstGeom prst="roundRect">
            <a:avLst/>
          </a:prstGeom>
          <a:solidFill>
            <a:srgbClr val="F6EADA"/>
          </a:solidFill>
          <a:ln w="1270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532120"/>
            <a:ext cx="10698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C4533C"/>
                </a:solidFill>
                <a:latin typeface="微软雅黑"/>
              </a:rPr>
              <a:t>观点  </a:t>
            </a:r>
            <a:r>
              <a:rPr sz="1150" b="0">
                <a:solidFill>
                  <a:srgbClr val="3F3A34"/>
                </a:solidFill>
                <a:latin typeface="微软雅黑"/>
              </a:rPr>
              <a:t>定位对标《长恨歌》《只有河南》的情感浓度而非体量;每年迭代一幕、重要纪念年推特别版,并常设「老兵专场」公益场次。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5720" y="-502920"/>
            <a:ext cx="1371600" cy="1371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795760" y="-182880"/>
            <a:ext cx="457200" cy="457200"/>
          </a:xfrm>
          <a:prstGeom prst="ellipse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6126480"/>
            <a:ext cx="1188720" cy="118872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20040"/>
            <a:ext cx="2011680" cy="384048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</a:rPr>
              <a:t>肆 · 演艺大纲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77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3F3A34"/>
                </a:solidFill>
                <a:latin typeface="微软雅黑"/>
              </a:rPr>
              <a:t>内容更新与运营机制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822960" cy="54864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8276"/>
                </a:solidFill>
                <a:latin typeface="微软雅黑"/>
              </a:rPr>
              <a:t>对抗审美疲劳:让常客永远有「没看过的丹东」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E7DDCC"/>
                </a:solidFill>
                <a:latin typeface="微软雅黑"/>
              </a:rPr>
              <a:t>「鸭绿江·1950」一期方案·测算·演艺大纲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276"/>
                </a:solidFill>
                <a:latin typeface="微软雅黑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5440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700784"/>
            <a:ext cx="777240" cy="164592"/>
          </a:xfrm>
          <a:prstGeom prst="roundRect">
            <a:avLst/>
          </a:prstGeom>
          <a:solidFill>
            <a:srgbClr val="DE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892808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EA44E"/>
                </a:solidFill>
                <a:latin typeface="微软雅黑"/>
              </a:rPr>
              <a:t>季度上新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25856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NPC剧目每季度轮换2个点位;小剧场每年新增1部剧目(三期扩至6厅)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83080"/>
            <a:ext cx="5440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700784"/>
            <a:ext cx="777240" cy="164592"/>
          </a:xfrm>
          <a:prstGeom prst="roundRect">
            <a:avLst/>
          </a:prstGeom>
          <a:solidFill>
            <a:srgbClr val="C4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892808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4533C"/>
                </a:solidFill>
                <a:latin typeface="微软雅黑"/>
              </a:rPr>
              <a:t>节令内容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25856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清明「英名墙祭扫」、7·27停战纪念、10·25出征纪念、冬季长津湖季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00400"/>
            <a:ext cx="5440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118104"/>
            <a:ext cx="777240" cy="164592"/>
          </a:xfrm>
          <a:prstGeom prst="roundRect">
            <a:avLst/>
          </a:prstGeom>
          <a:solidFill>
            <a:srgbClr val="4C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310128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C8577"/>
                </a:solidFill>
                <a:latin typeface="微软雅黑"/>
              </a:rPr>
              <a:t>共创机制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67588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面向高校戏剧社/退役军人艺术团征集短剧,优胜者进驻小剧场公益场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200400"/>
            <a:ext cx="54406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3118104"/>
            <a:ext cx="777240" cy="164592"/>
          </a:xfrm>
          <a:prstGeom prst="roundRect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310128"/>
            <a:ext cx="5029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4A7FA5"/>
                </a:solidFill>
                <a:latin typeface="微软雅黑"/>
              </a:rPr>
              <a:t>内容审查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675888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3F3A34"/>
                </a:solidFill>
                <a:latin typeface="微软雅黑"/>
              </a:rPr>
              <a:t>常设内容委员会(党史/军史顾问+文旅部门),剧本、讲解词、商业物料三审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46320"/>
            <a:ext cx="11064240" cy="1234440"/>
          </a:xfrm>
          <a:prstGeom prst="roundRect">
            <a:avLst/>
          </a:prstGeom>
          <a:solidFill>
            <a:srgbClr val="F3EBDB"/>
          </a:solidFill>
          <a:ln w="15875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001768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C4533C"/>
                </a:solidFill>
                <a:latin typeface="微软雅黑"/>
              </a:rPr>
              <a:t>三合一交付已完成,建议下一步: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3F3A34"/>
                </a:solidFill>
                <a:latin typeface="微软雅黑"/>
              </a:rPr>
              <a:t>① 委托专业机构开展选址地块勘察与合规预审(用地/防洪/军事设施距离) ② 演艺导演团队遴选(邀标2–3家) ③ 用Excel模型做资金方案压力测试后启动立项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noFill/>
          <a:ln w="19050">
            <a:solidFill>
              <a:srgbClr val="DEA4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noFill/>
          <a:ln w="15875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F3A34"/>
                </a:solidFill>
                <a:latin typeface="微软雅黑"/>
              </a:rPr>
              <a:t>先把戏排好,再把街开张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2918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500" b="0">
                <a:solidFill>
                  <a:srgbClr val="8A8276"/>
                </a:solidFill>
                <a:latin typeface="微软雅黑"/>
              </a:rPr>
              <a:t>一期3.1亿、200亩、12个月——规模不大,但每一分钱都花在「让人专程而来」的理由上。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8A8276"/>
                </a:solidFill>
                <a:latin typeface="微软雅黑"/>
              </a:rPr>
              <a:t>数据达标,再谈二期;这是对丹东最负责任的建设方式。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DEA44E"/>
                </a:solidFill>
                <a:latin typeface="微软雅黑"/>
              </a:rPr>
              <a:t>鸭绿江畔 · 丹东真好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