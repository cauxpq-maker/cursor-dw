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丹东现状项目均值</c:v>
                </c:pt>
              </c:strCache>
            </c:strRef>
          </c:tx>
          <c:spPr>
            <a:ln w="28575">
              <a:solidFill>
                <a:srgbClr val="8A827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IP独占性</c:v>
                </c:pt>
                <c:pt idx="1">
                  <c:v>体验密度</c:v>
                </c:pt>
                <c:pt idx="2">
                  <c:v>停留时长</c:v>
                </c:pt>
                <c:pt idx="3">
                  <c:v>夜间供给</c:v>
                </c:pt>
                <c:pt idx="4">
                  <c:v>二消占比</c:v>
                </c:pt>
                <c:pt idx="5">
                  <c:v>社交传播力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东北热点项目均值</c:v>
                </c:pt>
              </c:strCache>
            </c:strRef>
          </c:tx>
          <c:spPr>
            <a:ln w="28575">
              <a:solidFill>
                <a:srgbClr val="4A7FA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IP独占性</c:v>
                </c:pt>
                <c:pt idx="1">
                  <c:v>体验密度</c:v>
                </c:pt>
                <c:pt idx="2">
                  <c:v>停留时长</c:v>
                </c:pt>
                <c:pt idx="3">
                  <c:v>夜间供给</c:v>
                </c:pt>
                <c:pt idx="4">
                  <c:v>二消占比</c:v>
                </c:pt>
                <c:pt idx="5">
                  <c:v>社交传播力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9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红色文旅城(规划目标)</c:v>
                </c:pt>
              </c:strCache>
            </c:strRef>
          </c:tx>
          <c:spPr>
            <a:ln w="28575">
              <a:solidFill>
                <a:srgbClr val="C4533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IP独占性</c:v>
                </c:pt>
                <c:pt idx="1">
                  <c:v>体验密度</c:v>
                </c:pt>
                <c:pt idx="2">
                  <c:v>停留时长</c:v>
                </c:pt>
                <c:pt idx="3">
                  <c:v>夜间供给</c:v>
                </c:pt>
                <c:pt idx="4">
                  <c:v>二消占比</c:v>
                </c:pt>
                <c:pt idx="5">
                  <c:v>社交传播力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3F3A34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F3A34"/>
                </a:solidFill>
                <a:latin typeface="微软雅黑"/>
              </a:defRPr>
            </a:pPr>
            <a:r>
              <a:t>城市级:2025春节假期客流(万人次)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2025春节接待游客(万人次)</c:v>
                </c:pt>
              </c:strCache>
            </c:strRef>
          </c:tx>
          <c:spPr>
            <a:solidFill>
              <a:srgbClr val="4A7FA5"/>
            </a:solidFill>
          </c:spPr>
          <c:cat>
            <c:strRef>
              <c:f>Sheet1!$A$2:$A$5</c:f>
              <c:strCache>
                <c:ptCount val="4"/>
                <c:pt idx="0">
                  <c:v>沈阳</c:v>
                </c:pt>
                <c:pt idx="1">
                  <c:v>哈尔滨</c:v>
                </c:pt>
                <c:pt idx="2">
                  <c:v>延吉
(延边)</c:v>
                </c:pt>
                <c:pt idx="3">
                  <c:v>丹东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1342</c:v>
                </c:pt>
                <c:pt idx="1">
                  <c:v>1200</c:v>
                </c:pt>
                <c:pt idx="2">
                  <c:v>466</c:v>
                </c:pt>
                <c:pt idx="3">
                  <c:v>424</c:v>
                </c:pt>
              </c:numCache>
            </c:numRef>
          </c:val>
        </c:ser>
        <c:dLbls>
          <c:numFmt formatCode="0&quot;万&quot;" sourceLinked="0"/>
          <c:txPr>
            <a:bodyPr/>
            <a:lstStyle/>
            <a:p>
              <a:pPr>
                <a:defRPr sz="1000" b="1">
                  <a:solidFill>
                    <a:srgbClr val="3F3A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DCC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CE4D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F3A34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F3A34"/>
                </a:solidFill>
                <a:latin typeface="微软雅黑"/>
              </a:defRPr>
            </a:pPr>
            <a:r>
              <a:t>项目级:标杆项目日均客流(万人次/日)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日均客流(万人次/日)</c:v>
                </c:pt>
              </c:strCache>
            </c:strRef>
          </c:tx>
          <c:spPr>
            <a:solidFill>
              <a:srgbClr val="C4533C"/>
            </a:solidFill>
          </c:spPr>
          <c:cat>
            <c:strRef>
              <c:f>Sheet1!$A$2:$A$6</c:f>
              <c:strCache>
                <c:ptCount val="5"/>
                <c:pt idx="0">
                  <c:v>延安红街
(开业首月)</c:v>
                </c:pt>
                <c:pt idx="1">
                  <c:v>冰雪大世界
(68天季)</c:v>
                </c:pt>
                <c:pt idx="2">
                  <c:v>遵义1935
(单月)</c:v>
                </c:pt>
                <c:pt idx="3">
                  <c:v>抗美援朝
纪念馆(春节)</c:v>
                </c:pt>
                <c:pt idx="4">
                  <c:v>断桥
(春节)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</c:v>
                </c:pt>
                <c:pt idx="1">
                  <c:v>5.2</c:v>
                </c:pt>
                <c:pt idx="2">
                  <c:v>3.9</c:v>
                </c:pt>
                <c:pt idx="3">
                  <c:v>1.0</c:v>
                </c:pt>
                <c:pt idx="4">
                  <c:v>0.38</c:v>
                </c:pt>
              </c:numCache>
            </c:numRef>
          </c:val>
        </c:ser>
        <c:dLbls>
          <c:numFmt formatCode="0.0&quot;万&quot;" sourceLinked="0"/>
          <c:txPr>
            <a:bodyPr/>
            <a:lstStyle/>
            <a:p>
              <a:pPr>
                <a:defRPr sz="1000" b="1">
                  <a:solidFill>
                    <a:srgbClr val="3F3A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DCC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CE4D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F3A34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F3A34"/>
                </a:solidFill>
                <a:latin typeface="微软雅黑"/>
              </a:defRPr>
            </a:pPr>
            <a:r>
              <a:t>收入结构对比(示意)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传统景区模式(%)</c:v>
                </c:pt>
              </c:strCache>
            </c:strRef>
          </c:tx>
          <c:spPr>
            <a:solidFill>
              <a:srgbClr val="8A8276"/>
            </a:solidFill>
          </c:spPr>
          <c:cat>
            <c:strRef>
              <c:f>Sheet1!$A$2:$A$6</c:f>
              <c:strCache>
                <c:ptCount val="5"/>
                <c:pt idx="0">
                  <c:v>门票</c:v>
                </c:pt>
                <c:pt idx="1">
                  <c:v>演艺票</c:v>
                </c:pt>
                <c:pt idx="2">
                  <c:v>餐饮商街</c:v>
                </c:pt>
                <c:pt idx="3">
                  <c:v>住宿温泉</c:v>
                </c:pt>
                <c:pt idx="4">
                  <c:v>研学/文创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5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鸭绿江·1950目标(%)</c:v>
                </c:pt>
              </c:strCache>
            </c:strRef>
          </c:tx>
          <c:spPr>
            <a:solidFill>
              <a:srgbClr val="C4533C"/>
            </a:solidFill>
          </c:spPr>
          <c:cat>
            <c:strRef>
              <c:f>Sheet1!$A$2:$A$6</c:f>
              <c:strCache>
                <c:ptCount val="5"/>
                <c:pt idx="0">
                  <c:v>门票</c:v>
                </c:pt>
                <c:pt idx="1">
                  <c:v>演艺票</c:v>
                </c:pt>
                <c:pt idx="2">
                  <c:v>餐饮商街</c:v>
                </c:pt>
                <c:pt idx="3">
                  <c:v>住宿温泉</c:v>
                </c:pt>
                <c:pt idx="4">
                  <c:v>研学/文创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25</c:v>
                </c:pt>
                <c:pt idx="3">
                  <c:v>28</c:v>
                </c:pt>
                <c:pt idx="4">
                  <c:v>17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>
                  <a:solidFill>
                    <a:srgbClr val="3F3A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DCC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CE4D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3F3A34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2194560"/>
            <a:ext cx="6858000" cy="6858000"/>
          </a:xfrm>
          <a:prstGeom prst="ellipse">
            <a:avLst/>
          </a:prstGeom>
          <a:solidFill>
            <a:srgbClr val="F3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4663440" cy="466344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480560"/>
            <a:ext cx="4937760" cy="4937760"/>
          </a:xfrm>
          <a:prstGeom prst="ellipse">
            <a:avLst/>
          </a:prstGeom>
          <a:solidFill>
            <a:srgbClr val="E9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394960"/>
            <a:ext cx="3108960" cy="310896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051560"/>
            <a:ext cx="2286000" cy="45720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专 题 研 究 · 可 行 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C4533C"/>
                </a:solidFill>
                <a:latin typeface="微软雅黑"/>
              </a:rPr>
              <a:t>鸭绿江 · 1950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3F3A34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11880"/>
            <a:ext cx="1463040" cy="64008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86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350" b="0">
                <a:solidFill>
                  <a:srgbClr val="3F3A34"/>
                </a:solidFill>
                <a:latin typeface="微软雅黑"/>
              </a:rPr>
              <a:t>项目吸引力比较 · 双层人流分析 · G331双图谱 · 虎山—叆河选址论证 · 全链路动线与门票重构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8A8276"/>
                </a:solidFill>
                <a:latin typeface="微软雅黑"/>
              </a:rPr>
              <a:t>让IP维度更丰富 · 让客群停留更长 · 让收入告别门票依赖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5074920"/>
            <a:ext cx="32004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0749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4533C"/>
                </a:solidFill>
                <a:latin typeface="微软雅黑"/>
              </a:rPr>
              <a:t>选址 · 虎山长城—叆河片区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5074920"/>
            <a:ext cx="32004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50749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EA44E"/>
                </a:solidFill>
                <a:latin typeface="微软雅黑"/>
              </a:rPr>
              <a:t>渡江实景 + 小剧场群 + 夜演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5074920"/>
            <a:ext cx="32004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50749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C8577"/>
                </a:solidFill>
                <a:latin typeface="微软雅黑"/>
              </a:rPr>
              <a:t>免大门票 · 开放式街区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A8276"/>
                </a:solidFill>
                <a:latin typeface="微软雅黑"/>
              </a:rPr>
              <a:t>2026年8月 · 提纲确认后完整稿(V1) · 前序:《丹东城市旅游价值提升策略报告》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819656"/>
            <a:ext cx="457200" cy="457200"/>
          </a:xfrm>
          <a:prstGeom prst="ellipse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196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76479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F3A34"/>
                </a:solidFill>
                <a:latin typeface="微软雅黑"/>
              </a:rPr>
              <a:t>项目吸引力比较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1031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东北热点项目 vs 丹东项目 · 六要素雷达 · 缺口诊断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14600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2642616"/>
            <a:ext cx="457200" cy="45720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426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5877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F3A34"/>
                </a:solidFill>
                <a:latin typeface="微软雅黑"/>
              </a:rPr>
              <a:t>人流双层比较与G331双图谱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926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城市客流 vs 项目客流 · 锚定效应 · 全国图 + 东北鸭绿江流域图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37560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465576"/>
            <a:ext cx="457200" cy="457200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655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41071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F3A34"/>
                </a:solidFill>
                <a:latin typeface="微软雅黑"/>
              </a:rPr>
              <a:t>G331节点城市比较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74904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同江以南边境段节点 · 丹东「首站+首夜」独占位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60520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288536"/>
            <a:ext cx="457200" cy="457200"/>
          </a:xfrm>
          <a:prstGeom prst="ellipse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885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2336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F3A34"/>
                </a:solidFill>
                <a:latin typeface="微软雅黑"/>
              </a:rPr>
              <a:t>红色文旅小镇可行性研判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5720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对标延安红街/遵义1935 · 虎山—叆河选址 · 八大内容模块 · 投资分级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983480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0566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F3A34"/>
                </a:solidFill>
                <a:latin typeface="微软雅黑"/>
              </a:rPr>
              <a:t>全链路动线与门票重构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3949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两日三夜动线 · 免票/低票/付费分层 · 收入模型再平衡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806440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" y="5934456"/>
            <a:ext cx="457200" cy="457200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34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87959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F3A34"/>
                </a:solidFill>
                <a:latin typeface="微软雅黑"/>
              </a:rPr>
              <a:t>实施路径与结论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62179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三步走 · 指标体系 · 可行性总结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壹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项目吸引力比较:丹东缺什么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东北热点项目的共同基因:强IP、高体验密度、夜间供给、四季运营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六要素雷达:丹东强在心智独占,弱在体验载体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诊断结论:缺一个承载3小时+停留、带动过夜的沉浸型旗舰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项目比较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东北热点项目:游客为什么专程而来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四类标杆,四种吸引力构造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2743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92223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0312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C4533C"/>
                </a:solidFill>
                <a:latin typeface="微软雅黑"/>
              </a:rPr>
              <a:t>哈尔滨冰雪大世界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98064"/>
            <a:ext cx="2377440" cy="47548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98064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F3A34"/>
                </a:solidFill>
                <a:latin typeface="微软雅黑"/>
              </a:rPr>
              <a:t>68天356万人次 · 单日峰值10万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2900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百万㎡冰雪奇观+24条冰滑梯+摩天轮;亚冬会加持;四季馆延续全年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0712" y="1874519"/>
            <a:ext cx="2743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5304" y="1792223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10312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DEA44E"/>
                </a:solidFill>
                <a:latin typeface="微软雅黑"/>
              </a:rPr>
              <a:t>延吉民俗园/网红墙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93592" y="2798064"/>
            <a:ext cx="2377440" cy="47548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2798064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F3A34"/>
                </a:solidFill>
                <a:latin typeface="微软雅黑"/>
              </a:rPr>
              <a:t>清明客流同比+617%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342900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朝鲜族服饰写真「人人可参与」;游客即内容生产者,社媒自传播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874519"/>
            <a:ext cx="2743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19088" y="1792223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10312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4C8577"/>
                </a:solidFill>
                <a:latin typeface="微软雅黑"/>
              </a:rPr>
              <a:t>沈阳老北市/中街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2798064"/>
            <a:ext cx="2377440" cy="47548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2798064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F3A34"/>
                </a:solidFill>
                <a:latin typeface="微软雅黑"/>
              </a:rPr>
              <a:t>春节沈阳1342万人次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42900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夜经济+民俗场景+洗浴文化;「不太远不太冷不太贵」都市休闲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874519"/>
            <a:ext cx="27432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62872" y="1792223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210312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4A7FA5"/>
                </a:solidFill>
                <a:latin typeface="微软雅黑"/>
              </a:rPr>
              <a:t>长白山(沈白高铁)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2798064"/>
            <a:ext cx="2377440" cy="47548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798064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F3A34"/>
                </a:solidFill>
                <a:latin typeface="微软雅黑"/>
              </a:rPr>
              <a:t>「朝发午至」改写可达性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42900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世界级自然IP+高铁红利;池南/二道白河集散配套成熟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6636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16636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四个标杆的共同基因:让游客「有事可做」——高体验密度、强参与感、夜间有去处、离开时带走内容(照片/故事/纪念物)。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数据来源:新华社、央广网、吉林省文旅厅、沈阳市文旅局公开报道(2024–2025)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项目比较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吸引力六要素:雷达对比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0–10分专家评估口径(完整版报告附逐项评分依据)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5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2920" y="1737360"/>
          <a:ext cx="57607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37960" y="182880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IP独占性 8分: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断桥+纪念馆+双起点,心智资产全国唯一——这是丹东最硬的底牌。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体验密度 3分: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断桥30分钟、纪念馆90分钟、虎山长城2小时,全程「观看型」,可参与项目稀缺。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夜间供给 2分: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断桥亮化之外,夜间消费载体近乎空白;游客「白天看完、晚上没事」。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传播力 5分: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零公里打卡已出圈,但缺少「人人可拍可晒」的体验符号(对比延吉服饰写真)。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5257800"/>
            <a:ext cx="5120640" cy="658368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5257800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丹东的病症不是「没人知道」,而是「来了没处使劲」——补体验密度是第一要务。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项目比较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丹东现有项目体检表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逐项对标:游览方式、停留时长、夜间与二消能力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992"/>
                <a:gridCol w="1683327"/>
                <a:gridCol w="1599160"/>
                <a:gridCol w="1599160"/>
                <a:gridCol w="1514994"/>
                <a:gridCol w="2693323"/>
              </a:tblGrid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游览方式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平均停留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夜间供给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二消场景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诊断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鸭绿江断桥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观看/凭吊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30–50分钟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亮化观赏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少量文创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心智极强,体验单薄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抗美援朝纪念馆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参观(免费)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1.5–2小时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精神原点,不宜商业化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虎山长城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登临观光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2小时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夜游试点中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「起点」叙事待激活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鸭绿江游船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乘船观光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40–60分钟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少量夜航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船票为主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分层产品缺失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安东老街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逛街餐饮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1–2小时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有(室内)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餐饮为主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体量小,内容化不足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凤凰山/青山沟等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山岳观光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半天–1天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弱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距城区远,串联不足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44068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全市30个A级景区无一能承载3小时以上沉浸停留;红色文旅城的使命,就是补上这个「旗舰缺口」,并把纪念馆的敬仰客流转化为体验消费。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贰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人流双层比较与G331双图谱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同口径比:城市差距2–3倍,项目差距10倍以上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旗舰项目锚定效应:头部城市都有「客流锚」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两张图:G331全国走向 + 东北段(同江以南·鸭绿江流域)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贰 · 人流比较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城市客流 vs 项目客流:差距在项目层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城市级用2025春节同口径;项目级折算为日均客流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8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2920" y="1783080"/>
          <a:ext cx="54864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72200" y="1783080"/>
          <a:ext cx="54864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5760720"/>
            <a:ext cx="1115568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城市级丹东与延吉几乎同量级(424 vs 466万),但项目级差距在10倍以上——丹东的短板不在「城市没人来」,而在「没有一个项目锁住人」。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贰 · 人流比较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旗舰项目「锚定效应」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头部旅游城市都有1–2个客流锚,丹东客流散在30个景区里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43"/>
                <a:gridCol w="2867086"/>
                <a:gridCol w="3583858"/>
                <a:gridCol w="3225472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城市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客流锚项目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锚的作用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丹东对应缺口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哈尔滨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冰雪大世界(356万/季)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制造「专程理由」,锁定首日行程与过夜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断桥是「顺路凭吊」,非过夜理由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延安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延安红街(月200万)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把纪念地客流转化为街区消费,拉长停留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纪念馆客流看完即走,无承接载体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遵义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1935街区(月120万)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免门票聚客,纪念馆—街区15分钟生态圈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老街体量小,与纪念馆动线未打通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开封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万岁山(三季度1550万)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低票高频+高频内容,撑起复游与二消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全市无沉浸型内容产品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74920"/>
            <a:ext cx="11109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锚定率概念: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  旗舰项目客流 ÷ 城市总客流。头部城市锚定率普遍在15%–30%;丹东最高单体(纪念馆)锚定率不足10%,且为免费敬仰型客流,无消费转化。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2356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红色文旅城的目标锚定率:开业三年内达到城市客流的15%——按丹东现状客流测算即年100万人次量级,与延安红街/遵义1935同档。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贰 · G331双图谱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图一:G331全线与「黄金大外环」(全国示意)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位置为示意,均为可编辑形状;完整版另附高精地图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10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1250" y="1883904"/>
            <a:ext cx="7482935" cy="3630409"/>
          </a:xfrm>
          <a:custGeom>
            <a:avLst/>
            <a:gdLst/>
            <a:ahLst/>
            <a:cxnLst/>
            <a:rect l="l" t="t" r="r" b="b"/>
            <a:pathLst>
              <a:path w="7482935" h="3630409">
                <a:moveTo>
                  <a:pt x="0" y="1538117"/>
                </a:moveTo>
                <a:lnTo>
                  <a:pt x="122872" y="1843479"/>
                </a:lnTo>
                <a:lnTo>
                  <a:pt x="626650" y="2148840"/>
                </a:lnTo>
                <a:lnTo>
                  <a:pt x="602075" y="2465511"/>
                </a:lnTo>
                <a:lnTo>
                  <a:pt x="884682" y="2612537"/>
                </a:lnTo>
                <a:lnTo>
                  <a:pt x="1376172" y="2793492"/>
                </a:lnTo>
                <a:lnTo>
                  <a:pt x="1867662" y="2861350"/>
                </a:lnTo>
                <a:lnTo>
                  <a:pt x="2236280" y="2895279"/>
                </a:lnTo>
                <a:lnTo>
                  <a:pt x="2604897" y="2714324"/>
                </a:lnTo>
                <a:lnTo>
                  <a:pt x="2912078" y="2838731"/>
                </a:lnTo>
                <a:lnTo>
                  <a:pt x="3059525" y="3110163"/>
                </a:lnTo>
                <a:lnTo>
                  <a:pt x="2924365" y="3325047"/>
                </a:lnTo>
                <a:lnTo>
                  <a:pt x="3243834" y="3596480"/>
                </a:lnTo>
                <a:lnTo>
                  <a:pt x="3465005" y="3494693"/>
                </a:lnTo>
                <a:lnTo>
                  <a:pt x="3870484" y="3392905"/>
                </a:lnTo>
                <a:lnTo>
                  <a:pt x="4202240" y="3596480"/>
                </a:lnTo>
                <a:lnTo>
                  <a:pt x="4460272" y="3630409"/>
                </a:lnTo>
                <a:lnTo>
                  <a:pt x="4841177" y="3539931"/>
                </a:lnTo>
                <a:lnTo>
                  <a:pt x="5037773" y="3472073"/>
                </a:lnTo>
                <a:lnTo>
                  <a:pt x="5246656" y="3404215"/>
                </a:lnTo>
                <a:lnTo>
                  <a:pt x="5578412" y="3155402"/>
                </a:lnTo>
                <a:lnTo>
                  <a:pt x="5701284" y="2951828"/>
                </a:lnTo>
                <a:lnTo>
                  <a:pt x="5861018" y="2646466"/>
                </a:lnTo>
                <a:lnTo>
                  <a:pt x="5910167" y="2499440"/>
                </a:lnTo>
                <a:lnTo>
                  <a:pt x="5713571" y="2352414"/>
                </a:lnTo>
                <a:lnTo>
                  <a:pt x="5627561" y="2114911"/>
                </a:lnTo>
                <a:lnTo>
                  <a:pt x="5787295" y="1956576"/>
                </a:lnTo>
                <a:lnTo>
                  <a:pt x="5996178" y="1798240"/>
                </a:lnTo>
                <a:lnTo>
                  <a:pt x="5590699" y="1764311"/>
                </a:lnTo>
                <a:lnTo>
                  <a:pt x="5406390" y="1628595"/>
                </a:lnTo>
                <a:lnTo>
                  <a:pt x="5615273" y="1515498"/>
                </a:lnTo>
                <a:lnTo>
                  <a:pt x="5885593" y="1402401"/>
                </a:lnTo>
                <a:lnTo>
                  <a:pt x="5959316" y="1447640"/>
                </a:lnTo>
                <a:lnTo>
                  <a:pt x="5824157" y="1639904"/>
                </a:lnTo>
                <a:lnTo>
                  <a:pt x="5983891" y="1560737"/>
                </a:lnTo>
                <a:lnTo>
                  <a:pt x="6211205" y="1504188"/>
                </a:lnTo>
                <a:lnTo>
                  <a:pt x="6291072" y="1451033"/>
                </a:lnTo>
                <a:lnTo>
                  <a:pt x="6438519" y="1374127"/>
                </a:lnTo>
                <a:lnTo>
                  <a:pt x="6524530" y="1300614"/>
                </a:lnTo>
                <a:lnTo>
                  <a:pt x="6671977" y="1345853"/>
                </a:lnTo>
                <a:lnTo>
                  <a:pt x="6671977" y="1274602"/>
                </a:lnTo>
                <a:lnTo>
                  <a:pt x="6782562" y="1228232"/>
                </a:lnTo>
                <a:lnTo>
                  <a:pt x="6985302" y="1241803"/>
                </a:lnTo>
                <a:lnTo>
                  <a:pt x="7065169" y="1051801"/>
                </a:lnTo>
                <a:lnTo>
                  <a:pt x="7286339" y="927394"/>
                </a:lnTo>
                <a:lnTo>
                  <a:pt x="7482935" y="565484"/>
                </a:lnTo>
                <a:lnTo>
                  <a:pt x="7224903" y="633342"/>
                </a:lnTo>
                <a:lnTo>
                  <a:pt x="6966871" y="542865"/>
                </a:lnTo>
                <a:lnTo>
                  <a:pt x="6598253" y="395839"/>
                </a:lnTo>
                <a:lnTo>
                  <a:pt x="6413945" y="147026"/>
                </a:lnTo>
                <a:lnTo>
                  <a:pt x="6106763" y="0"/>
                </a:lnTo>
                <a:lnTo>
                  <a:pt x="5861018" y="0"/>
                </a:lnTo>
                <a:lnTo>
                  <a:pt x="5664422" y="90478"/>
                </a:lnTo>
                <a:lnTo>
                  <a:pt x="5652135" y="361910"/>
                </a:lnTo>
                <a:lnTo>
                  <a:pt x="5357241" y="418458"/>
                </a:lnTo>
                <a:lnTo>
                  <a:pt x="5136070" y="610723"/>
                </a:lnTo>
                <a:lnTo>
                  <a:pt x="5271230" y="757749"/>
                </a:lnTo>
                <a:lnTo>
                  <a:pt x="4681442" y="938704"/>
                </a:lnTo>
                <a:lnTo>
                  <a:pt x="4054793" y="1244065"/>
                </a:lnTo>
                <a:lnTo>
                  <a:pt x="3772186" y="1289304"/>
                </a:lnTo>
                <a:lnTo>
                  <a:pt x="3440430" y="1221446"/>
                </a:lnTo>
                <a:lnTo>
                  <a:pt x="2875217" y="1187517"/>
                </a:lnTo>
                <a:lnTo>
                  <a:pt x="2604897" y="1017872"/>
                </a:lnTo>
                <a:lnTo>
                  <a:pt x="2113407" y="916085"/>
                </a:lnTo>
                <a:lnTo>
                  <a:pt x="2101120" y="633342"/>
                </a:lnTo>
                <a:lnTo>
                  <a:pt x="1720215" y="475007"/>
                </a:lnTo>
                <a:lnTo>
                  <a:pt x="1449895" y="712510"/>
                </a:lnTo>
                <a:lnTo>
                  <a:pt x="1130427" y="689891"/>
                </a:lnTo>
                <a:lnTo>
                  <a:pt x="1044416" y="882156"/>
                </a:lnTo>
                <a:lnTo>
                  <a:pt x="786384" y="938704"/>
                </a:lnTo>
                <a:lnTo>
                  <a:pt x="380905" y="1391091"/>
                </a:lnTo>
                <a:close/>
              </a:path>
            </a:pathLst>
          </a:custGeom>
          <a:solidFill>
            <a:srgbClr val="F1E9D8"/>
          </a:solidFill>
          <a:ln w="15875">
            <a:solidFill>
              <a:srgbClr val="D8CB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33272" y="2500282"/>
            <a:ext cx="4030218" cy="2980102"/>
          </a:xfrm>
          <a:custGeom>
            <a:avLst/>
            <a:gdLst/>
            <a:ahLst/>
            <a:cxnLst/>
            <a:rect l="l" t="t" r="r" b="b"/>
            <a:pathLst>
              <a:path w="4030218" h="2980102">
                <a:moveTo>
                  <a:pt x="1589970" y="0"/>
                </a:moveTo>
                <a:lnTo>
                  <a:pt x="1277873" y="96132"/>
                </a:lnTo>
                <a:lnTo>
                  <a:pt x="872394" y="265778"/>
                </a:lnTo>
                <a:lnTo>
                  <a:pt x="208883" y="774713"/>
                </a:lnTo>
                <a:lnTo>
                  <a:pt x="0" y="1068765"/>
                </a:lnTo>
                <a:lnTo>
                  <a:pt x="466915" y="1622940"/>
                </a:lnTo>
                <a:lnTo>
                  <a:pt x="589788" y="1905682"/>
                </a:lnTo>
                <a:lnTo>
                  <a:pt x="1204150" y="2177114"/>
                </a:lnTo>
                <a:lnTo>
                  <a:pt x="2064258" y="2278901"/>
                </a:lnTo>
                <a:lnTo>
                  <a:pt x="2740056" y="2222353"/>
                </a:lnTo>
                <a:lnTo>
                  <a:pt x="2887503" y="2493785"/>
                </a:lnTo>
                <a:lnTo>
                  <a:pt x="3071812" y="2980102"/>
                </a:lnTo>
                <a:lnTo>
                  <a:pt x="3538728" y="2833076"/>
                </a:lnTo>
                <a:lnTo>
                  <a:pt x="4030218" y="2980102"/>
                </a:lnTo>
              </a:path>
            </a:pathLst>
          </a:custGeom>
          <a:noFill/>
          <a:ln w="19050">
            <a:solidFill>
              <a:srgbClr val="4C857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063490" y="3286305"/>
            <a:ext cx="2011422" cy="2228008"/>
          </a:xfrm>
          <a:custGeom>
            <a:avLst/>
            <a:gdLst/>
            <a:ahLst/>
            <a:cxnLst/>
            <a:rect l="l" t="t" r="r" b="b"/>
            <a:pathLst>
              <a:path w="2011422" h="2228008">
                <a:moveTo>
                  <a:pt x="2011422" y="101787"/>
                </a:moveTo>
                <a:lnTo>
                  <a:pt x="1781651" y="158336"/>
                </a:lnTo>
                <a:lnTo>
                  <a:pt x="1621917" y="237503"/>
                </a:lnTo>
                <a:lnTo>
                  <a:pt x="1757076" y="45239"/>
                </a:lnTo>
                <a:lnTo>
                  <a:pt x="1683353" y="0"/>
                </a:lnTo>
                <a:lnTo>
                  <a:pt x="1413033" y="113097"/>
                </a:lnTo>
                <a:lnTo>
                  <a:pt x="1204150" y="226194"/>
                </a:lnTo>
                <a:lnTo>
                  <a:pt x="1388459" y="361910"/>
                </a:lnTo>
                <a:lnTo>
                  <a:pt x="1793938" y="395839"/>
                </a:lnTo>
                <a:lnTo>
                  <a:pt x="1585055" y="554175"/>
                </a:lnTo>
                <a:lnTo>
                  <a:pt x="1425321" y="712510"/>
                </a:lnTo>
                <a:lnTo>
                  <a:pt x="1511331" y="950013"/>
                </a:lnTo>
                <a:lnTo>
                  <a:pt x="1707927" y="1097039"/>
                </a:lnTo>
                <a:lnTo>
                  <a:pt x="1658778" y="1244065"/>
                </a:lnTo>
                <a:lnTo>
                  <a:pt x="1499044" y="1549427"/>
                </a:lnTo>
                <a:lnTo>
                  <a:pt x="1376172" y="1753001"/>
                </a:lnTo>
                <a:lnTo>
                  <a:pt x="1044416" y="2001814"/>
                </a:lnTo>
                <a:lnTo>
                  <a:pt x="638937" y="2137530"/>
                </a:lnTo>
                <a:lnTo>
                  <a:pt x="258032" y="2228008"/>
                </a:lnTo>
                <a:lnTo>
                  <a:pt x="0" y="2194079"/>
                </a:lnTo>
              </a:path>
            </a:pathLst>
          </a:custGeom>
          <a:noFill/>
          <a:ln w="25400">
            <a:solidFill>
              <a:srgbClr val="4A7FA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623242" y="1921226"/>
            <a:ext cx="5634932" cy="1453295"/>
          </a:xfrm>
          <a:custGeom>
            <a:avLst/>
            <a:gdLst/>
            <a:ahLst/>
            <a:cxnLst/>
            <a:rect l="l" t="t" r="r" b="b"/>
            <a:pathLst>
              <a:path w="5634932" h="1453295">
                <a:moveTo>
                  <a:pt x="4451670" y="1453295"/>
                </a:moveTo>
                <a:lnTo>
                  <a:pt x="4529080" y="1413711"/>
                </a:lnTo>
                <a:lnTo>
                  <a:pt x="4675298" y="1340198"/>
                </a:lnTo>
                <a:lnTo>
                  <a:pt x="4762538" y="1263292"/>
                </a:lnTo>
                <a:lnTo>
                  <a:pt x="4918586" y="1306269"/>
                </a:lnTo>
                <a:lnTo>
                  <a:pt x="4909985" y="1237280"/>
                </a:lnTo>
                <a:lnTo>
                  <a:pt x="5082006" y="1138885"/>
                </a:lnTo>
                <a:lnTo>
                  <a:pt x="5187677" y="1143409"/>
                </a:lnTo>
                <a:lnTo>
                  <a:pt x="5281060" y="1007693"/>
                </a:lnTo>
                <a:lnTo>
                  <a:pt x="5373214" y="839179"/>
                </a:lnTo>
                <a:lnTo>
                  <a:pt x="5509603" y="815428"/>
                </a:lnTo>
                <a:lnTo>
                  <a:pt x="5634932" y="697808"/>
                </a:lnTo>
                <a:lnTo>
                  <a:pt x="5450624" y="601675"/>
                </a:lnTo>
                <a:lnTo>
                  <a:pt x="4836261" y="308754"/>
                </a:lnTo>
                <a:lnTo>
                  <a:pt x="4733048" y="140240"/>
                </a:lnTo>
                <a:lnTo>
                  <a:pt x="4225585" y="0"/>
                </a:lnTo>
                <a:lnTo>
                  <a:pt x="3902430" y="183217"/>
                </a:lnTo>
                <a:lnTo>
                  <a:pt x="3936835" y="308754"/>
                </a:lnTo>
                <a:lnTo>
                  <a:pt x="3592792" y="381136"/>
                </a:lnTo>
                <a:lnTo>
                  <a:pt x="3374078" y="573401"/>
                </a:lnTo>
                <a:lnTo>
                  <a:pt x="3128333" y="1025788"/>
                </a:lnTo>
                <a:lnTo>
                  <a:pt x="2929280" y="1054063"/>
                </a:lnTo>
                <a:lnTo>
                  <a:pt x="1592427" y="1240672"/>
                </a:lnTo>
                <a:lnTo>
                  <a:pt x="1088650" y="1263292"/>
                </a:lnTo>
                <a:lnTo>
                  <a:pt x="806043" y="1116266"/>
                </a:lnTo>
                <a:lnTo>
                  <a:pt x="167106" y="720427"/>
                </a:lnTo>
                <a:lnTo>
                  <a:pt x="0" y="579056"/>
                </a:lnTo>
              </a:path>
            </a:pathLst>
          </a:custGeom>
          <a:noFill/>
          <a:ln w="3492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52820" y="3215704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3404" y="31334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集安</a:t>
            </a:r>
          </a:p>
        </p:txBody>
      </p:sp>
      <p:sp>
        <p:nvSpPr>
          <p:cNvPr id="18" name="Oval 17"/>
          <p:cNvSpPr/>
          <p:nvPr/>
        </p:nvSpPr>
        <p:spPr>
          <a:xfrm>
            <a:off x="7487507" y="3112786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7235" y="298477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长白山</a:t>
            </a:r>
          </a:p>
        </p:txBody>
      </p:sp>
      <p:sp>
        <p:nvSpPr>
          <p:cNvPr id="20" name="Oval 19"/>
          <p:cNvSpPr/>
          <p:nvPr/>
        </p:nvSpPr>
        <p:spPr>
          <a:xfrm>
            <a:off x="7659528" y="3014391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69256" y="277664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延吉</a:t>
            </a:r>
          </a:p>
        </p:txBody>
      </p:sp>
      <p:sp>
        <p:nvSpPr>
          <p:cNvPr id="22" name="Oval 21"/>
          <p:cNvSpPr/>
          <p:nvPr/>
        </p:nvSpPr>
        <p:spPr>
          <a:xfrm>
            <a:off x="7765199" y="3018915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647" y="302805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珲春</a:t>
            </a:r>
          </a:p>
        </p:txBody>
      </p:sp>
      <p:sp>
        <p:nvSpPr>
          <p:cNvPr id="24" name="Oval 23"/>
          <p:cNvSpPr/>
          <p:nvPr/>
        </p:nvSpPr>
        <p:spPr>
          <a:xfrm>
            <a:off x="8028146" y="2477181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018" y="2394885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同江</a:t>
            </a:r>
          </a:p>
        </p:txBody>
      </p:sp>
      <p:sp>
        <p:nvSpPr>
          <p:cNvPr id="26" name="Oval 25"/>
          <p:cNvSpPr/>
          <p:nvPr/>
        </p:nvSpPr>
        <p:spPr>
          <a:xfrm>
            <a:off x="7413783" y="2184260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2655" y="21019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黑河</a:t>
            </a:r>
          </a:p>
        </p:txBody>
      </p:sp>
      <p:sp>
        <p:nvSpPr>
          <p:cNvPr id="28" name="Oval 27"/>
          <p:cNvSpPr/>
          <p:nvPr/>
        </p:nvSpPr>
        <p:spPr>
          <a:xfrm>
            <a:off x="6803107" y="1875506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15" y="158289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漠河</a:t>
            </a:r>
          </a:p>
        </p:txBody>
      </p:sp>
      <p:sp>
        <p:nvSpPr>
          <p:cNvPr id="30" name="Oval 29"/>
          <p:cNvSpPr/>
          <p:nvPr/>
        </p:nvSpPr>
        <p:spPr>
          <a:xfrm>
            <a:off x="6170314" y="2256642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0234" y="199146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满洲里</a:t>
            </a:r>
          </a:p>
        </p:txBody>
      </p:sp>
      <p:sp>
        <p:nvSpPr>
          <p:cNvPr id="32" name="Oval 31"/>
          <p:cNvSpPr/>
          <p:nvPr/>
        </p:nvSpPr>
        <p:spPr>
          <a:xfrm>
            <a:off x="5506802" y="2929569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1042" y="298443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二连浩特</a:t>
            </a:r>
          </a:p>
        </p:txBody>
      </p:sp>
      <p:sp>
        <p:nvSpPr>
          <p:cNvPr id="34" name="Oval 33"/>
          <p:cNvSpPr/>
          <p:nvPr/>
        </p:nvSpPr>
        <p:spPr>
          <a:xfrm>
            <a:off x="4169949" y="3116178"/>
            <a:ext cx="91440" cy="9144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95629" y="318933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额济纳</a:t>
            </a:r>
          </a:p>
        </p:txBody>
      </p:sp>
      <p:sp>
        <p:nvSpPr>
          <p:cNvPr id="36" name="Oval 35"/>
          <p:cNvSpPr/>
          <p:nvPr/>
        </p:nvSpPr>
        <p:spPr>
          <a:xfrm>
            <a:off x="2559234" y="2436274"/>
            <a:ext cx="128016" cy="128016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71682" y="214366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F3A34"/>
                </a:solidFill>
                <a:latin typeface="微软雅黑"/>
              </a:rPr>
              <a:t>阿勒泰(终点)</a:t>
            </a:r>
          </a:p>
        </p:txBody>
      </p:sp>
      <p:sp>
        <p:nvSpPr>
          <p:cNvPr id="38" name="Oval 37"/>
          <p:cNvSpPr/>
          <p:nvPr/>
        </p:nvSpPr>
        <p:spPr>
          <a:xfrm>
            <a:off x="5008626" y="5425520"/>
            <a:ext cx="109728" cy="109728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4850" y="5507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东兴(G228终点)</a:t>
            </a:r>
          </a:p>
        </p:txBody>
      </p:sp>
      <p:sp>
        <p:nvSpPr>
          <p:cNvPr id="40" name="Oval 39"/>
          <p:cNvSpPr/>
          <p:nvPr/>
        </p:nvSpPr>
        <p:spPr>
          <a:xfrm>
            <a:off x="6054471" y="3358254"/>
            <a:ext cx="82296" cy="82296"/>
          </a:xfrm>
          <a:prstGeom prst="ellipse">
            <a:avLst/>
          </a:prstGeom>
          <a:solidFill>
            <a:srgbClr val="8A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38419" y="327138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北京</a:t>
            </a:r>
          </a:p>
        </p:txBody>
      </p:sp>
      <p:sp>
        <p:nvSpPr>
          <p:cNvPr id="42" name="5-Point Star 41"/>
          <p:cNvSpPr/>
          <p:nvPr/>
        </p:nvSpPr>
        <p:spPr>
          <a:xfrm>
            <a:off x="6983472" y="3283081"/>
            <a:ext cx="182880" cy="182880"/>
          </a:xfrm>
          <a:prstGeom prst="star5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2928" y="331051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4533C"/>
                </a:solidFill>
                <a:latin typeface="微软雅黑"/>
              </a:rPr>
              <a:t>丹东(双起点)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1691640"/>
            <a:ext cx="2880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181051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F3A34"/>
                </a:solidFill>
                <a:latin typeface="微软雅黑"/>
              </a:rPr>
              <a:t>图例</a:t>
            </a:r>
          </a:p>
        </p:txBody>
      </p:sp>
      <p:sp>
        <p:nvSpPr>
          <p:cNvPr id="46" name="Freeform 45"/>
          <p:cNvSpPr/>
          <p:nvPr/>
        </p:nvSpPr>
        <p:spPr>
          <a:xfrm>
            <a:off x="8979408" y="2286000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55480" y="215798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G331 沿边(9333km)</a:t>
            </a:r>
          </a:p>
        </p:txBody>
      </p:sp>
      <p:sp>
        <p:nvSpPr>
          <p:cNvPr id="48" name="Freeform 47"/>
          <p:cNvSpPr/>
          <p:nvPr/>
        </p:nvSpPr>
        <p:spPr>
          <a:xfrm>
            <a:off x="8979408" y="2670048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4A7FA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25420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G228 沿海(7800km)</a:t>
            </a:r>
          </a:p>
        </p:txBody>
      </p:sp>
      <p:sp>
        <p:nvSpPr>
          <p:cNvPr id="50" name="Freeform 49"/>
          <p:cNvSpPr/>
          <p:nvPr/>
        </p:nvSpPr>
        <p:spPr>
          <a:xfrm>
            <a:off x="8979408" y="3054096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4C857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2926079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G219 西部边境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331012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4533C"/>
                </a:solidFill>
                <a:latin typeface="微软雅黑"/>
              </a:rPr>
              <a:t>★ </a:t>
            </a:r>
            <a:r>
              <a:rPr sz="950" b="0">
                <a:solidFill>
                  <a:srgbClr val="3F3A34"/>
                </a:solidFill>
                <a:latin typeface="微软雅黑"/>
              </a:rPr>
              <a:t>丹东:G331+G228 双起点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38862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8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00" b="0">
                <a:solidFill>
                  <a:srgbClr val="3F3A34"/>
                </a:solidFill>
                <a:latin typeface="微软雅黑"/>
              </a:rPr>
              <a:t>「十五五」全面贯通三条通道,构成中国「黄金大外环」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8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00" b="0">
                <a:solidFill>
                  <a:srgbClr val="3F3A34"/>
                </a:solidFill>
                <a:latin typeface="微软雅黑"/>
              </a:rPr>
              <a:t>丹东是全国唯一的沿边+沿海双起点城市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8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00" b="0">
                <a:solidFill>
                  <a:srgbClr val="3F3A34"/>
                </a:solidFill>
                <a:latin typeface="微软雅黑"/>
              </a:rPr>
              <a:t>环线自驾兴起 → 起点城市天然承接「首站仪式+首夜停留」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贰 · G331双图谱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图二:东北段重点(同江以南·鸭绿江流域)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气泡大小=客流量级;红星=红色文旅城选址(虎山—叆河)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7150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A7FA5"/>
                </a:solidFill>
                <a:latin typeface="微软雅黑"/>
              </a:rPr>
              <a:t>黄 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0668" y="4560813"/>
            <a:ext cx="2103120" cy="1280160"/>
          </a:xfrm>
          <a:prstGeom prst="roundRect">
            <a:avLst/>
          </a:prstGeom>
          <a:solidFill>
            <a:srgbClr val="D9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14988" y="4926573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A7FA5"/>
                </a:solidFill>
                <a:latin typeface="微软雅黑"/>
              </a:rPr>
              <a:t>日 本 海</a:t>
            </a:r>
          </a:p>
        </p:txBody>
      </p:sp>
      <p:sp>
        <p:nvSpPr>
          <p:cNvPr id="15" name="Freeform 14"/>
          <p:cNvSpPr/>
          <p:nvPr/>
        </p:nvSpPr>
        <p:spPr>
          <a:xfrm>
            <a:off x="2456786" y="4791601"/>
            <a:ext cx="1847914" cy="942611"/>
          </a:xfrm>
          <a:custGeom>
            <a:avLst/>
            <a:gdLst/>
            <a:ahLst/>
            <a:cxnLst/>
            <a:rect l="l" t="t" r="r" b="b"/>
            <a:pathLst>
              <a:path w="1847914" h="942611">
                <a:moveTo>
                  <a:pt x="0" y="942611"/>
                </a:moveTo>
                <a:lnTo>
                  <a:pt x="82237" y="817853"/>
                </a:lnTo>
                <a:lnTo>
                  <a:pt x="266061" y="702337"/>
                </a:lnTo>
                <a:lnTo>
                  <a:pt x="643383" y="517512"/>
                </a:lnTo>
                <a:lnTo>
                  <a:pt x="890094" y="401996"/>
                </a:lnTo>
                <a:lnTo>
                  <a:pt x="1233555" y="73931"/>
                </a:lnTo>
                <a:lnTo>
                  <a:pt x="1572178" y="180205"/>
                </a:lnTo>
                <a:lnTo>
                  <a:pt x="1847914" y="263377"/>
                </a:lnTo>
                <a:lnTo>
                  <a:pt x="1799539" y="0"/>
                </a:lnTo>
              </a:path>
            </a:pathLst>
          </a:custGeom>
          <a:noFill/>
          <a:ln w="3492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256325" y="4338779"/>
            <a:ext cx="1248068" cy="452822"/>
          </a:xfrm>
          <a:custGeom>
            <a:avLst/>
            <a:gdLst/>
            <a:ahLst/>
            <a:cxnLst/>
            <a:rect l="l" t="t" r="r" b="b"/>
            <a:pathLst>
              <a:path w="1248068" h="452822">
                <a:moveTo>
                  <a:pt x="0" y="452822"/>
                </a:moveTo>
                <a:lnTo>
                  <a:pt x="449885" y="244894"/>
                </a:lnTo>
                <a:lnTo>
                  <a:pt x="861070" y="0"/>
                </a:lnTo>
                <a:lnTo>
                  <a:pt x="1248068" y="300341"/>
                </a:lnTo>
              </a:path>
            </a:pathLst>
          </a:custGeom>
          <a:noFill/>
          <a:ln w="25400">
            <a:solidFill>
              <a:srgbClr val="4A7FA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406" y="5280805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A7FA5"/>
                </a:solidFill>
                <a:latin typeface="微软雅黑"/>
              </a:rPr>
              <a:t>鸭绿江</a:t>
            </a:r>
          </a:p>
        </p:txBody>
      </p:sp>
      <p:sp>
        <p:nvSpPr>
          <p:cNvPr id="18" name="Freeform 17"/>
          <p:cNvSpPr/>
          <p:nvPr/>
        </p:nvSpPr>
        <p:spPr>
          <a:xfrm>
            <a:off x="2505161" y="5424629"/>
            <a:ext cx="72562" cy="184825"/>
          </a:xfrm>
          <a:custGeom>
            <a:avLst/>
            <a:gdLst/>
            <a:ahLst/>
            <a:cxnLst/>
            <a:rect l="l" t="t" r="r" b="b"/>
            <a:pathLst>
              <a:path w="72562" h="184825">
                <a:moveTo>
                  <a:pt x="33862" y="184825"/>
                </a:moveTo>
                <a:lnTo>
                  <a:pt x="0" y="78551"/>
                </a:lnTo>
                <a:lnTo>
                  <a:pt x="72562" y="0"/>
                </a:lnTo>
              </a:path>
            </a:pathLst>
          </a:custGeom>
          <a:noFill/>
          <a:ln w="22225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466461" y="2176320"/>
            <a:ext cx="4658484" cy="3479341"/>
          </a:xfrm>
          <a:custGeom>
            <a:avLst/>
            <a:gdLst/>
            <a:ahLst/>
            <a:cxnLst/>
            <a:rect l="l" t="t" r="r" b="b"/>
            <a:pathLst>
              <a:path w="4658484" h="3479341">
                <a:moveTo>
                  <a:pt x="0" y="3479341"/>
                </a:moveTo>
                <a:lnTo>
                  <a:pt x="304760" y="3317618"/>
                </a:lnTo>
                <a:lnTo>
                  <a:pt x="880419" y="3017277"/>
                </a:lnTo>
                <a:lnTo>
                  <a:pt x="1223880" y="2703074"/>
                </a:lnTo>
                <a:lnTo>
                  <a:pt x="1838239" y="2878658"/>
                </a:lnTo>
                <a:lnTo>
                  <a:pt x="1804376" y="2596799"/>
                </a:lnTo>
                <a:lnTo>
                  <a:pt x="2481622" y="2194803"/>
                </a:lnTo>
                <a:lnTo>
                  <a:pt x="2897645" y="2213286"/>
                </a:lnTo>
                <a:lnTo>
                  <a:pt x="3265293" y="1658809"/>
                </a:lnTo>
                <a:lnTo>
                  <a:pt x="3628103" y="970334"/>
                </a:lnTo>
                <a:lnTo>
                  <a:pt x="4165062" y="873301"/>
                </a:lnTo>
                <a:lnTo>
                  <a:pt x="4658484" y="392754"/>
                </a:lnTo>
                <a:lnTo>
                  <a:pt x="3932864" y="0"/>
                </a:lnTo>
              </a:path>
            </a:pathLst>
          </a:custGeom>
          <a:noFill/>
          <a:ln w="317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011738" y="4773119"/>
            <a:ext cx="2259099" cy="161722"/>
          </a:xfrm>
          <a:custGeom>
            <a:avLst/>
            <a:gdLst/>
            <a:ahLst/>
            <a:cxnLst/>
            <a:rect l="l" t="t" r="r" b="b"/>
            <a:pathLst>
              <a:path w="2259099" h="161722">
                <a:moveTo>
                  <a:pt x="0" y="106275"/>
                </a:moveTo>
                <a:lnTo>
                  <a:pt x="1214206" y="161722"/>
                </a:lnTo>
                <a:lnTo>
                  <a:pt x="1436729" y="41586"/>
                </a:lnTo>
                <a:lnTo>
                  <a:pt x="2259099" y="0"/>
                </a:lnTo>
              </a:path>
            </a:pathLst>
          </a:custGeom>
          <a:noFill/>
          <a:ln w="19050">
            <a:solidFill>
              <a:srgbClr val="8A827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131319" y="5655661"/>
            <a:ext cx="1335142" cy="559097"/>
          </a:xfrm>
          <a:custGeom>
            <a:avLst/>
            <a:gdLst/>
            <a:ahLst/>
            <a:cxnLst/>
            <a:rect l="l" t="t" r="r" b="b"/>
            <a:pathLst>
              <a:path w="1335142" h="559097">
                <a:moveTo>
                  <a:pt x="1335142" y="0"/>
                </a:moveTo>
                <a:lnTo>
                  <a:pt x="962656" y="101654"/>
                </a:lnTo>
                <a:lnTo>
                  <a:pt x="333785" y="240273"/>
                </a:lnTo>
                <a:lnTo>
                  <a:pt x="0" y="559097"/>
                </a:lnTo>
              </a:path>
            </a:pathLst>
          </a:custGeom>
          <a:noFill/>
          <a:ln w="19050">
            <a:solidFill>
              <a:srgbClr val="8A827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55906" y="2875690"/>
            <a:ext cx="310896" cy="310896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234" y="290312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哈尔滨</a:t>
            </a:r>
          </a:p>
        </p:txBody>
      </p:sp>
      <p:sp>
        <p:nvSpPr>
          <p:cNvPr id="24" name="Oval 23"/>
          <p:cNvSpPr/>
          <p:nvPr/>
        </p:nvSpPr>
        <p:spPr>
          <a:xfrm>
            <a:off x="2807149" y="3799429"/>
            <a:ext cx="237744" cy="237744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2325" y="3790285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长春</a:t>
            </a:r>
          </a:p>
        </p:txBody>
      </p:sp>
      <p:sp>
        <p:nvSpPr>
          <p:cNvPr id="26" name="Oval 25"/>
          <p:cNvSpPr/>
          <p:nvPr/>
        </p:nvSpPr>
        <p:spPr>
          <a:xfrm>
            <a:off x="1874578" y="4742234"/>
            <a:ext cx="274320" cy="27432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810" y="472394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沈阳</a:t>
            </a:r>
          </a:p>
        </p:txBody>
      </p:sp>
      <p:sp>
        <p:nvSpPr>
          <p:cNvPr id="28" name="Oval 27"/>
          <p:cNvSpPr/>
          <p:nvPr/>
        </p:nvSpPr>
        <p:spPr>
          <a:xfrm>
            <a:off x="1012447" y="6095886"/>
            <a:ext cx="237744" cy="237744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679" y="611417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大连</a:t>
            </a:r>
          </a:p>
        </p:txBody>
      </p:sp>
      <p:sp>
        <p:nvSpPr>
          <p:cNvPr id="30" name="Oval 29"/>
          <p:cNvSpPr/>
          <p:nvPr/>
        </p:nvSpPr>
        <p:spPr>
          <a:xfrm>
            <a:off x="4847499" y="4270539"/>
            <a:ext cx="201168" cy="201168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6955" y="406022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延吉</a:t>
            </a:r>
          </a:p>
        </p:txBody>
      </p:sp>
      <p:sp>
        <p:nvSpPr>
          <p:cNvPr id="32" name="Oval 31"/>
          <p:cNvSpPr/>
          <p:nvPr/>
        </p:nvSpPr>
        <p:spPr>
          <a:xfrm>
            <a:off x="4170253" y="4672535"/>
            <a:ext cx="201168" cy="201168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2277" y="441650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长白山</a:t>
            </a:r>
          </a:p>
        </p:txBody>
      </p:sp>
      <p:sp>
        <p:nvSpPr>
          <p:cNvPr id="34" name="Oval 33"/>
          <p:cNvSpPr/>
          <p:nvPr/>
        </p:nvSpPr>
        <p:spPr>
          <a:xfrm>
            <a:off x="3282872" y="5129589"/>
            <a:ext cx="128016" cy="128016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38320" y="513873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集安</a:t>
            </a:r>
          </a:p>
        </p:txBody>
      </p:sp>
      <p:sp>
        <p:nvSpPr>
          <p:cNvPr id="36" name="Oval 35"/>
          <p:cNvSpPr/>
          <p:nvPr/>
        </p:nvSpPr>
        <p:spPr>
          <a:xfrm>
            <a:off x="3635477" y="4824530"/>
            <a:ext cx="109728" cy="109728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7773" y="488853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临江</a:t>
            </a:r>
          </a:p>
        </p:txBody>
      </p:sp>
      <p:sp>
        <p:nvSpPr>
          <p:cNvPr id="38" name="Oval 37"/>
          <p:cNvSpPr/>
          <p:nvPr/>
        </p:nvSpPr>
        <p:spPr>
          <a:xfrm>
            <a:off x="5300098" y="4325598"/>
            <a:ext cx="128016" cy="128016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73834" y="434388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珲春</a:t>
            </a:r>
          </a:p>
        </p:txBody>
      </p:sp>
      <p:sp>
        <p:nvSpPr>
          <p:cNvPr id="40" name="Oval 39"/>
          <p:cNvSpPr/>
          <p:nvPr/>
        </p:nvSpPr>
        <p:spPr>
          <a:xfrm>
            <a:off x="6576659" y="2994757"/>
            <a:ext cx="109728" cy="109728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2963" y="293989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虎林</a:t>
            </a:r>
          </a:p>
        </p:txBody>
      </p:sp>
      <p:sp>
        <p:nvSpPr>
          <p:cNvPr id="42" name="Oval 41"/>
          <p:cNvSpPr/>
          <p:nvPr/>
        </p:nvSpPr>
        <p:spPr>
          <a:xfrm>
            <a:off x="7070081" y="2514210"/>
            <a:ext cx="109728" cy="109728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16385" y="245934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饶河</a:t>
            </a:r>
          </a:p>
        </p:txBody>
      </p:sp>
      <p:sp>
        <p:nvSpPr>
          <p:cNvPr id="44" name="Oval 43"/>
          <p:cNvSpPr/>
          <p:nvPr/>
        </p:nvSpPr>
        <p:spPr>
          <a:xfrm>
            <a:off x="4937818" y="3535566"/>
            <a:ext cx="146304" cy="146304"/>
          </a:xfrm>
          <a:prstGeom prst="ellipse">
            <a:avLst/>
          </a:prstGeom>
          <a:solidFill>
            <a:srgbClr val="8A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11554" y="348070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牡丹江</a:t>
            </a:r>
          </a:p>
        </p:txBody>
      </p:sp>
      <p:sp>
        <p:nvSpPr>
          <p:cNvPr id="46" name="Oval 45"/>
          <p:cNvSpPr/>
          <p:nvPr/>
        </p:nvSpPr>
        <p:spPr>
          <a:xfrm>
            <a:off x="6335317" y="2112312"/>
            <a:ext cx="128016" cy="128016"/>
          </a:xfrm>
          <a:prstGeom prst="ellipse">
            <a:avLst/>
          </a:prstGeom>
          <a:solidFill>
            <a:srgbClr val="3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7725" y="18379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F3A34"/>
                </a:solidFill>
                <a:latin typeface="微软雅黑"/>
              </a:rPr>
              <a:t>同江(本图北界)</a:t>
            </a:r>
          </a:p>
        </p:txBody>
      </p:sp>
      <p:sp>
        <p:nvSpPr>
          <p:cNvPr id="48" name="Oval 47"/>
          <p:cNvSpPr/>
          <p:nvPr/>
        </p:nvSpPr>
        <p:spPr>
          <a:xfrm>
            <a:off x="2347589" y="5569133"/>
            <a:ext cx="237744" cy="237744"/>
          </a:xfrm>
          <a:prstGeom prst="ellipse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63541" y="562399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丹东</a:t>
            </a:r>
          </a:p>
        </p:txBody>
      </p:sp>
      <p:sp>
        <p:nvSpPr>
          <p:cNvPr id="50" name="5-Point Star 49"/>
          <p:cNvSpPr/>
          <p:nvPr/>
        </p:nvSpPr>
        <p:spPr>
          <a:xfrm>
            <a:off x="2447583" y="5490291"/>
            <a:ext cx="182880" cy="182880"/>
          </a:xfrm>
          <a:prstGeom prst="star5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612175" y="5673171"/>
            <a:ext cx="795528" cy="292608"/>
          </a:xfrm>
          <a:custGeom>
            <a:avLst/>
            <a:gdLst/>
            <a:ahLst/>
            <a:cxnLst/>
            <a:rect l="l" t="t" r="r" b="b"/>
            <a:pathLst>
              <a:path w="795528" h="292608">
                <a:moveTo>
                  <a:pt x="0" y="0"/>
                </a:moveTo>
                <a:lnTo>
                  <a:pt x="795528" y="292608"/>
                </a:lnTo>
              </a:path>
            </a:pathLst>
          </a:custGeom>
          <a:noFill/>
          <a:ln w="12700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3423" y="5837763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4533C"/>
                </a:solidFill>
                <a:latin typeface="微软雅黑"/>
              </a:rPr>
              <a:t>★ 红色文旅城选址(虎山—叆河)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74088" y="536456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A8276"/>
                </a:solidFill>
                <a:latin typeface="微软雅黑"/>
              </a:rPr>
              <a:t>朝 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1446" y="372423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276"/>
                </a:solidFill>
                <a:latin typeface="微软雅黑"/>
              </a:rPr>
              <a:t>俄罗斯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66760" y="1737360"/>
            <a:ext cx="3291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18470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F3A34"/>
                </a:solidFill>
                <a:latin typeface="微软雅黑"/>
              </a:rPr>
              <a:t>图例</a:t>
            </a:r>
          </a:p>
        </p:txBody>
      </p:sp>
      <p:sp>
        <p:nvSpPr>
          <p:cNvPr id="57" name="Freeform 56"/>
          <p:cNvSpPr/>
          <p:nvPr/>
        </p:nvSpPr>
        <p:spPr>
          <a:xfrm>
            <a:off x="8567928" y="2304288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0" y="21762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G331(丹东—同江段)</a:t>
            </a:r>
          </a:p>
        </p:txBody>
      </p:sp>
      <p:sp>
        <p:nvSpPr>
          <p:cNvPr id="59" name="Freeform 58"/>
          <p:cNvSpPr/>
          <p:nvPr/>
        </p:nvSpPr>
        <p:spPr>
          <a:xfrm>
            <a:off x="8567928" y="2670048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254203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鸭绿江/图们江界河</a:t>
            </a:r>
          </a:p>
        </p:txBody>
      </p:sp>
      <p:sp>
        <p:nvSpPr>
          <p:cNvPr id="61" name="Freeform 60"/>
          <p:cNvSpPr/>
          <p:nvPr/>
        </p:nvSpPr>
        <p:spPr>
          <a:xfrm>
            <a:off x="8567928" y="3035808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8A827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2907791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沈白高铁 / 丹大快铁</a:t>
            </a:r>
          </a:p>
        </p:txBody>
      </p:sp>
      <p:sp>
        <p:nvSpPr>
          <p:cNvPr id="63" name="Freeform 62"/>
          <p:cNvSpPr/>
          <p:nvPr/>
        </p:nvSpPr>
        <p:spPr>
          <a:xfrm>
            <a:off x="8567928" y="3401568"/>
            <a:ext cx="484632" cy="0"/>
          </a:xfrm>
          <a:custGeom>
            <a:avLst/>
            <a:gdLst/>
            <a:ahLst/>
            <a:cxnLst/>
            <a:rect l="l" t="t" r="r" b="b"/>
            <a:pathLst>
              <a:path w="484632" h="0">
                <a:moveTo>
                  <a:pt x="0" y="0"/>
                </a:moveTo>
                <a:lnTo>
                  <a:pt x="484632" y="0"/>
                </a:lnTo>
              </a:path>
            </a:pathLst>
          </a:custGeom>
          <a:noFill/>
          <a:ln w="31750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327355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叆河(内河支流)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4023360"/>
            <a:ext cx="3337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8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00" b="0">
                <a:solidFill>
                  <a:srgbClr val="3F3A34"/>
                </a:solidFill>
                <a:latin typeface="微软雅黑"/>
              </a:rPr>
              <a:t>鸭绿江流域(丹东—集安—临江—长白山)是G331景观与人文最富集段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8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00" b="0">
                <a:solidFill>
                  <a:srgbClr val="3F3A34"/>
                </a:solidFill>
                <a:latin typeface="微软雅黑"/>
              </a:rPr>
              <a:t>丹东是全段唯一具备完整城市服务的节点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8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00" b="0">
                <a:solidFill>
                  <a:srgbClr val="3F3A34"/>
                </a:solidFill>
                <a:latin typeface="微软雅黑"/>
              </a:rPr>
              <a:t>选址红星紧扣「渡江原址+虎山起点」双叙事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叁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G331节点城市比较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同江以南边境段:一串「风景点」,一座「城市港」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丹东独占「首站+首夜」:仪式、补给、体验、过夜四合一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叁 · 节点比较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G331重点节点城市与丹东比较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同江以南边境段主要节点(自南向北)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199"/>
                <a:gridCol w="3043824"/>
                <a:gridCol w="1902390"/>
                <a:gridCol w="2130677"/>
                <a:gridCol w="2282868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节点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核心资源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客流量级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住宿/服务配套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在G331中的角色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丹东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双起点+断桥+纪念馆+虎山长城+江海温泉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全年千万级(全市)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完整城市配套/机场/高铁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唯一「城市型始发港」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集安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高句丽世遗/鸭绿江国门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假期单景区万级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县级配套,精品民宿兴起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文化型驿站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临江/长白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望天鹅/沿江风光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小众自驾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薄弱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风景廊道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长白山池南/二道白河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长白山世界级IP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景区年数百万级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度假区级配套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全线流量高峰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延吉/珲春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民族风情/防川一眼望三国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延边假期数百万级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州府级配套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东段消费中心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虎林/饶河/同江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乌苏里江/湿地/赫哲族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小众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薄弱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生态秘境段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62356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全线多数节点是「风景点」,只有丹东能同时提供:出发仪式+物资补给+文化体验+舒适过夜——「首站+首夜」是丹东在G331价值链中的天然分工。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叁 · 节点比较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丹东的「首站+首夜」方程式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把每一辆从零公里出发的车,变成一晚以上的停留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83794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2121408"/>
            <a:ext cx="566928" cy="566928"/>
          </a:xfrm>
          <a:prstGeom prst="ellipse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121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仪式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8036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F3A34"/>
                </a:solidFill>
                <a:latin typeface="微软雅黑"/>
              </a:rPr>
              <a:t>零公里发车礼 · 起点护照第一枚章 · 完驾证书预登记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91256" y="2743200"/>
            <a:ext cx="219456" cy="36576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93592" y="183794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80" y="2121408"/>
            <a:ext cx="566928" cy="566928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121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补给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88036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F3A34"/>
                </a:solidFill>
                <a:latin typeface="微软雅黑"/>
              </a:rPr>
              <a:t>自驾服务中心:车检/物资/攻略 · 房车营地整备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53328" y="2743200"/>
            <a:ext cx="219456" cy="36576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91072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55664" y="183794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2" y="2121408"/>
            <a:ext cx="566928" cy="566928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121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体验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88036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F3A34"/>
                </a:solidFill>
                <a:latin typeface="微软雅黑"/>
              </a:rPr>
              <a:t>红色文旅城半日 · 断桥+江船 · 安东老街之夜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15400" y="2743200"/>
            <a:ext cx="219456" cy="36576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53144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17736" y="183794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36024" y="2121408"/>
            <a:ext cx="566928" cy="566928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2121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过夜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288036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F3A34"/>
                </a:solidFill>
                <a:latin typeface="微软雅黑"/>
              </a:rPr>
              <a:t>主题酒店/营地首夜 · 次日晨发,正式北上G331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34340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联盟策略: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发起「G331起点城市联盟」(丹东—集安—长白山—延吉),互认起点护照与通票,共推「一程多站」;丹东争取秘书处/发布权,固化「始发港」话语权。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数据目标: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自驾客首夜留丹率从目前的低位提升至50%以上;每留一夜,人均消费预计增加300–500元(住宿+餐饮+演艺)。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80644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80644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红色文旅城正是「体验+过夜」两环的核心载体——没有它,「首站」只是一张照片;有了它,「首站」才是一晚生意。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肆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红色文旅小镇可行性研判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对标已验证:延安红街月200万 · 遵义1935月120万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选址确认:鸭绿江上游 虎山长城—叆河片区新开发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八大内容模块 · 免大门票 · 投资分级滚动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对标:红色小镇模式已被市场验证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91640"/>
            <a:ext cx="544068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0934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196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C4533C"/>
                </a:solidFill>
                <a:latin typeface="微软雅黑"/>
              </a:rPr>
              <a:t>延安红街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5623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万达投资 · 市场化运营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258568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61公顷、1.5公里街区;互动体验业态超60%;开业首月200万人次,80/90/00后占比过半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91640"/>
            <a:ext cx="544068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0934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8196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DEA44E"/>
                </a:solidFill>
                <a:latin typeface="微软雅黑"/>
              </a:rPr>
              <a:t>遵义1935街区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185623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免门票 · 纪念馆生态圈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258568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与遵义会议纪念馆一街之隔;红军街+广场+公园整合;单月120万人次;「敬仰在馆内、消费在街区」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57600"/>
            <a:ext cx="544068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7530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4C8577"/>
                </a:solidFill>
                <a:latin typeface="微软雅黑"/>
              </a:rPr>
              <a:t>红安影视幻城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82219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剧情+场景+互动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24528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「大别山抗战」等剧目线上售票旺盛;礼包宠客+票根经济;县域红色流量转化样本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657600"/>
            <a:ext cx="544068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57530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37856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4A7FA5"/>
                </a:solidFill>
                <a:latin typeface="微软雅黑"/>
              </a:rPr>
              <a:t>万岁山(方法论)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382219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低价高频 · NPC玩家化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224528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百元票三日无限次;NPC全域互动+高频内容更新;前三季度1550万人次、收入9.5亿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1500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1500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四个样本共同回答了可行性三问:红色内容能吸引年轻人(延安)、免门票街区能盈利(遵义)、沉浸运营能长红(万岁山)。丹东的题材烈度(渡江出征)高于以上任何一家。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选址论证:鸭绿江上游 · 虎山长城—叆河片区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已确认方向;五大理由+两项风险对策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3736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737360"/>
            <a:ext cx="82296" cy="77724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801368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① 历史原址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801368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>
                <a:solidFill>
                  <a:srgbClr val="3F3A34"/>
                </a:solidFill>
                <a:latin typeface="微软雅黑"/>
              </a:rPr>
              <a:t>九连城马市渡口一带为1950年志愿军渡江浮桥区域之一——「渡江」演艺发生在真实历史空间,叙事无可替代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0604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06040"/>
            <a:ext cx="82296" cy="777240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670048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A7FA5"/>
                </a:solidFill>
                <a:latin typeface="微软雅黑"/>
              </a:rPr>
              <a:t>② 水域自由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670048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>
                <a:solidFill>
                  <a:srgbClr val="3F3A34"/>
                </a:solidFill>
                <a:latin typeface="微软雅黑"/>
              </a:rPr>
              <a:t>叆河为内河支流,不属界河管控水域;「抢渡过江/攻打据点」水上实景演艺的合规性与调度自由度远高于鸭绿江主航道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7472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474720"/>
            <a:ext cx="82296" cy="777240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38728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DEA44E"/>
                </a:solidFill>
                <a:latin typeface="微软雅黑"/>
              </a:rPr>
              <a:t>③ 动线枢纽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538728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>
                <a:solidFill>
                  <a:srgbClr val="3F3A34"/>
                </a:solidFill>
                <a:latin typeface="微软雅黑"/>
              </a:rPr>
              <a:t>地处城区(断桥/老街)与虎山长城/零公里之间,把全链路自然缝合;与国门湾营地形成「营地+小镇」组团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4340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4343400"/>
            <a:ext cx="82296" cy="77724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407408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C8577"/>
                </a:solidFill>
                <a:latin typeface="微软雅黑"/>
              </a:rPr>
              <a:t>④ 双叙事叠加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407408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>
                <a:solidFill>
                  <a:srgbClr val="3F3A34"/>
                </a:solidFill>
                <a:latin typeface="微软雅黑"/>
              </a:rPr>
              <a:t>与虎山长城(长城东端起点)和G331零公里共享客流:「长城起点+出征起点」双重仪式感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21208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5212080"/>
            <a:ext cx="82296" cy="777240"/>
          </a:xfrm>
          <a:prstGeom prst="roundRect">
            <a:avLst/>
          </a:prstGeom>
          <a:solidFill>
            <a:srgbClr val="8A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276088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8A8276"/>
                </a:solidFill>
                <a:latin typeface="微软雅黑"/>
              </a:rPr>
              <a:t>⑤ 土地成本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276088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>
                <a:solidFill>
                  <a:srgbClr val="3F3A34"/>
                </a:solidFill>
                <a:latin typeface="微软雅黑"/>
              </a:rPr>
              <a:t>城郊结合部新开发,存量用地充裕、拆迁量小,建设成本与用地弹性显著优于城区改造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1737360"/>
            <a:ext cx="3840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82712" y="165506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9019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C4533C"/>
                </a:solidFill>
                <a:latin typeface="微软雅黑"/>
              </a:rPr>
              <a:t>两项风险 · 对策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331720"/>
            <a:ext cx="3429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50" b="1">
                <a:solidFill>
                  <a:srgbClr val="C4533C"/>
                </a:solidFill>
                <a:latin typeface="微软雅黑"/>
              </a:rPr>
              <a:t>距城区约15公里: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接驳专线(断桥—老街—小镇—虎山循环巴士);自驾/房车客群本就在此动线上;通票含接驳。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050" b="1">
                <a:solidFill>
                  <a:srgbClr val="C4533C"/>
                </a:solidFill>
                <a:latin typeface="微软雅黑"/>
              </a:rPr>
              <a:t>冬季运营压力: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小剧场群/演艺厅全部室内化;酒店配温泉业态;冬季主打「1950年的冬天」主题(长津湖季),把季节劣势转为叙事资产。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内容规划:「鸭绿江·1950」八大模块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按确认方向:战争年代情景整体还原,渡江+后勤两大主线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3736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65506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85623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C4533C"/>
                </a:solidFill>
                <a:latin typeface="微软雅黑"/>
              </a:rPr>
              <a:t>① 抢渡实景演艺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9572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叆河水岸「抢渡过江/攻打据点」大型情景演艺,烟火/灯光/水效,日场+旺季加演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173736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75304" y="165506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7016" y="185623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EA44E"/>
                </a:solidFill>
                <a:latin typeface="微软雅黑"/>
              </a:rPr>
              <a:t>② 后勤支前街区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239572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支前市井还原:军需缝纫、担架队、炒面坊、火车站台;NPC常态化互动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173736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165506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5623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4C8577"/>
                </a:solidFill>
                <a:latin typeface="微软雅黑"/>
              </a:rPr>
              <a:t>③ 主题小剧场群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9572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6–8个室内小剧场轮演(15–30分钟):坑道、战地医院、一封家书、凯旋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73736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62872" y="165506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85623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4A7FA5"/>
                </a:solidFill>
                <a:latin typeface="微软雅黑"/>
              </a:rPr>
              <a:t>④ 夜景大型歌舞演艺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39572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驻场晚会(约60分钟):从出征到凯旋的史诗歌舞,夜间留客核心引擎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0332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62102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82219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C4533C"/>
                </a:solidFill>
                <a:latin typeface="微软雅黑"/>
              </a:rPr>
              <a:t>⑤ NPC角色化游园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36168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入伍登记/通行证/军功章集章任务线,游客成为「剧中人」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0712" y="370332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75304" y="362102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382219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EA44E"/>
                </a:solidFill>
                <a:latin typeface="微软雅黑"/>
              </a:rPr>
              <a:t>⑥ 配套商街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016" y="436168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安东1950风貌商街:丹东美食(黄蚬子/朝鲜族风味)+军旅文创+老字号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4496" y="370332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19088" y="362102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2219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4C8577"/>
                </a:solidFill>
                <a:latin typeface="微软雅黑"/>
              </a:rPr>
              <a:t>⑦ 配套酒店+营地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6168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主题酒店(温泉)+营地木屋,联动国门湾房车营地,承接「首夜」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703320"/>
            <a:ext cx="2706624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62872" y="362102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382219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4A7FA5"/>
                </a:solidFill>
                <a:latin typeface="微软雅黑"/>
              </a:rPr>
              <a:t>⑧ 研学营地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4361688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课程化产品:行军/旗语/战地炊事/家书课堂,对接学校与机关团建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76072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76072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庄重底线:战斗与牺牲场景只在演艺与研学中呈现,商业娱乐业态严格限定在「支前市井」层面;开园即建立内容审查与讲解词规范。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空间布局概念(示意)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沿叆河展开「一轴四区」,与虎山长城/零公里/国门湾组团联动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7315200" cy="3931920"/>
          </a:xfrm>
          <a:prstGeom prst="roundRect">
            <a:avLst/>
          </a:prstGeom>
          <a:solidFill>
            <a:srgbClr val="F4EEE0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22960" y="4160520"/>
            <a:ext cx="6949440" cy="960120"/>
          </a:xfrm>
          <a:custGeom>
            <a:avLst/>
            <a:gdLst/>
            <a:ahLst/>
            <a:cxnLst/>
            <a:rect l="l" t="t" r="r" b="b"/>
            <a:pathLst>
              <a:path w="6949440" h="960120">
                <a:moveTo>
                  <a:pt x="0" y="960120"/>
                </a:moveTo>
                <a:lnTo>
                  <a:pt x="1371600" y="548640"/>
                </a:lnTo>
                <a:lnTo>
                  <a:pt x="3017520" y="457200"/>
                </a:lnTo>
                <a:lnTo>
                  <a:pt x="4846320" y="182880"/>
                </a:lnTo>
                <a:lnTo>
                  <a:pt x="6949440" y="0"/>
                </a:lnTo>
              </a:path>
            </a:pathLst>
          </a:custGeom>
          <a:noFill/>
          <a:ln w="5080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4348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A7FA5"/>
                </a:solidFill>
                <a:latin typeface="微软雅黑"/>
              </a:rPr>
              <a:t>叆河水岸(演艺水域)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103120"/>
            <a:ext cx="1600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03120"/>
            <a:ext cx="1600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C4533C"/>
                </a:solidFill>
                <a:latin typeface="微软雅黑"/>
              </a:rPr>
              <a:t>入口广场
入伍登记·仪式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011680"/>
            <a:ext cx="1828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011680"/>
            <a:ext cx="1828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DEA44E"/>
                </a:solidFill>
                <a:latin typeface="微软雅黑"/>
              </a:rPr>
              <a:t>支前老街
商街+NPC市井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103120"/>
            <a:ext cx="16459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103120"/>
            <a:ext cx="1645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8577"/>
                </a:solidFill>
                <a:latin typeface="微软雅黑"/>
              </a:rPr>
              <a:t>小剧场群
室内轮演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240280"/>
            <a:ext cx="13716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24028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C4533C"/>
                </a:solidFill>
                <a:latin typeface="微软雅黑"/>
              </a:rPr>
              <a:t>夜演大剧场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3657600"/>
            <a:ext cx="1737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65760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8577"/>
                </a:solidFill>
                <a:latin typeface="微软雅黑"/>
              </a:rPr>
              <a:t>研学营地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520440"/>
            <a:ext cx="17373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52044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A7FA5"/>
                </a:solidFill>
                <a:latin typeface="微软雅黑"/>
              </a:rPr>
              <a:t>渡江实景区
(水岸看台)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257800"/>
            <a:ext cx="23774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8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5780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A8276"/>
                </a:solidFill>
                <a:latin typeface="微软雅黑"/>
              </a:rPr>
              <a:t>酒店+温泉+营地木屋区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828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8577"/>
                </a:solidFill>
                <a:latin typeface="微软雅黑"/>
              </a:rPr>
              <a:t>→ 虎山长城 · 零公里(3km)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1828800"/>
            <a:ext cx="3474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一轴: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叆河水岸景观演艺轴,白天市井、傍晚抢渡、夜晚大秀。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动区与静区分离: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演艺/研学在水岸侧,酒店温泉在背水侧,互不干扰。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全室内小剧场: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冬季主力产品,保障四季运营。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组团联动: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与虎山长城、零公里地标、国门湾房车营地构成「起点组团」,共享停车与接驳。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商业模式:免大门票,分级投资,滚动开发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737360"/>
          <a:ext cx="52120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35040" y="1783080"/>
            <a:ext cx="56692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免大门票: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街区开放进入,聚客优先(遵义模式);演艺、剧场、研学按项目收费,通票可含1场小剧场。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投资分级: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一期「轻」——支前老街+小剧场2个+水岸日场演艺,快速开业验证;二期「中」——夜演大剧场+酒店;三期「重」——视数据加码扩容。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运营主体: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政府平台公司持有资产+专业演艺运营团队(市场化选聘)+商户生态招商,「延安红街」股权与运营分离模式。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617720"/>
            <a:ext cx="5623560" cy="658368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617720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原则:一次性投资严控,先内容后砖头——演艺内容是资产,建筑只是容器。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440680"/>
            <a:ext cx="562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C4533C"/>
                </a:solidFill>
                <a:latin typeface="微软雅黑"/>
              </a:rPr>
              <a:t>可行性结论:</a:t>
            </a:r>
            <a:r>
              <a:rPr sz="1200" b="0">
                <a:solidFill>
                  <a:srgbClr val="3F3A34"/>
                </a:solidFill>
                <a:latin typeface="微软雅黑"/>
              </a:rPr>
              <a:t>  有条件可行。题材独占、模式已验证、选址成立;约束条件是投资节奏与内容品质——「内容先行、分期滚动、免票聚客」。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伍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全链路动线与门票重构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两日三夜:美食—老街—纪念馆—红色文旅城—断桥—江船—沿江自驾—虎山长城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免票聚客 · 低票通行 · 付费体验三层结构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门票收入占比目标降至30%以下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伍 · 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「两日三夜」全链路动线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每个节点都有明确分工:引流、体验、消费、过夜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1051560" cy="117043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83080"/>
            <a:ext cx="10515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抵达夜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1783080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11096" y="1856232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DEA44E"/>
                </a:solidFill>
                <a:latin typeface="微软雅黑"/>
              </a:rPr>
              <a:t>美食暖场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1096" y="2185416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夜市/黄蚬子/朝鲜族风味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6" y="2651760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免票·引流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05756" y="2221992"/>
            <a:ext cx="146304" cy="27432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1783080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856232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DEA44E"/>
                </a:solidFill>
                <a:latin typeface="微软雅黑"/>
              </a:rPr>
              <a:t>安东老街夜游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185416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市井烟火+首枚护照章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651760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免票·引流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36392"/>
            <a:ext cx="1051560" cy="117043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136392"/>
            <a:ext cx="10515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第一日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3136392"/>
            <a:ext cx="23042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11096" y="3209544"/>
            <a:ext cx="2048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4533C"/>
                </a:solidFill>
                <a:latin typeface="微软雅黑"/>
              </a:rPr>
              <a:t>抗美援朝纪念馆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11096" y="353872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敬仰·精神原点(上午)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11096" y="4005072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免费·分发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01084" y="3575304"/>
            <a:ext cx="146304" cy="27432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61104" y="3136392"/>
            <a:ext cx="23042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209544"/>
            <a:ext cx="2048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4533C"/>
                </a:solidFill>
                <a:latin typeface="微软雅黑"/>
              </a:rPr>
              <a:t>红色文旅城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小剧场+支前街+午餐(午后)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005072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体验付费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579108" y="3575304"/>
            <a:ext cx="146304" cy="27432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39128" y="3136392"/>
            <a:ext cx="23042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67144" y="3209544"/>
            <a:ext cx="2048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4533C"/>
                </a:solidFill>
                <a:latin typeface="微软雅黑"/>
              </a:rPr>
              <a:t>断桥+江船日落航班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7144" y="353872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凭吊+两岸观景(傍晚)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4005072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通票+船票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57132" y="3575304"/>
            <a:ext cx="146304" cy="27432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17152" y="3136392"/>
            <a:ext cx="23042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45168" y="3209544"/>
            <a:ext cx="2048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4533C"/>
                </a:solidFill>
                <a:latin typeface="微软雅黑"/>
              </a:rPr>
              <a:t>夜演「鸭绿江·1950」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353872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大型歌舞演艺(夜)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4005072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演艺票·留客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489704"/>
            <a:ext cx="1051560" cy="117043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489704"/>
            <a:ext cx="10515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第二日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83080" y="4489704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11096" y="456285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C8577"/>
                </a:solidFill>
                <a:latin typeface="微软雅黑"/>
              </a:rPr>
              <a:t>沿江自驾G331段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11096" y="4892040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江海线/河口方向(上午)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1096" y="5358384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免费·串联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905756" y="4928616"/>
            <a:ext cx="146304" cy="27432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65776" y="4489704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93792" y="456285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C8577"/>
                </a:solidFill>
                <a:latin typeface="微软雅黑"/>
              </a:rPr>
              <a:t>虎山长城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3792" y="4892040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长城东端起点登临(午后)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93792" y="5358384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通票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188452" y="4928616"/>
            <a:ext cx="146304" cy="274320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48472" y="4489704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8" y="4562856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C8577"/>
                </a:solidFill>
                <a:latin typeface="微软雅黑"/>
              </a:rPr>
              <a:t>零公里发车仪式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6488" y="4892040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F3A34"/>
                </a:solidFill>
                <a:latin typeface="微软雅黑"/>
              </a:rPr>
              <a:t>完驾证书/北上启程(离城)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76488" y="5358384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免费·仪式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89788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" y="589788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动线闭环的关键在两个「夜」:老街之夜负责第一晚,1950夜演负责第二晚——夜产品每留住一晚,人均消费提升300元以上。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伍 · 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门票依赖重构:三层收入结构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免票聚客、低票通行、付费体验——收入跟着停留走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783080"/>
            <a:ext cx="1554480" cy="105156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78308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免票引流层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928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F3A34"/>
                </a:solidFill>
                <a:latin typeface="微软雅黑"/>
              </a:rPr>
              <a:t>安东老街 · 红色文旅城街区 · 沿江岸线 · 零公里地标 · 纪念馆(公益)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350008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作用:把人聚进来,制造「随时可来」的低门槛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7180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971800"/>
            <a:ext cx="1554480" cy="1051560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7180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低票通行层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8152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F3A34"/>
                </a:solidFill>
                <a:latin typeface="微软雅黑"/>
              </a:rPr>
              <a:t>City Pass通票:断桥+虎山长城+游船基础航班+接驳巴士(3日有效)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538728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作用:一次付费全城通行,消灭「逐个买票」的摩擦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160520"/>
            <a:ext cx="1554480" cy="105156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16052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付费体验层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27024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F3A34"/>
                </a:solidFill>
                <a:latin typeface="微软雅黑"/>
              </a:rPr>
              <a:t>1950夜演 · 小剧场 · 江船日落/主题航班 · 研学课程 · 温泉酒店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727448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8276"/>
                </a:solidFill>
                <a:latin typeface="微软雅黑"/>
              </a:rPr>
              <a:t>作用:为「值得的体验」付费,承担主要收入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4068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指标体系: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平均停留时长(目标2晚3天)、过夜率、人均二消、非门票收入占比(&gt;70%)、旗舰锚定率(&gt;15%)、复游率。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陆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实施路径与结论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三步走:动线先行 → 小镇一期 → 旗舰扩容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结论:有条件可行,内容先行、分期滚动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陆 · 实施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三步走路线图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83080"/>
            <a:ext cx="3611880" cy="777240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1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第一步 · 动线先行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9456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6F0E4"/>
                </a:solidFill>
                <a:latin typeface="微软雅黑"/>
              </a:rPr>
              <a:t>0–12个月 · 轻投入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9748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52928"/>
            <a:ext cx="32461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City Pass通票+接驳环线开通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老街夜与江船日落航班上线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零公里仪式+起点护照运营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小镇一期开工(支前老街+2个小剧场+日场演艺)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783080"/>
            <a:ext cx="3611880" cy="77724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856231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第二步 · 小镇成势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19456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6F0E4"/>
                </a:solidFill>
                <a:latin typeface="微软雅黑"/>
              </a:rPr>
              <a:t>1–3年 · 中投入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269748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2852928"/>
            <a:ext cx="32461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「鸭绿江·1950」一期开业(免大门票)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夜演大剧场+主题酒店二期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研学课程对接学校/机关规模化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G331起点城市联盟与通票互认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1783080"/>
            <a:ext cx="3611880" cy="77724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1856231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第三步 · 旗舰扩容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19456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6F0E4"/>
                </a:solidFill>
                <a:latin typeface="微软雅黑"/>
              </a:rPr>
              <a:t>3–5年 · 视数据决策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69748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2852928"/>
            <a:ext cx="32461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演艺扩容/水岸夜游二期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争创国家级旅游度假区/5A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入境边境游产品(政策窗口)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·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「旅居+研学+自驾」三客群体系成熟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0644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80644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第一步不等小镇建成:动线与夜产品先跑起来,既提前兑现停留与二消,也为小镇开业积累客流与口碑。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73736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陆 ·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可行性结论与下一步工作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丹东红色文旅小镇可行性与全链路旅游体系研究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3736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5506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562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C4533C"/>
                </a:solidFill>
                <a:latin typeface="微软雅黑"/>
              </a:rPr>
              <a:t>题材可行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402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抗美援朝渡江叙事全国独占,烈度高于延安/遵义已验证题材;年轻客群接受度已被市场证明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3736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65506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8562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DEA44E"/>
                </a:solidFill>
                <a:latin typeface="微软雅黑"/>
              </a:rPr>
              <a:t>选址可行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2402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虎山—叆河:渡江历史原址+内河水域演艺自由+起点组团联动+新开发用地弹性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29184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20954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4107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4C8577"/>
                </a:solidFill>
                <a:latin typeface="微软雅黑"/>
              </a:rPr>
              <a:t>模式可行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79476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免大门票开放街区+三层收入结构,门票依赖降至30%以下;投资分级滚动,风险可控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29184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20954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4107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4A7FA5"/>
                </a:solidFill>
                <a:latin typeface="微软雅黑"/>
              </a:rPr>
              <a:t>体系可行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79476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两日三夜全链路把美食、老街、纪念馆、断桥、江船、自驾、小镇、虎山串成闭环,IP维度从「打卡」升维到「入戏」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983480"/>
            <a:ext cx="11064240" cy="1234440"/>
          </a:xfrm>
          <a:prstGeom prst="roundRect">
            <a:avLst/>
          </a:prstGeom>
          <a:solidFill>
            <a:srgbClr val="F3EBDB"/>
          </a:solidFill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38928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C4533C"/>
                </a:solidFill>
                <a:latin typeface="微软雅黑"/>
              </a:rPr>
              <a:t>下一步工作(确认后展开):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F3A34"/>
                </a:solidFill>
                <a:latin typeface="微软雅黑"/>
              </a:rPr>
              <a:t>① 小镇一期概念方案与投资估算  ② 客流与收入测算模型  ③ 演艺内容大纲(渡江/支前/夜演)  ④ 通票定价与联盟谈判方案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让游客从「打卡起点」,到「走进1950」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2918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 b="0">
                <a:solidFill>
                  <a:srgbClr val="8A8276"/>
                </a:solidFill>
                <a:latin typeface="微软雅黑"/>
              </a:rPr>
              <a:t>红色文旅城不是又一个景区,而是丹东全链路的「留量心脏」——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8A8276"/>
                </a:solidFill>
                <a:latin typeface="微软雅黑"/>
              </a:rPr>
              <a:t>它让纪念馆的敬仰有了去处,让零公里的仪式有了下文,让每一晚停留都有理由。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EA44E"/>
                </a:solidFill>
                <a:latin typeface="微软雅黑"/>
              </a:rPr>
              <a:t>鸭绿江畔 · 丹东真好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