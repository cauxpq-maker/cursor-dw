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>
                <a:solidFill>
                  <a:srgbClr val="0D2E52"/>
                </a:solidFill>
                <a:latin typeface="微软雅黑"/>
              </a:defRPr>
            </a:pPr>
            <a:r>
              <a:t>主要客群关键占比指标(2025–2026,多源口径)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占比(%)</c:v>
                </c:pt>
              </c:strCache>
            </c:strRef>
          </c:tx>
          <c:spPr>
            <a:solidFill>
              <a:srgbClr val="14487F"/>
            </a:solidFill>
          </c:spPr>
          <c:cat>
            <c:strRef>
              <c:f>Sheet1!$A$2:$A$5</c:f>
              <c:strCache>
                <c:ptCount val="4"/>
                <c:pt idx="0">
                  <c:v>Z世代占文旅
消费人群</c:v>
                </c:pt>
                <c:pt idx="1">
                  <c:v>亲子家庭
出游占比</c:v>
                </c:pt>
                <c:pt idx="2">
                  <c:v>50岁+境内游
出行比例</c:v>
                </c:pt>
                <c:pt idx="3">
                  <c:v>县域及以下
客源占比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40</c:v>
                </c:pt>
                <c:pt idx="2">
                  <c:v>41.8</c:v>
                </c:pt>
                <c:pt idx="3">
                  <c:v>30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000" b="1">
                  <a:solidFill>
                    <a:srgbClr val="0D2E5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3DE"/>
            </a:solidFill>
          </a:ln>
        </c:spPr>
        <c:txPr>
          <a:bodyPr/>
          <a:lstStyle/>
          <a:p>
            <a:pPr>
              <a:defRPr sz="950">
                <a:latin typeface="微软雅黑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latin typeface="微软雅黑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22B36"/>
          </a:solidFill>
          <a:latin typeface="微软雅黑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>
                <a:solidFill>
                  <a:srgbClr val="0D2E52"/>
                </a:solidFill>
                <a:latin typeface="微软雅黑"/>
              </a:defRPr>
            </a:pPr>
            <a:r>
              <a:t>银发文旅关键增长指标(2025)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增速/差值(%)</c:v>
                </c:pt>
              </c:strCache>
            </c:strRef>
          </c:tx>
          <c:spPr>
            <a:solidFill>
              <a:srgbClr val="E8A33D"/>
            </a:solidFill>
          </c:spPr>
          <c:cat>
            <c:strRef>
              <c:f>Sheet1!$A$2:$A$5</c:f>
              <c:strCache>
                <c:ptCount val="4"/>
                <c:pt idx="0">
                  <c:v>50岁+线上订单
同比增速</c:v>
                </c:pt>
                <c:pt idx="1">
                  <c:v>61–65岁群体
订单增速</c:v>
                </c:pt>
                <c:pt idx="2">
                  <c:v>银发文旅市场
年复合增长</c:v>
                </c:pt>
                <c:pt idx="3">
                  <c:v>银发人均住宿花费
高于青年群体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50</c:v>
                </c:pt>
                <c:pt idx="2">
                  <c:v>12</c:v>
                </c:pt>
                <c:pt idx="3">
                  <c:v>30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 b="1">
                  <a:solidFill>
                    <a:srgbClr val="0D2E5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3DE"/>
            </a:solidFill>
          </a:ln>
        </c:spPr>
        <c:txPr>
          <a:bodyPr/>
          <a:lstStyle/>
          <a:p>
            <a:pPr>
              <a:defRPr sz="950">
                <a:latin typeface="微软雅黑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latin typeface="微软雅黑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22B36"/>
          </a:solidFill>
          <a:latin typeface="微软雅黑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>
                <a:solidFill>
                  <a:srgbClr val="0D2E52"/>
                </a:solidFill>
                <a:latin typeface="微软雅黑"/>
              </a:defRPr>
            </a:pPr>
            <a:r>
              <a:t>旅游客单价分层(2026,元)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元/人次</c:v>
                </c:pt>
              </c:strCache>
            </c:strRef>
          </c:tx>
          <c:spPr>
            <a:solidFill>
              <a:srgbClr val="14487F"/>
            </a:solidFill>
          </c:spPr>
          <c:cat>
            <c:strRef>
              <c:f>Sheet1!$A$2:$A$4</c:f>
              <c:strCache>
                <c:ptCount val="3"/>
                <c:pt idx="0">
                  <c:v>全国国内游
人均消费</c:v>
                </c:pt>
                <c:pt idx="1">
                  <c:v>一二线城市
旅游客单价</c:v>
                </c:pt>
                <c:pt idx="2">
                  <c:v>县域旅游
客单价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961</c:v>
                </c:pt>
                <c:pt idx="1">
                  <c:v>1200</c:v>
                </c:pt>
                <c:pt idx="2">
                  <c:v>850</c:v>
                </c:pt>
              </c:numCache>
            </c:numRef>
          </c:val>
        </c:ser>
        <c:dLbls>
          <c:numFmt formatCode="0&quot;元&quot;" sourceLinked="0"/>
          <c:txPr>
            <a:bodyPr/>
            <a:lstStyle/>
            <a:p>
              <a:pPr>
                <a:defRPr sz="1000" b="1">
                  <a:solidFill>
                    <a:srgbClr val="0D2E5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3DE"/>
            </a:solidFill>
          </a:ln>
        </c:spPr>
        <c:txPr>
          <a:bodyPr/>
          <a:lstStyle/>
          <a:p>
            <a:pPr>
              <a:defRPr sz="950">
                <a:latin typeface="微软雅黑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latin typeface="微软雅黑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22B36"/>
          </a:solidFill>
          <a:latin typeface="微软雅黑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200" b="1">
                <a:solidFill>
                  <a:srgbClr val="0D2E52"/>
                </a:solidFill>
                <a:latin typeface="微软雅黑"/>
              </a:defRPr>
            </a:pPr>
            <a:r>
              <a:t>中长途出行首选交通方式(2026)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dPt>
            <c:idx val="0"/>
            <c:spPr>
              <a:solidFill>
                <a:srgbClr val="14487F"/>
              </a:solidFill>
            </c:spPr>
          </c:dPt>
          <c:dPt>
            <c:idx val="1"/>
            <c:spPr>
              <a:solidFill>
                <a:srgbClr val="E8A33D"/>
              </a:solidFill>
            </c:spPr>
          </c:dPt>
          <c:dPt>
            <c:idx val="2"/>
            <c:spPr>
              <a:solidFill>
                <a:srgbClr val="2E8B83"/>
              </a:solidFill>
            </c:spPr>
          </c:dPt>
          <c:cat>
            <c:strRef>
              <c:f>Sheet1!$A$2:$A$4</c:f>
              <c:strCache>
                <c:ptCount val="3"/>
                <c:pt idx="0">
                  <c:v>高铁</c:v>
                </c:pt>
                <c:pt idx="1">
                  <c:v>飞机</c:v>
                </c:pt>
                <c:pt idx="2">
                  <c:v>其他(自驾/大巴等)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51</c:v>
                </c:pt>
                <c:pt idx="1">
                  <c:v>42</c:v>
                </c:pt>
                <c:pt idx="2">
                  <c:v>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000">
          <a:latin typeface="微软雅黑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>
                <a:solidFill>
                  <a:srgbClr val="0D2E52"/>
                </a:solidFill>
                <a:latin typeface="微软雅黑"/>
              </a:defRPr>
            </a:pPr>
            <a:r>
              <a:t>2025年旅游接待与收入同比增速比较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游客人次增速(%)</c:v>
                </c:pt>
              </c:strCache>
            </c:strRef>
          </c:tx>
          <c:spPr>
            <a:solidFill>
              <a:srgbClr val="14487F"/>
            </a:solidFill>
          </c:spPr>
          <c:cat>
            <c:strRef>
              <c:f>Sheet1!$A$2:$A$5</c:f>
              <c:strCache>
                <c:ptCount val="4"/>
                <c:pt idx="0">
                  <c:v>哈尔滨</c:v>
                </c:pt>
                <c:pt idx="1">
                  <c:v>大连</c:v>
                </c:pt>
                <c:pt idx="2">
                  <c:v>丹东</c:v>
                </c:pt>
                <c:pt idx="3">
                  <c:v>辽宁全省
(2024)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12.7</c:v>
                </c:pt>
                <c:pt idx="1">
                  <c:v>24.0</c:v>
                </c:pt>
                <c:pt idx="2">
                  <c:v>19.3</c:v>
                </c:pt>
                <c:pt idx="3">
                  <c:v>28.1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旅游收入增速(%)</c:v>
                </c:pt>
              </c:strCache>
            </c:strRef>
          </c:tx>
          <c:spPr>
            <a:solidFill>
              <a:srgbClr val="E8A33D"/>
            </a:solidFill>
          </c:spPr>
          <c:cat>
            <c:strRef>
              <c:f>Sheet1!$A$2:$A$5</c:f>
              <c:strCache>
                <c:ptCount val="4"/>
                <c:pt idx="0">
                  <c:v>哈尔滨</c:v>
                </c:pt>
                <c:pt idx="1">
                  <c:v>大连</c:v>
                </c:pt>
                <c:pt idx="2">
                  <c:v>丹东</c:v>
                </c:pt>
                <c:pt idx="3">
                  <c:v>辽宁全省
(2024)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21.8</c:v>
                </c:pt>
                <c:pt idx="1">
                  <c:v>24.0</c:v>
                </c:pt>
                <c:pt idx="2">
                  <c:v>23.8</c:v>
                </c:pt>
                <c:pt idx="3">
                  <c:v>25.9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900" b="1">
                  <a:solidFill>
                    <a:srgbClr val="0D2E5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3DE"/>
            </a:solidFill>
          </a:ln>
        </c:spPr>
        <c:txPr>
          <a:bodyPr/>
          <a:lstStyle/>
          <a:p>
            <a:pPr>
              <a:defRPr sz="950">
                <a:latin typeface="微软雅黑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latin typeface="微软雅黑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000">
          <a:solidFill>
            <a:srgbClr val="222B36"/>
          </a:solidFill>
          <a:latin typeface="微软雅黑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>
                <a:solidFill>
                  <a:srgbClr val="0D2E52"/>
                </a:solidFill>
                <a:latin typeface="微软雅黑"/>
              </a:defRPr>
            </a:pPr>
            <a:r>
              <a:t>丹东旅游动能指标(同比增速)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同比增速(%)</c:v>
                </c:pt>
              </c:strCache>
            </c:strRef>
          </c:tx>
          <c:spPr>
            <a:solidFill>
              <a:srgbClr val="2E8B83"/>
            </a:solidFill>
          </c:spPr>
          <c:cat>
            <c:strRef>
              <c:f>Sheet1!$A$2:$A$5</c:f>
              <c:strCache>
                <c:ptCount val="4"/>
                <c:pt idx="0">
                  <c:v>断桥景区
(2026元旦)</c:v>
                </c:pt>
                <c:pt idx="1">
                  <c:v>鸭绿江一号码头
(2026元旦)</c:v>
                </c:pt>
                <c:pt idx="2">
                  <c:v>全市游客量
(2026元旦)</c:v>
                </c:pt>
                <c:pt idx="3">
                  <c:v>全市旅游收入
(2026元旦)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102</c:v>
                </c:pt>
                <c:pt idx="1">
                  <c:v>350</c:v>
                </c:pt>
                <c:pt idx="2">
                  <c:v>22.73</c:v>
                </c:pt>
                <c:pt idx="3">
                  <c:v>33.62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000" b="1">
                  <a:solidFill>
                    <a:srgbClr val="0D2E5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3DE"/>
            </a:solidFill>
          </a:ln>
        </c:spPr>
        <c:txPr>
          <a:bodyPr/>
          <a:lstStyle/>
          <a:p>
            <a:pPr>
              <a:defRPr sz="950">
                <a:latin typeface="微软雅黑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latin typeface="微软雅黑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22B36"/>
          </a:solidFill>
          <a:latin typeface="微软雅黑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E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8680" y="1234440"/>
            <a:ext cx="2011680" cy="457200"/>
          </a:xfrm>
          <a:prstGeom prst="round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23444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0D2E52"/>
                </a:solidFill>
                <a:latin typeface="微软雅黑"/>
              </a:rPr>
              <a:t>策 略 研 究 报 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微软雅黑"/>
              </a:rPr>
              <a:t>从「双起点」到「留量之城」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8036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E8A33D"/>
                </a:solidFill>
                <a:latin typeface="微软雅黑"/>
              </a:rPr>
              <a:t>丹东城市旅游价值提升策略报告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37947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400" b="0">
                <a:solidFill>
                  <a:srgbClr val="C7D6E8"/>
                </a:solidFill>
                <a:latin typeface="微软雅黑"/>
              </a:rPr>
              <a:t>人群变化与消费特征分析  ·  东北及全国城市定位比较  ·  IP打造 / 沿江品质 / 票务组合 / 产品体系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400" b="0">
                <a:solidFill>
                  <a:srgbClr val="C7D6E8"/>
                </a:solidFill>
                <a:latin typeface="微软雅黑"/>
              </a:rPr>
              <a:t>银发经济 · 人口回流 · 城市更新的更高维度价值发掘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" y="5120640"/>
            <a:ext cx="3291840" cy="502920"/>
          </a:xfrm>
          <a:prstGeom prst="roundRect">
            <a:avLst/>
          </a:prstGeom>
          <a:noFill/>
          <a:ln w="9525">
            <a:solidFill>
              <a:srgbClr val="5B7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5120640"/>
            <a:ext cx="3291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微软雅黑"/>
              </a:rPr>
              <a:t>G331 · G228 双国道零起点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62272" y="5120640"/>
            <a:ext cx="3291840" cy="502920"/>
          </a:xfrm>
          <a:prstGeom prst="roundRect">
            <a:avLst/>
          </a:prstGeom>
          <a:noFill/>
          <a:ln w="9525">
            <a:solidFill>
              <a:srgbClr val="5B7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2272" y="5120640"/>
            <a:ext cx="3291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微软雅黑"/>
              </a:rPr>
              <a:t>中国最大边境城市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74152" y="5120640"/>
            <a:ext cx="3291840" cy="502920"/>
          </a:xfrm>
          <a:prstGeom prst="roundRect">
            <a:avLst/>
          </a:prstGeom>
          <a:noFill/>
          <a:ln w="9525">
            <a:solidFill>
              <a:srgbClr val="5B7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74152" y="5120640"/>
            <a:ext cx="3291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微软雅黑"/>
              </a:rPr>
              <a:t>鸭绿江畔 · 英雄之城 · 银杏之城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60807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8FA6C0"/>
                </a:solidFill>
                <a:latin typeface="微软雅黑"/>
              </a:rPr>
              <a:t>2026年7月  ·  提纲确认稿(V1)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144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微软雅黑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30352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0D2E52"/>
                </a:solidFill>
                <a:latin typeface="微软雅黑"/>
              </a:rPr>
              <a:t>目录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C9D3DE"/>
                </a:solidFill>
                <a:latin typeface="微软雅黑"/>
              </a:rPr>
              <a:t>丹东城市旅游价值提升策略报告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C9D3DE"/>
                </a:solidFill>
                <a:latin typeface="微软雅黑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08760"/>
            <a:ext cx="10515600" cy="749808"/>
          </a:xfrm>
          <a:prstGeom prst="roundRect">
            <a:avLst/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00200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E8A33D"/>
                </a:solidFill>
                <a:latin typeface="微软雅黑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1591056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>
                <a:solidFill>
                  <a:srgbClr val="0D2E52"/>
                </a:solidFill>
                <a:latin typeface="微软雅黑"/>
              </a:rPr>
              <a:t>趋势与人群:谁在旅行,怎么消费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1938528"/>
            <a:ext cx="9052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5E6B7A"/>
                </a:solidFill>
                <a:latin typeface="微软雅黑"/>
              </a:rPr>
              <a:t>旅游人群结构变化 · 银发/Z世代双极 · 消费特征与出行方式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368296"/>
            <a:ext cx="10515600" cy="749808"/>
          </a:xfrm>
          <a:prstGeom prst="roundRect">
            <a:avLst/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459736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E8A33D"/>
                </a:solidFill>
                <a:latin typeface="微软雅黑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2450592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>
                <a:solidFill>
                  <a:srgbClr val="0D2E52"/>
                </a:solidFill>
                <a:latin typeface="微软雅黑"/>
              </a:rPr>
              <a:t>定位比较:东北格局与全国样本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798064"/>
            <a:ext cx="9052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5E6B7A"/>
                </a:solidFill>
                <a:latin typeface="微软雅黑"/>
              </a:rPr>
              <a:t>东北城市旅游定位图谱 · 延吉对标 · 河南文旅与非顶流城市出圈路径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227832"/>
            <a:ext cx="10515600" cy="749808"/>
          </a:xfrm>
          <a:prstGeom prst="roundRect">
            <a:avLst/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319272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E8A33D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3310128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>
                <a:solidFill>
                  <a:srgbClr val="0D2E52"/>
                </a:solidFill>
                <a:latin typeface="微软雅黑"/>
              </a:rPr>
              <a:t>核心观点:丹东的八个判断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657600"/>
            <a:ext cx="9052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5E6B7A"/>
                </a:solidFill>
                <a:latin typeface="微软雅黑"/>
              </a:rPr>
              <a:t>缝隙定位 · 从过路到留量 · 银发主场 · 起点仪式经济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087368"/>
            <a:ext cx="10515600" cy="749808"/>
          </a:xfrm>
          <a:prstGeom prst="roundRect">
            <a:avLst/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178808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E8A33D"/>
                </a:solidFill>
                <a:latin typeface="微软雅黑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65960" y="4169664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>
                <a:solidFill>
                  <a:srgbClr val="0D2E52"/>
                </a:solidFill>
                <a:latin typeface="微软雅黑"/>
              </a:rPr>
              <a:t>策略主张:IP · 沿江 · 联动 · 票务 · 产品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4517136"/>
            <a:ext cx="9052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5E6B7A"/>
                </a:solidFill>
                <a:latin typeface="微软雅黑"/>
              </a:rPr>
              <a:t>双起点之城 · 虎山—断桥黄金岸线 · 一江两线三圈 · City Pass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946904"/>
            <a:ext cx="10515600" cy="749808"/>
          </a:xfrm>
          <a:prstGeom prst="roundRect">
            <a:avLst/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5038344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E8A33D"/>
                </a:solidFill>
                <a:latin typeface="微软雅黑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65960" y="50292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>
                <a:solidFill>
                  <a:srgbClr val="0D2E52"/>
                </a:solidFill>
                <a:latin typeface="微软雅黑"/>
              </a:rPr>
              <a:t>客群导入与更高维度价值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5376672"/>
            <a:ext cx="9052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5E6B7A"/>
                </a:solidFill>
                <a:latin typeface="微软雅黑"/>
              </a:rPr>
              <a:t>客群分层与转化 · 银发经济 · 人口回流 · 城市更新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5806440"/>
            <a:ext cx="10515600" cy="749808"/>
          </a:xfrm>
          <a:prstGeom prst="roundRect">
            <a:avLst/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5897880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E8A33D"/>
                </a:solidFill>
                <a:latin typeface="微软雅黑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65960" y="5888736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>
                <a:solidFill>
                  <a:srgbClr val="0D2E52"/>
                </a:solidFill>
                <a:latin typeface="微软雅黑"/>
              </a:rPr>
              <a:t>实施路径与保障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6236208"/>
            <a:ext cx="9052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5E6B7A"/>
                </a:solidFill>
                <a:latin typeface="微软雅黑"/>
              </a:rPr>
              <a:t>三阶段路线图 · 运营机制 · 风险边界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E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44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554480"/>
            <a:ext cx="1371600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2743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E8A33D"/>
                </a:solidFill>
                <a:latin typeface="微软雅黑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微软雅黑"/>
              </a:rPr>
              <a:t>趋势与人群:谁在旅行,怎么消费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794760"/>
            <a:ext cx="98755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50" b="0">
                <a:solidFill>
                  <a:srgbClr val="C7D6E8"/>
                </a:solidFill>
                <a:latin typeface="微软雅黑"/>
              </a:rPr>
              <a:t>—  旅游市场从规模扩张转入结构重构:客群、渠道、消费逻辑同时生变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50" b="0">
                <a:solidFill>
                  <a:srgbClr val="C7D6E8"/>
                </a:solidFill>
                <a:latin typeface="微软雅黑"/>
              </a:rPr>
              <a:t>—  银发与Z世代形成「双极增长」,高铁+自驾重塑出行半径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50" b="0">
                <a:solidFill>
                  <a:srgbClr val="C7D6E8"/>
                </a:solidFill>
                <a:latin typeface="微软雅黑"/>
              </a:rPr>
              <a:t>—  体验溢价取代门票经济,县域与边境成为新的价值洼地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0080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FA6C0"/>
                </a:solidFill>
                <a:latin typeface="微软雅黑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144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微软雅黑"/>
              </a:rPr>
              <a:t>PART 01 · 趋势与人群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30352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0D2E52"/>
                </a:solidFill>
                <a:latin typeface="微软雅黑"/>
              </a:rPr>
              <a:t>旅游消费的五大结构性变化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2412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E6B7A"/>
                </a:solidFill>
                <a:latin typeface="微软雅黑"/>
              </a:rPr>
              <a:t>2025—2026年市场数据显示:需求没有减弱,而是被重新分配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C9D3DE"/>
                </a:solidFill>
                <a:latin typeface="微软雅黑"/>
              </a:rPr>
              <a:t>丹东城市旅游价值提升策略报告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C9D3DE"/>
                </a:solidFill>
                <a:latin typeface="微软雅黑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600200"/>
            <a:ext cx="2139696" cy="3017520"/>
          </a:xfrm>
          <a:prstGeom prst="roundRect">
            <a:avLst/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600200"/>
            <a:ext cx="2139696" cy="109728"/>
          </a:xfrm>
          <a:prstGeom prst="rect">
            <a:avLst/>
          </a:prstGeom>
          <a:solidFill>
            <a:srgbClr val="144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874519"/>
            <a:ext cx="184708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14487F"/>
                </a:solidFill>
                <a:latin typeface="微软雅黑"/>
              </a:rPr>
              <a:t>观光退潮
体验为王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788920"/>
            <a:ext cx="1847088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222B36"/>
                </a:solidFill>
                <a:latin typeface="微软雅黑"/>
              </a:rPr>
              <a:t>传统门票收入下滑,非遗/沉浸/研学订单暴涨40%–80%;游客愿为独特体验多付30%–100%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16352" y="1600200"/>
            <a:ext cx="2139696" cy="3017520"/>
          </a:xfrm>
          <a:prstGeom prst="roundRect">
            <a:avLst/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16352" y="1600200"/>
            <a:ext cx="2139696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2656" y="1874519"/>
            <a:ext cx="184708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E8A33D"/>
                </a:solidFill>
                <a:latin typeface="微软雅黑"/>
              </a:rPr>
              <a:t>双极增长
代际分化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62656" y="2788920"/>
            <a:ext cx="1847088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222B36"/>
                </a:solidFill>
                <a:latin typeface="微软雅黑"/>
              </a:rPr>
              <a:t>Z世代占文旅消费人群约40%;银发线上订单同比+20%以上,61–65岁增速超50%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65776" y="1600200"/>
            <a:ext cx="2139696" cy="3017520"/>
          </a:xfrm>
          <a:prstGeom prst="roundRect">
            <a:avLst/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65776" y="1600200"/>
            <a:ext cx="2139696" cy="109728"/>
          </a:xfrm>
          <a:prstGeom prst="rect">
            <a:avLst/>
          </a:prstGeom>
          <a:solidFill>
            <a:srgbClr val="2E8B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1874519"/>
            <a:ext cx="184708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2E8B83"/>
                </a:solidFill>
                <a:latin typeface="微软雅黑"/>
              </a:rPr>
              <a:t>高铁+自驾
重塑半径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2788920"/>
            <a:ext cx="1847088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222B36"/>
                </a:solidFill>
                <a:latin typeface="微软雅黑"/>
              </a:rPr>
              <a:t>高铁取代飞机成中长途首选(51% vs 42%);节假日租车自驾预订同比+113%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1600200"/>
            <a:ext cx="2139696" cy="3017520"/>
          </a:xfrm>
          <a:prstGeom prst="roundRect">
            <a:avLst/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0" y="1600200"/>
            <a:ext cx="2139696" cy="109728"/>
          </a:xfrm>
          <a:prstGeom prst="rect">
            <a:avLst/>
          </a:prstGeom>
          <a:solidFill>
            <a:srgbClr val="B8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61504" y="1874519"/>
            <a:ext cx="184708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B83A2E"/>
                </a:solidFill>
                <a:latin typeface="微软雅黑"/>
              </a:rPr>
              <a:t>县域替代
反向旅游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1504" y="2788920"/>
            <a:ext cx="1847088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222B36"/>
                </a:solidFill>
                <a:latin typeface="微软雅黑"/>
              </a:rPr>
              <a:t>县域及以下客源占比超30%,市场规模约1.2万亿;本质是「体验升级的空间替代」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64624" y="1600200"/>
            <a:ext cx="2139696" cy="3017520"/>
          </a:xfrm>
          <a:prstGeom prst="roundRect">
            <a:avLst/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564624" y="1600200"/>
            <a:ext cx="2139696" cy="109728"/>
          </a:xfrm>
          <a:prstGeom prst="rect">
            <a:avLst/>
          </a:prstGeom>
          <a:solidFill>
            <a:srgbClr val="0D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10928" y="1874519"/>
            <a:ext cx="184708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0D2E52"/>
                </a:solidFill>
                <a:latin typeface="微软雅黑"/>
              </a:rPr>
              <a:t>情绪价值
圈层传播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10928" y="2788920"/>
            <a:ext cx="1847088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222B36"/>
                </a:solidFill>
                <a:latin typeface="微软雅黑"/>
              </a:rPr>
              <a:t>决策依赖社交平台与圈层口碑;悦己、治愈、陪伴、仪式感成为核心购买理由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4983480"/>
            <a:ext cx="11064240" cy="475488"/>
          </a:xfrm>
          <a:prstGeom prst="roundRect">
            <a:avLst/>
          </a:prstGeom>
          <a:solidFill>
            <a:srgbClr val="FB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983480"/>
            <a:ext cx="1073505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B83A2E"/>
                </a:solidFill>
                <a:latin typeface="微软雅黑"/>
              </a:rPr>
              <a:t>观点  </a:t>
            </a:r>
            <a:r>
              <a:rPr sz="1150" b="0">
                <a:solidFill>
                  <a:srgbClr val="222B36"/>
                </a:solidFill>
                <a:latin typeface="微软雅黑"/>
              </a:rPr>
              <a:t>需求端的每一项变化,都在降低「资源型头部景区」的权重、抬高「体验型内容城市」的权重——这正是丹东这类非顶流城市的历史性窗口。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571500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E6B7A"/>
                </a:solidFill>
                <a:latin typeface="微软雅黑"/>
              </a:rPr>
              <a:t>数据来源:新旅界《2021–2025中国文旅市场消费洞察》、2026年五一假期旅游数据全景报告、2026Q2中国旅游消费趋势调研(n=3000)等公开资料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144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微软雅黑"/>
              </a:rPr>
              <a:t>PART 01 · 趋势与人群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30352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0D2E52"/>
                </a:solidFill>
                <a:latin typeface="微软雅黑"/>
              </a:rPr>
              <a:t>人群结构:银发与Z世代的「双极增长」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2412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E6B7A"/>
                </a:solidFill>
                <a:latin typeface="微软雅黑"/>
              </a:rPr>
              <a:t>客群基本盘从「中间大、两头小」转为「两头强」——供给必须精准分层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C9D3DE"/>
                </a:solidFill>
                <a:latin typeface="微软雅黑"/>
              </a:rPr>
              <a:t>丹东城市旅游价值提升策略报告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C9D3DE"/>
                </a:solidFill>
                <a:latin typeface="微软雅黑"/>
              </a:rPr>
              <a:t>5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48640" y="1554480"/>
          <a:ext cx="576072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629400" y="1645920"/>
            <a:ext cx="502920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900" b="0">
                <a:solidFill>
                  <a:srgbClr val="E8A33D"/>
                </a:solidFill>
                <a:latin typeface="微软雅黑"/>
              </a:rPr>
              <a:t>● </a:t>
            </a:r>
            <a:r>
              <a:rPr sz="1200" b="1">
                <a:solidFill>
                  <a:srgbClr val="0D2E52"/>
                </a:solidFill>
                <a:latin typeface="微软雅黑"/>
              </a:rPr>
              <a:t>Z世代(18–28岁):</a:t>
            </a:r>
            <a:r>
              <a:rPr sz="1200" b="0">
                <a:solidFill>
                  <a:srgbClr val="222B36"/>
                </a:solidFill>
                <a:latin typeface="微软雅黑"/>
              </a:rPr>
              <a:t>总量约2.3亿并已见顶,依赖流量红利的打法失效,必须转向提升人均消费价值;决策看情绪、颜值、社交属性。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900" b="0">
                <a:solidFill>
                  <a:srgbClr val="E8A33D"/>
                </a:solidFill>
                <a:latin typeface="微软雅黑"/>
              </a:rPr>
              <a:t>● </a:t>
            </a:r>
            <a:r>
              <a:rPr sz="1200" b="1">
                <a:solidFill>
                  <a:srgbClr val="0D2E52"/>
                </a:solidFill>
                <a:latin typeface="微软雅黑"/>
              </a:rPr>
              <a:t>银发族(55岁+):</a:t>
            </a:r>
            <a:r>
              <a:rPr sz="1200" b="0">
                <a:solidFill>
                  <a:srgbClr val="222B36"/>
                </a:solidFill>
                <a:latin typeface="微软雅黑"/>
              </a:rPr>
              <a:t>2025年60岁+人口占比超23%,银发文旅年复合增长12%以上,是确定性最强的赛道;61–65岁订单增速超50%。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900" b="0">
                <a:solidFill>
                  <a:srgbClr val="E8A33D"/>
                </a:solidFill>
                <a:latin typeface="微软雅黑"/>
              </a:rPr>
              <a:t>● </a:t>
            </a:r>
            <a:r>
              <a:rPr sz="1200" b="1">
                <a:solidFill>
                  <a:srgbClr val="0D2E52"/>
                </a:solidFill>
                <a:latin typeface="微软雅黑"/>
              </a:rPr>
              <a:t>亲子家庭:</a:t>
            </a:r>
            <a:r>
              <a:rPr sz="1200" b="0">
                <a:solidFill>
                  <a:srgbClr val="222B36"/>
                </a:solidFill>
                <a:latin typeface="微软雅黑"/>
              </a:rPr>
              <a:t>占出游约40%,研学、科普、自然类内容是刚需;三代同游比例上升,对住宿舒适度与安全性要求高。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900" b="0">
                <a:solidFill>
                  <a:srgbClr val="E8A33D"/>
                </a:solidFill>
                <a:latin typeface="微软雅黑"/>
              </a:rPr>
              <a:t>● </a:t>
            </a:r>
            <a:r>
              <a:rPr sz="1200" b="1">
                <a:solidFill>
                  <a:srgbClr val="0D2E52"/>
                </a:solidFill>
                <a:latin typeface="微软雅黑"/>
              </a:rPr>
              <a:t>单人出行:</a:t>
            </a:r>
            <a:r>
              <a:rPr sz="1200" b="0">
                <a:solidFill>
                  <a:srgbClr val="222B36"/>
                </a:solidFill>
                <a:latin typeface="微软雅黑"/>
              </a:rPr>
              <a:t>户均人口降至2.3、单人家庭超25%,一人游/宠物友好等新需求爆发。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5074920"/>
            <a:ext cx="5029200" cy="685800"/>
          </a:xfrm>
          <a:prstGeom prst="roundRect">
            <a:avLst/>
          </a:prstGeom>
          <a:solidFill>
            <a:srgbClr val="FB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93992" y="5074920"/>
            <a:ext cx="4700016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B83A2E"/>
                </a:solidFill>
                <a:latin typeface="微软雅黑"/>
              </a:rPr>
              <a:t>观点  </a:t>
            </a:r>
            <a:r>
              <a:rPr sz="1050" b="0">
                <a:solidFill>
                  <a:srgbClr val="222B36"/>
                </a:solidFill>
                <a:latin typeface="微软雅黑"/>
              </a:rPr>
              <a:t>丹东客群策略必须「双线作战」:用仪式感与内容抓年轻圈层,用康养旅居抓银发基本盘。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144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微软雅黑"/>
              </a:rPr>
              <a:t>PART 01 · 趋势与人群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30352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0D2E52"/>
                </a:solidFill>
                <a:latin typeface="微软雅黑"/>
              </a:rPr>
              <a:t>银发客群深描:被低估的高价值增量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2412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E6B7A"/>
                </a:solidFill>
                <a:latin typeface="微软雅黑"/>
              </a:rPr>
              <a:t>「低频、低消、低关注」的旧认知正在被数据颠覆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C9D3DE"/>
                </a:solidFill>
                <a:latin typeface="微软雅黑"/>
              </a:rPr>
              <a:t>丹东城市旅游价值提升策略报告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C9D3DE"/>
                </a:solidFill>
                <a:latin typeface="微软雅黑"/>
              </a:rPr>
              <a:t>6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48640" y="1554480"/>
          <a:ext cx="557784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46520" y="1600200"/>
            <a:ext cx="521208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900" b="0">
                <a:solidFill>
                  <a:srgbClr val="E8A33D"/>
                </a:solidFill>
                <a:latin typeface="微软雅黑"/>
              </a:rPr>
              <a:t>● </a:t>
            </a:r>
            <a:r>
              <a:rPr sz="1200" b="1">
                <a:solidFill>
                  <a:srgbClr val="0D2E52"/>
                </a:solidFill>
                <a:latin typeface="微软雅黑"/>
              </a:rPr>
              <a:t>时间自由 + 消费稳定:</a:t>
            </a:r>
            <a:r>
              <a:rPr sz="1200" b="0">
                <a:solidFill>
                  <a:srgbClr val="222B36"/>
                </a:solidFill>
                <a:latin typeface="微软雅黑"/>
              </a:rPr>
              <a:t>可避开高峰形成「淡季不淡」的平峰需求,退休金收入抗周期性强。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900" b="0">
                <a:solidFill>
                  <a:srgbClr val="E8A33D"/>
                </a:solidFill>
                <a:latin typeface="微软雅黑"/>
              </a:rPr>
              <a:t>● </a:t>
            </a:r>
            <a:r>
              <a:rPr sz="1200" b="1">
                <a:solidFill>
                  <a:srgbClr val="0D2E52"/>
                </a:solidFill>
                <a:latin typeface="微软雅黑"/>
              </a:rPr>
              <a:t>内部显著分化:</a:t>
            </a:r>
            <a:r>
              <a:rPr sz="1200" b="0">
                <a:solidFill>
                  <a:srgbClr val="222B36"/>
                </a:solidFill>
                <a:latin typeface="微软雅黑"/>
              </a:rPr>
              <a:t>50–60岁「准银发」偏好文化研学,行为接近新中产;60–75岁「活力银发」是康养旅居主力;75岁+重医疗与安全。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900" b="0">
                <a:solidFill>
                  <a:srgbClr val="E8A33D"/>
                </a:solidFill>
                <a:latin typeface="微软雅黑"/>
              </a:rPr>
              <a:t>● </a:t>
            </a:r>
            <a:r>
              <a:rPr sz="1200" b="1">
                <a:solidFill>
                  <a:srgbClr val="0D2E52"/>
                </a:solidFill>
                <a:latin typeface="微软雅黑"/>
              </a:rPr>
              <a:t>高端消费主力:</a:t>
            </a:r>
            <a:r>
              <a:rPr sz="1200" b="0">
                <a:solidFill>
                  <a:srgbClr val="222B36"/>
                </a:solidFill>
                <a:latin typeface="微软雅黑"/>
              </a:rPr>
              <a:t>豪华邮轮客群中50–70岁占比超70%,定制游单次花费1.2万元以上,较其他年龄组高约25%。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900" b="0">
                <a:solidFill>
                  <a:srgbClr val="E8A33D"/>
                </a:solidFill>
                <a:latin typeface="微软雅黑"/>
              </a:rPr>
              <a:t>● </a:t>
            </a:r>
            <a:r>
              <a:rPr sz="1200" b="1">
                <a:solidFill>
                  <a:srgbClr val="0D2E52"/>
                </a:solidFill>
                <a:latin typeface="微软雅黑"/>
              </a:rPr>
              <a:t>季节迁徙规律:</a:t>
            </a:r>
            <a:r>
              <a:rPr sz="1200" b="0">
                <a:solidFill>
                  <a:srgbClr val="222B36"/>
                </a:solidFill>
                <a:latin typeface="微软雅黑"/>
              </a:rPr>
              <a:t>夏避暑、冬避寒、春赏花,目的地相对固定——一旦建立心智即形成稳定复游。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5029200"/>
            <a:ext cx="5212080" cy="685800"/>
          </a:xfrm>
          <a:prstGeom prst="roundRect">
            <a:avLst/>
          </a:prstGeom>
          <a:solidFill>
            <a:srgbClr val="FB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1112" y="5029200"/>
            <a:ext cx="4882896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B83A2E"/>
                </a:solidFill>
                <a:latin typeface="微软雅黑"/>
              </a:rPr>
              <a:t>观点  </a:t>
            </a:r>
            <a:r>
              <a:rPr sz="1050" b="0">
                <a:solidFill>
                  <a:srgbClr val="222B36"/>
                </a:solidFill>
                <a:latin typeface="微软雅黑"/>
              </a:rPr>
              <a:t>银发要的不是低价,而是「高品质、慢节奏、有保障」——丹东江海泉组合+低生活成本,恰好匹配。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144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微软雅黑"/>
              </a:rPr>
              <a:t>PART 01 · 趋势与人群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30352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0D2E52"/>
                </a:solidFill>
                <a:latin typeface="微软雅黑"/>
              </a:rPr>
              <a:t>消费特征:客单价分层与「体验溢价」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2412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E6B7A"/>
                </a:solidFill>
                <a:latin typeface="微软雅黑"/>
              </a:rPr>
              <a:t>人均消费横盘,但花钱的地方彻底变了——从门票转向内容、住宿与餐饮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C9D3DE"/>
                </a:solidFill>
                <a:latin typeface="微软雅黑"/>
              </a:rPr>
              <a:t>丹东城市旅游价值提升策略报告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C9D3DE"/>
                </a:solidFill>
                <a:latin typeface="微软雅黑"/>
              </a:rPr>
              <a:t>7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48640" y="1554480"/>
          <a:ext cx="539496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1600200"/>
            <a:ext cx="539496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900" b="0">
                <a:solidFill>
                  <a:srgbClr val="E8A33D"/>
                </a:solidFill>
                <a:latin typeface="微软雅黑"/>
              </a:rPr>
              <a:t>● </a:t>
            </a:r>
            <a:r>
              <a:rPr sz="1200" b="1">
                <a:solidFill>
                  <a:srgbClr val="0D2E52"/>
                </a:solidFill>
                <a:latin typeface="微软雅黑"/>
              </a:rPr>
              <a:t>门票经济退潮:</a:t>
            </a:r>
            <a:r>
              <a:rPr sz="1200" b="0">
                <a:solidFill>
                  <a:srgbClr val="222B36"/>
                </a:solidFill>
                <a:latin typeface="微软雅黑"/>
              </a:rPr>
              <a:t>传统景点门票收入下滑,游客对门票价格高度敏感,对「一票多日」「城市通票」接受度高。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900" b="0">
                <a:solidFill>
                  <a:srgbClr val="E8A33D"/>
                </a:solidFill>
                <a:latin typeface="微软雅黑"/>
              </a:rPr>
              <a:t>● </a:t>
            </a:r>
            <a:r>
              <a:rPr sz="1200" b="1">
                <a:solidFill>
                  <a:srgbClr val="0D2E52"/>
                </a:solidFill>
                <a:latin typeface="微软雅黑"/>
              </a:rPr>
              <a:t>体验溢价崛起:</a:t>
            </a:r>
            <a:r>
              <a:rPr sz="1200" b="0">
                <a:solidFill>
                  <a:srgbClr val="222B36"/>
                </a:solidFill>
                <a:latin typeface="微软雅黑"/>
              </a:rPr>
              <a:t>为独一无二、有记忆点的体验多付30%–100%;非遗体验类订单同比+40%–80%。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900" b="0">
                <a:solidFill>
                  <a:srgbClr val="E8A33D"/>
                </a:solidFill>
                <a:latin typeface="微软雅黑"/>
              </a:rPr>
              <a:t>● </a:t>
            </a:r>
            <a:r>
              <a:rPr sz="1200" b="1">
                <a:solidFill>
                  <a:srgbClr val="0D2E52"/>
                </a:solidFill>
                <a:latin typeface="微软雅黑"/>
              </a:rPr>
              <a:t>二消结构升级:</a:t>
            </a:r>
            <a:r>
              <a:rPr sz="1200" b="0">
                <a:solidFill>
                  <a:srgbClr val="222B36"/>
                </a:solidFill>
                <a:latin typeface="微软雅黑"/>
              </a:rPr>
              <a:t>特色住宿、在地美食、文创与演艺成为消费主力项;收入结构应「票务让利、二消挣钱」。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900" b="0">
                <a:solidFill>
                  <a:srgbClr val="E8A33D"/>
                </a:solidFill>
                <a:latin typeface="微软雅黑"/>
              </a:rPr>
              <a:t>● </a:t>
            </a:r>
            <a:r>
              <a:rPr sz="1200" b="1">
                <a:solidFill>
                  <a:srgbClr val="0D2E52"/>
                </a:solidFill>
                <a:latin typeface="微软雅黑"/>
              </a:rPr>
              <a:t>停留时间=收入:</a:t>
            </a:r>
            <a:r>
              <a:rPr sz="1200" b="0">
                <a:solidFill>
                  <a:srgbClr val="222B36"/>
                </a:solidFill>
                <a:latin typeface="微软雅黑"/>
              </a:rPr>
              <a:t>县域黑马目的地停留从1.5天拉长至3天以上——延长停留是提升总消费的第一杠杆。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4937760"/>
            <a:ext cx="5394960" cy="685800"/>
          </a:xfrm>
          <a:prstGeom prst="roundRect">
            <a:avLst/>
          </a:prstGeom>
          <a:solidFill>
            <a:srgbClr val="FB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4937760"/>
            <a:ext cx="5065776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B83A2E"/>
                </a:solidFill>
                <a:latin typeface="微软雅黑"/>
              </a:rPr>
              <a:t>观点  </a:t>
            </a:r>
            <a:r>
              <a:rPr sz="1050" b="0">
                <a:solidFill>
                  <a:srgbClr val="222B36"/>
                </a:solidFill>
                <a:latin typeface="微软雅黑"/>
              </a:rPr>
              <a:t>丹东不应追求高票价,而应以「低门槛进入 + 高体验二消 + 长停留」重构收入模型。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144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微软雅黑"/>
              </a:rPr>
              <a:t>PART 01 · 趋势与人群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30352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0D2E52"/>
                </a:solidFill>
                <a:latin typeface="微软雅黑"/>
              </a:rPr>
              <a:t>出行方式:高铁+自驾的「新半径」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2412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E6B7A"/>
                </a:solidFill>
                <a:latin typeface="微软雅黑"/>
              </a:rPr>
              <a:t>交通方式变化直接决定客源腹地——这是丹东最被低估的变量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C9D3DE"/>
                </a:solidFill>
                <a:latin typeface="微软雅黑"/>
              </a:rPr>
              <a:t>丹东城市旅游价值提升策略报告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C9D3DE"/>
                </a:solidFill>
                <a:latin typeface="微软雅黑"/>
              </a:rPr>
              <a:t>8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475488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06440" y="1600200"/>
            <a:ext cx="585216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900" b="0">
                <a:solidFill>
                  <a:srgbClr val="E8A33D"/>
                </a:solidFill>
                <a:latin typeface="微软雅黑"/>
              </a:rPr>
              <a:t>● </a:t>
            </a:r>
            <a:r>
              <a:rPr sz="1200" b="1">
                <a:solidFill>
                  <a:srgbClr val="0D2E52"/>
                </a:solidFill>
                <a:latin typeface="微软雅黑"/>
              </a:rPr>
              <a:t>高铁重构客源圈:</a:t>
            </a:r>
            <a:r>
              <a:rPr sz="1200" b="0">
                <a:solidFill>
                  <a:srgbClr val="222B36"/>
                </a:solidFill>
                <a:latin typeface="微软雅黑"/>
              </a:rPr>
              <a:t>沈白高铁(2025年9月)通车、丹大快铁成熟,沈阳/大连2小时圈、京津冀5小时圈成为丹东现实腹地。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900" b="0">
                <a:solidFill>
                  <a:srgbClr val="E8A33D"/>
                </a:solidFill>
                <a:latin typeface="微软雅黑"/>
              </a:rPr>
              <a:t>● </a:t>
            </a:r>
            <a:r>
              <a:rPr sz="1200" b="1">
                <a:solidFill>
                  <a:srgbClr val="0D2E52"/>
                </a:solidFill>
                <a:latin typeface="微软雅黑"/>
              </a:rPr>
              <a:t>自驾成为增长极:</a:t>
            </a:r>
            <a:r>
              <a:rPr sz="1200" b="0">
                <a:solidFill>
                  <a:srgbClr val="222B36"/>
                </a:solidFill>
                <a:latin typeface="微软雅黑"/>
              </a:rPr>
              <a:t>节假日租车预订同比+113%;「高铁+落地自驾」成为主流组合,自驾IP线路(318/G219/G331)热度持续攀升。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900" b="0">
                <a:solidFill>
                  <a:srgbClr val="E8A33D"/>
                </a:solidFill>
                <a:latin typeface="微软雅黑"/>
              </a:rPr>
              <a:t>● </a:t>
            </a:r>
            <a:r>
              <a:rPr sz="1200" b="1">
                <a:solidFill>
                  <a:srgbClr val="0D2E52"/>
                </a:solidFill>
                <a:latin typeface="微软雅黑"/>
              </a:rPr>
              <a:t>公路本身即目的地:</a:t>
            </a:r>
            <a:r>
              <a:rPr sz="1200" b="0">
                <a:solidFill>
                  <a:srgbClr val="222B36"/>
                </a:solidFill>
                <a:latin typeface="微软雅黑"/>
              </a:rPr>
              <a:t>G331被纳入国家「黄金大外环」,「此生必驾」的仪式性需求兴起——起点城市天然获得首站流量。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900" b="0">
                <a:solidFill>
                  <a:srgbClr val="E8A33D"/>
                </a:solidFill>
                <a:latin typeface="微软雅黑"/>
              </a:rPr>
              <a:t>● </a:t>
            </a:r>
            <a:r>
              <a:rPr sz="1200" b="1">
                <a:solidFill>
                  <a:srgbClr val="0D2E52"/>
                </a:solidFill>
                <a:latin typeface="微软雅黑"/>
              </a:rPr>
              <a:t>房车与营地爆发:</a:t>
            </a:r>
            <a:r>
              <a:rPr sz="1200" b="0">
                <a:solidFill>
                  <a:srgbClr val="222B36"/>
                </a:solidFill>
                <a:latin typeface="微软雅黑"/>
              </a:rPr>
              <a:t>丹东国门湾营地日接待已近300辆房车,车位一位难求——供给远未跟上需求。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06440" y="4892040"/>
            <a:ext cx="5852160" cy="685800"/>
          </a:xfrm>
          <a:prstGeom prst="roundRect">
            <a:avLst/>
          </a:prstGeom>
          <a:solidFill>
            <a:srgbClr val="FB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71032" y="4892040"/>
            <a:ext cx="5522976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B83A2E"/>
                </a:solidFill>
                <a:latin typeface="微软雅黑"/>
              </a:rPr>
              <a:t>观点  </a:t>
            </a:r>
            <a:r>
              <a:rPr sz="1050" b="0">
                <a:solidFill>
                  <a:srgbClr val="222B36"/>
                </a:solidFill>
                <a:latin typeface="微软雅黑"/>
              </a:rPr>
              <a:t>对丹东,自驾客群不是「过路客」问题的根源,而是最大的增量入口——关键在于用产品把他们留下来。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144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微软雅黑"/>
              </a:rPr>
              <a:t>PART 01 · 趋势与人群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30352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0D2E52"/>
                </a:solidFill>
                <a:latin typeface="微软雅黑"/>
              </a:rPr>
              <a:t>小结:人群与消费变化对丹东的六个含义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C9D3DE"/>
                </a:solidFill>
                <a:latin typeface="微软雅黑"/>
              </a:rPr>
              <a:t>丹东城市旅游价值提升策略报告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C9D3DE"/>
                </a:solidFill>
                <a:latin typeface="微软雅黑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08760"/>
            <a:ext cx="3657600" cy="2084831"/>
          </a:xfrm>
          <a:prstGeom prst="roundRect">
            <a:avLst/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508760"/>
            <a:ext cx="73152" cy="2084831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645920"/>
            <a:ext cx="3337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>
                <a:solidFill>
                  <a:srgbClr val="0D2E52"/>
                </a:solidFill>
                <a:latin typeface="微软雅黑"/>
              </a:rPr>
              <a:t>① 窗口期真实存在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075688"/>
            <a:ext cx="33375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222B36"/>
                </a:solidFill>
                <a:latin typeface="微软雅黑"/>
              </a:rPr>
              <a:t>反向旅游与边境游升温,使非顶流城市第一次有机会靠「内容+服务」而非「资源等级」赢得客源。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19" y="1508760"/>
            <a:ext cx="3657600" cy="2084831"/>
          </a:xfrm>
          <a:prstGeom prst="roundRect">
            <a:avLst/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19" y="1508760"/>
            <a:ext cx="73152" cy="2084831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7" y="1645920"/>
            <a:ext cx="3337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>
                <a:solidFill>
                  <a:srgbClr val="0D2E52"/>
                </a:solidFill>
                <a:latin typeface="微软雅黑"/>
              </a:rPr>
              <a:t>② 自驾是第一入口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7" y="2075688"/>
            <a:ext cx="33375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222B36"/>
                </a:solidFill>
                <a:latin typeface="微软雅黑"/>
              </a:rPr>
              <a:t>G331/G228双起点叠加自驾大盘增长,丹东获得了一个不需要花钱买的全国性流量入口。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0" y="1508760"/>
            <a:ext cx="3657600" cy="2084831"/>
          </a:xfrm>
          <a:prstGeom prst="roundRect">
            <a:avLst/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11310" y="1508760"/>
            <a:ext cx="73152" cy="2084831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8" y="1645920"/>
            <a:ext cx="3337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>
                <a:solidFill>
                  <a:srgbClr val="0D2E52"/>
                </a:solidFill>
                <a:latin typeface="微软雅黑"/>
              </a:rPr>
              <a:t>③ 银发是第二曲线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8" y="2075688"/>
            <a:ext cx="33375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222B36"/>
                </a:solidFill>
                <a:latin typeface="微软雅黑"/>
              </a:rPr>
              <a:t>东北夏季凉爽+温泉+低生活成本,与银发「避暑旅居」需求高度匹配,可对冲淡季。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749040"/>
            <a:ext cx="3657600" cy="2084831"/>
          </a:xfrm>
          <a:prstGeom prst="roundRect">
            <a:avLst/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749040"/>
            <a:ext cx="73152" cy="2084831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3886200"/>
            <a:ext cx="3337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>
                <a:solidFill>
                  <a:srgbClr val="0D2E52"/>
                </a:solidFill>
                <a:latin typeface="微软雅黑"/>
              </a:rPr>
              <a:t>④ 门票逻辑必须放弃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4315968"/>
            <a:ext cx="33375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222B36"/>
                </a:solidFill>
                <a:latin typeface="微软雅黑"/>
              </a:rPr>
              <a:t>客群对门票敏感、对体验慷慨——票务组合要做「进入门槛最低化」,收入靠停留与二消。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19" y="3749040"/>
            <a:ext cx="3657600" cy="2084831"/>
          </a:xfrm>
          <a:prstGeom prst="roundRect">
            <a:avLst/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9119" y="3749040"/>
            <a:ext cx="73152" cy="2084831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0287" y="3886200"/>
            <a:ext cx="3337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>
                <a:solidFill>
                  <a:srgbClr val="0D2E52"/>
                </a:solidFill>
                <a:latin typeface="微软雅黑"/>
              </a:rPr>
              <a:t>⑤ 内容决定溢价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0287" y="4315968"/>
            <a:ext cx="33375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222B36"/>
                </a:solidFill>
                <a:latin typeface="微软雅黑"/>
              </a:rPr>
              <a:t>红色叙事、边境风情、江海景观都需转译为可参与、可传播的体验内容,才能兑现30%–100%溢价。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11310" y="3749040"/>
            <a:ext cx="3657600" cy="2084831"/>
          </a:xfrm>
          <a:prstGeom prst="roundRect">
            <a:avLst/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11310" y="3749040"/>
            <a:ext cx="73152" cy="2084831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78" y="3886200"/>
            <a:ext cx="3337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>
                <a:solidFill>
                  <a:srgbClr val="0D2E52"/>
                </a:solidFill>
                <a:latin typeface="微软雅黑"/>
              </a:rPr>
              <a:t>⑥ 圈层渠道&gt;大众广告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78" y="4315968"/>
            <a:ext cx="33375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222B36"/>
                </a:solidFill>
                <a:latin typeface="微软雅黑"/>
              </a:rPr>
              <a:t>自驾俱乐部、康养机构、研学机构等B端圈层渠道的转化效率远高于泛投放。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E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44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554480"/>
            <a:ext cx="1371600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2743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E8A33D"/>
                </a:solidFill>
                <a:latin typeface="微软雅黑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微软雅黑"/>
              </a:rPr>
              <a:t>定位比较:东北格局与全国样本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794760"/>
            <a:ext cx="98755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50" b="0">
                <a:solidFill>
                  <a:srgbClr val="C7D6E8"/>
                </a:solidFill>
                <a:latin typeface="微软雅黑"/>
              </a:rPr>
              <a:t>—  东北旅游呈「哈尔滨超级IP+沈大枢纽+长白山生态」格局,丹东是规划中的集散/特色城市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50" b="0">
                <a:solidFill>
                  <a:srgbClr val="C7D6E8"/>
                </a:solidFill>
                <a:latin typeface="微软雅黑"/>
              </a:rPr>
              <a:t>—  延吉证明:边境+民族风情的中等城市可以做成全国性目的地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50" b="0">
                <a:solidFill>
                  <a:srgbClr val="C7D6E8"/>
                </a:solidFill>
                <a:latin typeface="微软雅黑"/>
              </a:rPr>
              <a:t>—  河南与淄博/天水等样本给出非资源顶流城市的出圈方法论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0080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FA6C0"/>
                </a:solidFill>
                <a:latin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144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微软雅黑"/>
              </a:rPr>
              <a:t>PART 02 · 定位比较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30352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0D2E52"/>
                </a:solidFill>
                <a:latin typeface="微软雅黑"/>
              </a:rPr>
              <a:t>东北旅游城市定位图谱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2412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E6B7A"/>
                </a:solidFill>
                <a:latin typeface="微软雅黑"/>
              </a:rPr>
              <a:t>《东北地区旅游业发展规划》与市场表现共同定义的分工格局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C9D3DE"/>
                </a:solidFill>
                <a:latin typeface="微软雅黑"/>
              </a:rPr>
              <a:t>丹东城市旅游价值提升策略报告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C9D3DE"/>
                </a:solidFill>
                <a:latin typeface="微软雅黑"/>
              </a:rPr>
              <a:t>11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536192"/>
          <a:ext cx="11201397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7811"/>
                <a:gridCol w="2108498"/>
                <a:gridCol w="2767404"/>
                <a:gridCol w="1976717"/>
                <a:gridCol w="3030967"/>
              </a:tblGrid>
              <a:tr h="63246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</a:rPr>
                        <a:t>城市</a:t>
                      </a:r>
                    </a:p>
                  </a:txBody>
                  <a:tcPr marL="54864" marR="54864" marT="27432" marB="27432" anchor="ctr">
                    <a:solidFill>
                      <a:srgbClr val="1448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</a:rPr>
                        <a:t>规划/市场定位</a:t>
                      </a:r>
                    </a:p>
                  </a:txBody>
                  <a:tcPr marL="54864" marR="54864" marT="27432" marB="27432" anchor="ctr">
                    <a:solidFill>
                      <a:srgbClr val="1448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</a:rPr>
                        <a:t>核心IP与心智</a:t>
                      </a:r>
                    </a:p>
                  </a:txBody>
                  <a:tcPr marL="54864" marR="54864" marT="27432" marB="27432" anchor="ctr">
                    <a:solidFill>
                      <a:srgbClr val="1448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</a:rPr>
                        <a:t>主力客群</a:t>
                      </a:r>
                    </a:p>
                  </a:txBody>
                  <a:tcPr marL="54864" marR="54864" marT="27432" marB="27432" anchor="ctr">
                    <a:solidFill>
                      <a:srgbClr val="1448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</a:rPr>
                        <a:t>对丹东的启示</a:t>
                      </a:r>
                    </a:p>
                  </a:txBody>
                  <a:tcPr marL="54864" marR="54864" marT="27432" marB="27432" anchor="ctr">
                    <a:solidFill>
                      <a:srgbClr val="14487F"/>
                    </a:solidFill>
                  </a:tcPr>
                </a:tc>
              </a:tr>
              <a:tr h="6324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D2E52"/>
                          </a:solidFill>
                          <a:latin typeface="微软雅黑"/>
                        </a:rPr>
                        <a:t>哈尔滨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B36"/>
                          </a:solidFill>
                          <a:latin typeface="微软雅黑"/>
                        </a:rPr>
                        <a:t>世界级冰雪旅游城市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B36"/>
                          </a:solidFill>
                          <a:latin typeface="微软雅黑"/>
                        </a:rPr>
                        <a:t>冰雪大世界 · 中央大街 · 「尔滨」宠客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B36"/>
                          </a:solidFill>
                          <a:latin typeface="微软雅黑"/>
                        </a:rPr>
                        <a:t>全国年轻客群+入境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B36"/>
                          </a:solidFill>
                          <a:latin typeface="微软雅黑"/>
                        </a:rPr>
                        <a:t>服务口碑可再造城市;IP需持续宠客运营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D2E52"/>
                          </a:solidFill>
                          <a:latin typeface="微软雅黑"/>
                        </a:rPr>
                        <a:t>沈阳</a:t>
                      </a:r>
                    </a:p>
                  </a:txBody>
                  <a:tcPr marL="54864" marR="54864" marT="27432" marB="27432" anchor="ctr"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B36"/>
                          </a:solidFill>
                          <a:latin typeface="微软雅黑"/>
                        </a:rPr>
                        <a:t>东北亚旅游消费中心</a:t>
                      </a:r>
                    </a:p>
                  </a:txBody>
                  <a:tcPr marL="54864" marR="54864" marT="27432" marB="27432" anchor="ctr"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B36"/>
                          </a:solidFill>
                          <a:latin typeface="微软雅黑"/>
                        </a:rPr>
                        <a:t>故宫中街 · 文体演艺 · 洗浴文化</a:t>
                      </a:r>
                    </a:p>
                  </a:txBody>
                  <a:tcPr marL="54864" marR="54864" marT="27432" marB="27432" anchor="ctr"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B36"/>
                          </a:solidFill>
                          <a:latin typeface="微软雅黑"/>
                        </a:rPr>
                        <a:t>都市休闲+过夜消费</a:t>
                      </a:r>
                    </a:p>
                  </a:txBody>
                  <a:tcPr marL="54864" marR="54864" marT="27432" marB="27432" anchor="ctr"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B36"/>
                          </a:solidFill>
                          <a:latin typeface="微软雅黑"/>
                        </a:rPr>
                        <a:t>「消费场景城市」路线,非资源依赖</a:t>
                      </a:r>
                    </a:p>
                  </a:txBody>
                  <a:tcPr marL="54864" marR="54864" marT="27432" marB="27432" anchor="ctr">
                    <a:solidFill>
                      <a:srgbClr val="F0F4F9"/>
                    </a:solidFill>
                  </a:tcPr>
                </a:tc>
              </a:tr>
              <a:tr h="6324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D2E52"/>
                          </a:solidFill>
                          <a:latin typeface="微软雅黑"/>
                        </a:rPr>
                        <a:t>大连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B36"/>
                          </a:solidFill>
                          <a:latin typeface="微软雅黑"/>
                        </a:rPr>
                        <a:t>滨海度假中心城市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B36"/>
                          </a:solidFill>
                          <a:latin typeface="微软雅黑"/>
                        </a:rPr>
                        <a:t>浪漫海滨 · 邮轮 · 避暑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B36"/>
                          </a:solidFill>
                          <a:latin typeface="微软雅黑"/>
                        </a:rPr>
                        <a:t>华北华东度假客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B36"/>
                          </a:solidFill>
                          <a:latin typeface="微软雅黑"/>
                        </a:rPr>
                        <a:t>滨海度假与丹东江海资源部分同质,需错位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D2E52"/>
                          </a:solidFill>
                          <a:latin typeface="微软雅黑"/>
                        </a:rPr>
                        <a:t>长白山/延边</a:t>
                      </a:r>
                    </a:p>
                  </a:txBody>
                  <a:tcPr marL="54864" marR="54864" marT="27432" marB="27432" anchor="ctr"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B36"/>
                          </a:solidFill>
                          <a:latin typeface="微软雅黑"/>
                        </a:rPr>
                        <a:t>生态冰雪目的地</a:t>
                      </a:r>
                    </a:p>
                  </a:txBody>
                  <a:tcPr marL="54864" marR="54864" marT="27432" marB="27432" anchor="ctr"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B36"/>
                          </a:solidFill>
                          <a:latin typeface="微软雅黑"/>
                        </a:rPr>
                        <a:t>长白山天池 · 延吉民族风情</a:t>
                      </a:r>
                    </a:p>
                  </a:txBody>
                  <a:tcPr marL="54864" marR="54864" marT="27432" marB="27432" anchor="ctr"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B36"/>
                          </a:solidFill>
                          <a:latin typeface="微软雅黑"/>
                        </a:rPr>
                        <a:t>自驾+高铁圈层客群</a:t>
                      </a:r>
                    </a:p>
                  </a:txBody>
                  <a:tcPr marL="54864" marR="54864" marT="27432" marB="27432" anchor="ctr"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B36"/>
                          </a:solidFill>
                          <a:latin typeface="微软雅黑"/>
                        </a:rPr>
                        <a:t>边境+民族风情可成全国性IP(延吉样本)</a:t>
                      </a:r>
                    </a:p>
                  </a:txBody>
                  <a:tcPr marL="54864" marR="54864" marT="27432" marB="27432" anchor="ctr">
                    <a:solidFill>
                      <a:srgbClr val="F0F4F9"/>
                    </a:solidFill>
                  </a:tcPr>
                </a:tc>
              </a:tr>
              <a:tr h="6324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D2E52"/>
                          </a:solidFill>
                          <a:latin typeface="微软雅黑"/>
                        </a:rPr>
                        <a:t>丹东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B36"/>
                          </a:solidFill>
                          <a:latin typeface="微软雅黑"/>
                        </a:rPr>
                        <a:t>重点旅游集散城市 · 特色旅游城市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B36"/>
                          </a:solidFill>
                          <a:latin typeface="微软雅黑"/>
                        </a:rPr>
                        <a:t>双国道起点 · 断桥 · 英雄城市 · 银杏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B36"/>
                          </a:solidFill>
                          <a:latin typeface="微软雅黑"/>
                        </a:rPr>
                        <a:t>待建立稳定心智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B36"/>
                          </a:solidFill>
                          <a:latin typeface="微软雅黑"/>
                        </a:rPr>
                        <a:t>规划身份≠市场心智,需自建尖锐记忆点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5577840"/>
            <a:ext cx="11201400" cy="475488"/>
          </a:xfrm>
          <a:prstGeom prst="roundRect">
            <a:avLst/>
          </a:prstGeom>
          <a:solidFill>
            <a:srgbClr val="FB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5577840"/>
            <a:ext cx="1087221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B83A2E"/>
                </a:solidFill>
                <a:latin typeface="微软雅黑"/>
              </a:rPr>
              <a:t>观点  </a:t>
            </a:r>
            <a:r>
              <a:rPr sz="1150" b="0">
                <a:solidFill>
                  <a:srgbClr val="222B36"/>
                </a:solidFill>
                <a:latin typeface="微软雅黑"/>
              </a:rPr>
              <a:t>东北旅游的头部格局已经封盘(冰雪=哈尔滨、滨海=大连、消费=沈阳),丹东不应正面竞争,而应占据尚无人占据的「边境公路起点+英雄叙事+旅居暖城」缝隙。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144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微软雅黑"/>
              </a:rPr>
              <a:t>PART 02 · 定位比较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30352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0D2E52"/>
                </a:solidFill>
                <a:latin typeface="微软雅黑"/>
              </a:rPr>
              <a:t>东北重点城市旅游数据比较(2025)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2412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E6B7A"/>
                </a:solidFill>
                <a:latin typeface="微软雅黑"/>
              </a:rPr>
              <a:t>丹东体量差距大,但增速处于第一梯队——弹性大、基数低是后发优势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C9D3DE"/>
                </a:solidFill>
                <a:latin typeface="微软雅黑"/>
              </a:rPr>
              <a:t>丹东城市旅游价值提升策略报告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C9D3DE"/>
                </a:solidFill>
                <a:latin typeface="微软雅黑"/>
              </a:rPr>
              <a:t>12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48640" y="1554480"/>
          <a:ext cx="585216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629400" y="1600200"/>
          <a:ext cx="5029198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0042"/>
                <a:gridCol w="1605063"/>
                <a:gridCol w="2354093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城市/指标</a:t>
                      </a:r>
                    </a:p>
                  </a:txBody>
                  <a:tcPr marL="54864" marR="54864" marT="27432" marB="27432" anchor="ctr">
                    <a:solidFill>
                      <a:srgbClr val="1448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接待规模(2025)</a:t>
                      </a:r>
                    </a:p>
                  </a:txBody>
                  <a:tcPr marL="54864" marR="54864" marT="27432" marB="27432" anchor="ctr">
                    <a:solidFill>
                      <a:srgbClr val="1448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标志性事实</a:t>
                      </a:r>
                    </a:p>
                  </a:txBody>
                  <a:tcPr marL="54864" marR="54864" marT="27432" marB="27432" anchor="ctr">
                    <a:solidFill>
                      <a:srgbClr val="14487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D2E52"/>
                          </a:solidFill>
                          <a:latin typeface="微软雅黑"/>
                        </a:rPr>
                        <a:t>哈尔滨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B36"/>
                          </a:solidFill>
                          <a:latin typeface="微软雅黑"/>
                        </a:rPr>
                        <a:t>2.02亿人次 / 2818亿元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B36"/>
                          </a:solidFill>
                          <a:latin typeface="微软雅黑"/>
                        </a:rPr>
                        <a:t>联合国「世界冰雪旅游卓越城市」;入境+57.7%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D2E52"/>
                          </a:solidFill>
                          <a:latin typeface="微软雅黑"/>
                        </a:rPr>
                        <a:t>延边(延吉)</a:t>
                      </a:r>
                    </a:p>
                  </a:txBody>
                  <a:tcPr marL="54864" marR="54864" marT="27432" marB="27432" anchor="ctr"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B36"/>
                          </a:solidFill>
                          <a:latin typeface="微软雅黑"/>
                        </a:rPr>
                        <a:t>国庆543万人次 / 34.4亿元</a:t>
                      </a:r>
                    </a:p>
                  </a:txBody>
                  <a:tcPr marL="54864" marR="54864" marT="27432" marB="27432" anchor="ctr"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B36"/>
                          </a:solidFill>
                          <a:latin typeface="微软雅黑"/>
                        </a:rPr>
                        <a:t>边境民族风情出圈;沈白高铁直达</a:t>
                      </a:r>
                    </a:p>
                  </a:txBody>
                  <a:tcPr marL="54864" marR="54864" marT="27432" marB="27432" anchor="ctr">
                    <a:solidFill>
                      <a:srgbClr val="F0F4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D2E52"/>
                          </a:solidFill>
                          <a:latin typeface="微软雅黑"/>
                        </a:rPr>
                        <a:t>沈阳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B36"/>
                          </a:solidFill>
                          <a:latin typeface="微软雅黑"/>
                        </a:rPr>
                        <a:t>国庆1560万人次 / 141亿元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B36"/>
                          </a:solidFill>
                          <a:latin typeface="微软雅黑"/>
                        </a:rPr>
                        <a:t>文体旅消费场景之城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D2E52"/>
                          </a:solidFill>
                          <a:latin typeface="微软雅黑"/>
                        </a:rPr>
                        <a:t>丹东</a:t>
                      </a:r>
                    </a:p>
                  </a:txBody>
                  <a:tcPr marL="54864" marR="54864" marT="27432" marB="27432" anchor="ctr"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B36"/>
                          </a:solidFill>
                          <a:latin typeface="微软雅黑"/>
                        </a:rPr>
                        <a:t>全年人次+19.3% / 收入+23.8%</a:t>
                      </a:r>
                    </a:p>
                  </a:txBody>
                  <a:tcPr marL="54864" marR="54864" marT="27432" marB="27432" anchor="ctr"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22B36"/>
                          </a:solidFill>
                          <a:latin typeface="微软雅黑"/>
                        </a:rPr>
                        <a:t>断桥元旦+102%;国门湾营地日均近300辆房车</a:t>
                      </a:r>
                    </a:p>
                  </a:txBody>
                  <a:tcPr marL="54864" marR="54864" marT="27432" marB="27432" anchor="ctr"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629400" y="5120640"/>
            <a:ext cx="5029200" cy="685800"/>
          </a:xfrm>
          <a:prstGeom prst="roundRect">
            <a:avLst/>
          </a:prstGeom>
          <a:solidFill>
            <a:srgbClr val="FB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93992" y="5120640"/>
            <a:ext cx="4700016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B83A2E"/>
                </a:solidFill>
                <a:latin typeface="微软雅黑"/>
              </a:rPr>
              <a:t>观点  </a:t>
            </a:r>
            <a:r>
              <a:rPr sz="1050" b="0">
                <a:solidFill>
                  <a:srgbClr val="222B36"/>
                </a:solidFill>
                <a:latin typeface="微软雅黑"/>
              </a:rPr>
              <a:t>丹东与哈尔滨的差距不是「差一个量级的营销」,而是差一套「让人留下来」的产品与内容体系。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144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微软雅黑"/>
              </a:rPr>
              <a:t>PART 02 · 定位比较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30352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0D2E52"/>
                </a:solidFill>
                <a:latin typeface="微软雅黑"/>
              </a:rPr>
              <a:t>延吉样本:与丹东最可比的边境城市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2412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E6B7A"/>
                </a:solidFill>
                <a:latin typeface="微软雅黑"/>
              </a:rPr>
              <a:t>同为边境、同靠民族/异域风情、同非传统旅游强市——延吉先走通了这条路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C9D3DE"/>
                </a:solidFill>
                <a:latin typeface="微软雅黑"/>
              </a:rPr>
              <a:t>丹东城市旅游价值提升策略报告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C9D3DE"/>
                </a:solidFill>
                <a:latin typeface="微软雅黑"/>
              </a:rPr>
              <a:t>13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536192"/>
          <a:ext cx="11201399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2603"/>
                <a:gridCol w="3249261"/>
                <a:gridCol w="3249261"/>
                <a:gridCol w="3420274"/>
              </a:tblGrid>
              <a:tr h="78638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维度</a:t>
                      </a:r>
                    </a:p>
                  </a:txBody>
                  <a:tcPr marL="54864" marR="54864" marT="27432" marB="27432" anchor="ctr">
                    <a:solidFill>
                      <a:srgbClr val="1448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延吉(延边州)</a:t>
                      </a:r>
                    </a:p>
                  </a:txBody>
                  <a:tcPr marL="54864" marR="54864" marT="27432" marB="27432" anchor="ctr">
                    <a:solidFill>
                      <a:srgbClr val="1448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丹东</a:t>
                      </a:r>
                    </a:p>
                  </a:txBody>
                  <a:tcPr marL="54864" marR="54864" marT="27432" marB="27432" anchor="ctr">
                    <a:solidFill>
                      <a:srgbClr val="1448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差距/机会点</a:t>
                      </a:r>
                    </a:p>
                  </a:txBody>
                  <a:tcPr marL="54864" marR="54864" marT="27432" marB="27432" anchor="ctr">
                    <a:solidFill>
                      <a:srgbClr val="14487F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D2E52"/>
                          </a:solidFill>
                          <a:latin typeface="微软雅黑"/>
                        </a:rPr>
                        <a:t>城市心智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B36"/>
                          </a:solidFill>
                          <a:latin typeface="微软雅黑"/>
                        </a:rPr>
                        <a:t>「小首尔」异域风情,弹幕墙/民族服饰写真全网刷屏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B36"/>
                          </a:solidFill>
                          <a:latin typeface="微软雅黑"/>
                        </a:rPr>
                        <a:t>断桥+英雄城市认知存量高,但缺少年轻化转译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B36"/>
                          </a:solidFill>
                          <a:latin typeface="微软雅黑"/>
                        </a:rPr>
                        <a:t>丹东认知资产更厚,缺的是「可拍、可穿、可晒」的体验化表达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D2E52"/>
                          </a:solidFill>
                          <a:latin typeface="微软雅黑"/>
                        </a:rPr>
                        <a:t>体验产品</a:t>
                      </a:r>
                    </a:p>
                  </a:txBody>
                  <a:tcPr marL="54864" marR="54864" marT="27432" marB="27432" anchor="ctr"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B36"/>
                          </a:solidFill>
                          <a:latin typeface="微软雅黑"/>
                        </a:rPr>
                        <a:t>民族服饰写真+水上市场+特色餐饮,人均消费场景密集</a:t>
                      </a:r>
                    </a:p>
                  </a:txBody>
                  <a:tcPr marL="54864" marR="54864" marT="27432" marB="27432" anchor="ctr"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B36"/>
                          </a:solidFill>
                          <a:latin typeface="微软雅黑"/>
                        </a:rPr>
                        <a:t>游船、景区观光为主,换装/写真/市集等参与型产品稀缺</a:t>
                      </a:r>
                    </a:p>
                  </a:txBody>
                  <a:tcPr marL="54864" marR="54864" marT="27432" marB="27432" anchor="ctr"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B36"/>
                          </a:solidFill>
                          <a:latin typeface="微软雅黑"/>
                        </a:rPr>
                        <a:t>把「朝鲜族风情+江景」做成沉浸式消费场景</a:t>
                      </a:r>
                    </a:p>
                  </a:txBody>
                  <a:tcPr marL="54864" marR="54864" marT="27432" marB="27432" anchor="ctr">
                    <a:solidFill>
                      <a:srgbClr val="F0F4F9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D2E52"/>
                          </a:solidFill>
                          <a:latin typeface="微软雅黑"/>
                        </a:rPr>
                        <a:t>交通引流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B36"/>
                          </a:solidFill>
                          <a:latin typeface="微软雅黑"/>
                        </a:rPr>
                        <a:t>沈白高铁开通即承接长白山客流,「一程多站」枢纽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B36"/>
                          </a:solidFill>
                          <a:latin typeface="微软雅黑"/>
                        </a:rPr>
                        <a:t>双国道零起点+丹大快铁,自驾流量自发聚集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B36"/>
                          </a:solidFill>
                          <a:latin typeface="微软雅黑"/>
                        </a:rPr>
                        <a:t>把自驾流量的「首站仪式」固化为标准产品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D2E52"/>
                          </a:solidFill>
                          <a:latin typeface="微软雅黑"/>
                        </a:rPr>
                        <a:t>流量运营</a:t>
                      </a:r>
                    </a:p>
                  </a:txBody>
                  <a:tcPr marL="54864" marR="54864" marT="27432" marB="27432" anchor="ctr"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B36"/>
                          </a:solidFill>
                          <a:latin typeface="微软雅黑"/>
                        </a:rPr>
                        <a:t>政府+商户高频造节,社媒话题持续更新</a:t>
                      </a:r>
                    </a:p>
                  </a:txBody>
                  <a:tcPr marL="54864" marR="54864" marT="27432" marB="27432" anchor="ctr"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B36"/>
                          </a:solidFill>
                          <a:latin typeface="微软雅黑"/>
                        </a:rPr>
                        <a:t>「丹东真好」口号已立,话题工程刚起步</a:t>
                      </a:r>
                    </a:p>
                  </a:txBody>
                  <a:tcPr marL="54864" marR="54864" marT="27432" marB="27432" anchor="ctr"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B36"/>
                          </a:solidFill>
                          <a:latin typeface="微软雅黑"/>
                        </a:rPr>
                        <a:t>建立常态化内容生产机制,而非节庆式脉冲</a:t>
                      </a:r>
                    </a:p>
                  </a:txBody>
                  <a:tcPr marL="54864" marR="54864" marT="27432" marB="27432" anchor="ctr"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5669280"/>
            <a:ext cx="11201400" cy="475488"/>
          </a:xfrm>
          <a:prstGeom prst="roundRect">
            <a:avLst/>
          </a:prstGeom>
          <a:solidFill>
            <a:srgbClr val="FB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5669280"/>
            <a:ext cx="1087221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B83A2E"/>
                </a:solidFill>
                <a:latin typeface="微软雅黑"/>
              </a:rPr>
              <a:t>观点  </a:t>
            </a:r>
            <a:r>
              <a:rPr sz="1150" b="0">
                <a:solidFill>
                  <a:srgbClr val="222B36"/>
                </a:solidFill>
                <a:latin typeface="微软雅黑"/>
              </a:rPr>
              <a:t>延吉证明「边境风情是可以卖给全国年轻人的」;丹东的资源组合(江+海+桥+长城+温泉)比延吉更立体,差在产品化与运营密度。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144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微软雅黑"/>
              </a:rPr>
              <a:t>PART 02 · 定位比较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30352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0D2E52"/>
                </a:solidFill>
                <a:latin typeface="微软雅黑"/>
              </a:rPr>
              <a:t>全国样本:资源非顶流城市的出圈路径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2412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E6B7A"/>
                </a:solidFill>
                <a:latin typeface="微软雅黑"/>
              </a:rPr>
              <a:t>五个样本,五种引爆点,一个共同规律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C9D3DE"/>
                </a:solidFill>
                <a:latin typeface="微软雅黑"/>
              </a:rPr>
              <a:t>丹东城市旅游价值提升策略报告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C9D3DE"/>
                </a:solidFill>
                <a:latin typeface="微软雅黑"/>
              </a:rPr>
              <a:t>14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508760"/>
          <a:ext cx="1120140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0"/>
                <a:gridCol w="2286000"/>
                <a:gridCol w="2438400"/>
                <a:gridCol w="1828800"/>
                <a:gridCol w="3200400"/>
              </a:tblGrid>
              <a:tr h="662939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城市</a:t>
                      </a:r>
                    </a:p>
                  </a:txBody>
                  <a:tcPr marL="54864" marR="54864" marT="27432" marB="27432" anchor="ctr">
                    <a:solidFill>
                      <a:srgbClr val="1448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引爆点</a:t>
                      </a:r>
                    </a:p>
                  </a:txBody>
                  <a:tcPr marL="54864" marR="54864" marT="27432" marB="27432" anchor="ctr">
                    <a:solidFill>
                      <a:srgbClr val="1448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承接与转化</a:t>
                      </a:r>
                    </a:p>
                  </a:txBody>
                  <a:tcPr marL="54864" marR="54864" marT="27432" marB="27432" anchor="ctr">
                    <a:solidFill>
                      <a:srgbClr val="1448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长红关键</a:t>
                      </a:r>
                    </a:p>
                  </a:txBody>
                  <a:tcPr marL="54864" marR="54864" marT="27432" marB="27432" anchor="ctr">
                    <a:solidFill>
                      <a:srgbClr val="1448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可迁移到丹东</a:t>
                      </a:r>
                    </a:p>
                  </a:txBody>
                  <a:tcPr marL="54864" marR="54864" marT="27432" marB="27432" anchor="ctr">
                    <a:solidFill>
                      <a:srgbClr val="14487F"/>
                    </a:solidFill>
                  </a:tcPr>
                </a:tc>
              </a:tr>
              <a:tr h="662939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D2E52"/>
                          </a:solidFill>
                          <a:latin typeface="微软雅黑"/>
                        </a:rPr>
                        <a:t>淄博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B36"/>
                          </a:solidFill>
                          <a:latin typeface="微软雅黑"/>
                        </a:rPr>
                        <a:t>烧烤+大学生「进淄赶烤」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B36"/>
                          </a:solidFill>
                          <a:latin typeface="微软雅黑"/>
                        </a:rPr>
                        <a:t>政府兜底服务(专列/公交/管控物价)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B36"/>
                          </a:solidFill>
                          <a:latin typeface="微软雅黑"/>
                        </a:rPr>
                        <a:t>真诚服务口碑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B36"/>
                          </a:solidFill>
                          <a:latin typeface="微软雅黑"/>
                        </a:rPr>
                        <a:t>「不让游客受委屈」的服务承诺与先行赔付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D2E52"/>
                          </a:solidFill>
                          <a:latin typeface="微软雅黑"/>
                        </a:rPr>
                        <a:t>天水</a:t>
                      </a:r>
                    </a:p>
                  </a:txBody>
                  <a:tcPr marL="54864" marR="54864" marT="27432" marB="27432" anchor="ctr"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B36"/>
                          </a:solidFill>
                          <a:latin typeface="微软雅黑"/>
                        </a:rPr>
                        <a:t>麻辣烫单品引爆</a:t>
                      </a:r>
                    </a:p>
                  </a:txBody>
                  <a:tcPr marL="54864" marR="54864" marT="27432" marB="27432" anchor="ctr"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B36"/>
                          </a:solidFill>
                          <a:latin typeface="微软雅黑"/>
                        </a:rPr>
                        <a:t>美食街区快速扩容</a:t>
                      </a:r>
                    </a:p>
                  </a:txBody>
                  <a:tcPr marL="54864" marR="54864" marT="27432" marB="27432" anchor="ctr"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B36"/>
                          </a:solidFill>
                          <a:latin typeface="微软雅黑"/>
                        </a:rPr>
                        <a:t>单品→全域动线</a:t>
                      </a:r>
                    </a:p>
                  </a:txBody>
                  <a:tcPr marL="54864" marR="54864" marT="27432" marB="27432" anchor="ctr"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B36"/>
                          </a:solidFill>
                          <a:latin typeface="微软雅黑"/>
                        </a:rPr>
                        <a:t>黄蚬子/开海节做成全国性美食事件</a:t>
                      </a:r>
                    </a:p>
                  </a:txBody>
                  <a:tcPr marL="54864" marR="54864" marT="27432" marB="27432" anchor="ctr">
                    <a:solidFill>
                      <a:srgbClr val="F0F4F9"/>
                    </a:solidFill>
                  </a:tcPr>
                </a:tc>
              </a:tr>
              <a:tr h="662939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D2E52"/>
                          </a:solidFill>
                          <a:latin typeface="微软雅黑"/>
                        </a:rPr>
                        <a:t>榕江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B36"/>
                          </a:solidFill>
                          <a:latin typeface="微软雅黑"/>
                        </a:rPr>
                        <a:t>村超全民赛事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B36"/>
                          </a:solidFill>
                          <a:latin typeface="微软雅黑"/>
                        </a:rPr>
                        <a:t>赛事日历化+农产品带货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B36"/>
                          </a:solidFill>
                          <a:latin typeface="微软雅黑"/>
                        </a:rPr>
                        <a:t>全民参与感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B36"/>
                          </a:solidFill>
                          <a:latin typeface="微软雅黑"/>
                        </a:rPr>
                        <a:t>鸭绿江马拉松/自驾集结赛事IP化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D2E52"/>
                          </a:solidFill>
                          <a:latin typeface="微软雅黑"/>
                        </a:rPr>
                        <a:t>泉州</a:t>
                      </a:r>
                    </a:p>
                  </a:txBody>
                  <a:tcPr marL="54864" marR="54864" marT="27432" marB="27432" anchor="ctr"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B36"/>
                          </a:solidFill>
                          <a:latin typeface="微软雅黑"/>
                        </a:rPr>
                        <a:t>簪花围民俗视觉符号</a:t>
                      </a:r>
                    </a:p>
                  </a:txBody>
                  <a:tcPr marL="54864" marR="54864" marT="27432" marB="27432" anchor="ctr"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B36"/>
                          </a:solidFill>
                          <a:latin typeface="微软雅黑"/>
                        </a:rPr>
                        <a:t>写真产业链+古城漫游</a:t>
                      </a:r>
                    </a:p>
                  </a:txBody>
                  <a:tcPr marL="54864" marR="54864" marT="27432" marB="27432" anchor="ctr"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B36"/>
                          </a:solidFill>
                          <a:latin typeface="微软雅黑"/>
                        </a:rPr>
                        <a:t>视觉符号自传播</a:t>
                      </a:r>
                    </a:p>
                  </a:txBody>
                  <a:tcPr marL="54864" marR="54864" marT="27432" marB="27432" anchor="ctr"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B36"/>
                          </a:solidFill>
                          <a:latin typeface="微软雅黑"/>
                        </a:rPr>
                        <a:t>银杏大道/朝鲜族服饰的「可穿戴符号」</a:t>
                      </a:r>
                    </a:p>
                  </a:txBody>
                  <a:tcPr marL="54864" marR="54864" marT="27432" marB="27432" anchor="ctr">
                    <a:solidFill>
                      <a:srgbClr val="F0F4F9"/>
                    </a:solidFill>
                  </a:tcPr>
                </a:tc>
              </a:tr>
              <a:tr h="66294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D2E52"/>
                          </a:solidFill>
                          <a:latin typeface="微软雅黑"/>
                        </a:rPr>
                        <a:t>开封(万岁山)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B36"/>
                          </a:solidFill>
                          <a:latin typeface="微软雅黑"/>
                        </a:rPr>
                        <a:t>武侠NPC+百元票三日无限次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B36"/>
                          </a:solidFill>
                          <a:latin typeface="微软雅黑"/>
                        </a:rPr>
                        <a:t>高频内容更新+玩家化运营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B36"/>
                          </a:solidFill>
                          <a:latin typeface="微软雅黑"/>
                        </a:rPr>
                        <a:t>极致性价比+沉浸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B36"/>
                          </a:solidFill>
                          <a:latin typeface="微软雅黑"/>
                        </a:rPr>
                        <a:t>通票制+常态化NPC演艺(安东老街/游船)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5669280"/>
            <a:ext cx="11201400" cy="475488"/>
          </a:xfrm>
          <a:prstGeom prst="roundRect">
            <a:avLst/>
          </a:prstGeom>
          <a:solidFill>
            <a:srgbClr val="FB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5669280"/>
            <a:ext cx="1087221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B83A2E"/>
                </a:solidFill>
                <a:latin typeface="微软雅黑"/>
              </a:rPr>
              <a:t>观点  </a:t>
            </a:r>
            <a:r>
              <a:rPr sz="1150" b="0">
                <a:solidFill>
                  <a:srgbClr val="222B36"/>
                </a:solidFill>
                <a:latin typeface="微软雅黑"/>
              </a:rPr>
              <a:t>共同规律:尖锐记忆点引爆 → 政府服务兜底口碑 → 产品快速承接流量 → 事件日历化维持热度。丹东的「尖锐记忆点」应锁定:此生必驾,始于丹东。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144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微软雅黑"/>
              </a:rPr>
              <a:t>PART 02 · 定位比较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30352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0D2E52"/>
                </a:solidFill>
                <a:latin typeface="微软雅黑"/>
              </a:rPr>
              <a:t>河南文旅方法论:从「资源」到「内容」的完整证明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2412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E6B7A"/>
                </a:solidFill>
                <a:latin typeface="微软雅黑"/>
              </a:rPr>
              <a:t>河南用人造内容跑赢了资源禀赋——这对丹东是最重要的战略参照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C9D3DE"/>
                </a:solidFill>
                <a:latin typeface="微软雅黑"/>
              </a:rPr>
              <a:t>丹东城市旅游价值提升策略报告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C9D3DE"/>
                </a:solidFill>
                <a:latin typeface="微软雅黑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554480"/>
            <a:ext cx="2724912" cy="3063240"/>
          </a:xfrm>
          <a:prstGeom prst="roundRect">
            <a:avLst/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554480"/>
            <a:ext cx="2724912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810512"/>
            <a:ext cx="239572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E8A33D"/>
                </a:solidFill>
                <a:latin typeface="微软雅黑"/>
              </a:rPr>
              <a:t>万岁山武侠城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12848"/>
            <a:ext cx="2395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D2E52"/>
                </a:solidFill>
                <a:latin typeface="微软雅黑"/>
              </a:rPr>
              <a:t>低价高频 + 玩家化运营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15184"/>
            <a:ext cx="2395728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222B36"/>
                </a:solidFill>
                <a:latin typeface="微软雅黑"/>
              </a:rPr>
              <a:t>百元门票三日无限次;NPC全域互动;2025年前三季度1550万人次、收入9.5亿元,同比+170%/+167%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01568" y="1554480"/>
            <a:ext cx="2724912" cy="3063240"/>
          </a:xfrm>
          <a:prstGeom prst="roundRect">
            <a:avLst/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01568" y="1554480"/>
            <a:ext cx="2724912" cy="109728"/>
          </a:xfrm>
          <a:prstGeom prst="rect">
            <a:avLst/>
          </a:prstGeom>
          <a:solidFill>
            <a:srgbClr val="144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1810512"/>
            <a:ext cx="239572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14487F"/>
                </a:solidFill>
                <a:latin typeface="微软雅黑"/>
              </a:rPr>
              <a:t>只有河南·戏剧幻城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212848"/>
            <a:ext cx="2395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D2E52"/>
                </a:solidFill>
                <a:latin typeface="微软雅黑"/>
              </a:rPr>
              <a:t>在地文化的沉浸式精品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615184"/>
            <a:ext cx="2395728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222B36"/>
                </a:solidFill>
                <a:latin typeface="微软雅黑"/>
              </a:rPr>
              <a:t>21个剧场、约700分钟剧目;开城至今观剧超5000万人次,85后占85%、八成来自省外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1554480"/>
            <a:ext cx="2724912" cy="3063240"/>
          </a:xfrm>
          <a:prstGeom prst="roundRect">
            <a:avLst/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6208" y="1554480"/>
            <a:ext cx="2724912" cy="109728"/>
          </a:xfrm>
          <a:prstGeom prst="rect">
            <a:avLst/>
          </a:prstGeom>
          <a:solidFill>
            <a:srgbClr val="2E8B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810512"/>
            <a:ext cx="239572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2E8B83"/>
                </a:solidFill>
                <a:latin typeface="微软雅黑"/>
              </a:rPr>
              <a:t>洛邑古城/洛阳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212848"/>
            <a:ext cx="2395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D2E52"/>
                </a:solidFill>
                <a:latin typeface="微软雅黑"/>
              </a:rPr>
              <a:t>可穿戴的文化符号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615184"/>
            <a:ext cx="2395728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222B36"/>
                </a:solidFill>
                <a:latin typeface="微软雅黑"/>
              </a:rPr>
              <a:t>汉服写真产业链让游客成为内容生产者;大遗址保护与城市更新深度融合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0848" y="1554480"/>
            <a:ext cx="2724912" cy="3063240"/>
          </a:xfrm>
          <a:prstGeom prst="roundRect">
            <a:avLst/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70848" y="1554480"/>
            <a:ext cx="2724912" cy="109728"/>
          </a:xfrm>
          <a:prstGeom prst="rect">
            <a:avLst/>
          </a:prstGeom>
          <a:solidFill>
            <a:srgbClr val="B8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1810512"/>
            <a:ext cx="239572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B83A2E"/>
                </a:solidFill>
                <a:latin typeface="微软雅黑"/>
              </a:rPr>
              <a:t>清明上河园/云台山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212848"/>
            <a:ext cx="2395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D2E52"/>
                </a:solidFill>
                <a:latin typeface="微软雅黑"/>
              </a:rPr>
              <a:t>双IP长线 + 精细服务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615184"/>
            <a:ext cx="2395728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222B36"/>
                </a:solidFill>
                <a:latin typeface="微软雅黑"/>
              </a:rPr>
              <a:t>名画IP长期运营;「不让游客受委屈」服务体系入选全国案例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48463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0D2E52"/>
                </a:solidFill>
                <a:latin typeface="微软雅黑"/>
              </a:rPr>
              <a:t>方法论提炼(可迁移,不照搬形态):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5230368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1">
                <a:solidFill>
                  <a:srgbClr val="B83A2E"/>
                </a:solidFill>
                <a:latin typeface="微软雅黑"/>
              </a:rPr>
              <a:t>产品为王</a:t>
            </a:r>
            <a:r>
              <a:rPr sz="1250" b="0">
                <a:solidFill>
                  <a:srgbClr val="222B36"/>
                </a:solidFill>
                <a:latin typeface="微软雅黑"/>
              </a:rPr>
              <a:t>(内容即吸引物,而非资源等级)  ·  </a:t>
            </a:r>
            <a:r>
              <a:rPr sz="1250" b="1">
                <a:solidFill>
                  <a:srgbClr val="B83A2E"/>
                </a:solidFill>
                <a:latin typeface="微软雅黑"/>
              </a:rPr>
              <a:t>沉浸互动</a:t>
            </a:r>
            <a:r>
              <a:rPr sz="1250" b="0">
                <a:solidFill>
                  <a:srgbClr val="222B36"/>
                </a:solidFill>
                <a:latin typeface="微软雅黑"/>
              </a:rPr>
              <a:t>(游客从旁观者变参与者)  ·  </a:t>
            </a:r>
            <a:r>
              <a:rPr sz="1250" b="1">
                <a:solidFill>
                  <a:srgbClr val="B83A2E"/>
                </a:solidFill>
                <a:latin typeface="微软雅黑"/>
              </a:rPr>
              <a:t>极致性价比</a:t>
            </a:r>
            <a:r>
              <a:rPr sz="1250" b="0">
                <a:solidFill>
                  <a:srgbClr val="222B36"/>
                </a:solidFill>
                <a:latin typeface="微软雅黑"/>
              </a:rPr>
              <a:t>(低门槛进入换取长停留与二消)  ·  </a:t>
            </a:r>
            <a:r>
              <a:rPr sz="1250" b="1">
                <a:solidFill>
                  <a:srgbClr val="B83A2E"/>
                </a:solidFill>
                <a:latin typeface="微软雅黑"/>
              </a:rPr>
              <a:t>高频更新</a:t>
            </a:r>
            <a:r>
              <a:rPr sz="1250" b="0">
                <a:solidFill>
                  <a:srgbClr val="222B36"/>
                </a:solidFill>
                <a:latin typeface="微软雅黑"/>
              </a:rPr>
              <a:t>(内容日历化对抗审美疲劳)  ·  </a:t>
            </a:r>
            <a:r>
              <a:rPr sz="1250" b="1">
                <a:solidFill>
                  <a:srgbClr val="B83A2E"/>
                </a:solidFill>
                <a:latin typeface="微软雅黑"/>
              </a:rPr>
              <a:t>真诚服务</a:t>
            </a:r>
            <a:r>
              <a:rPr sz="1250" b="0">
                <a:solidFill>
                  <a:srgbClr val="222B36"/>
                </a:solidFill>
                <a:latin typeface="微软雅黑"/>
              </a:rPr>
              <a:t>(口碑是最便宜的获客渠道)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144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微软雅黑"/>
              </a:rPr>
              <a:t>PART 02 · 定位比较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30352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0D2E52"/>
                </a:solidFill>
                <a:latin typeface="微软雅黑"/>
              </a:rPr>
              <a:t>丹东现状:动能已现,短板清晰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2412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E6B7A"/>
                </a:solidFill>
                <a:latin typeface="微软雅黑"/>
              </a:rPr>
              <a:t>流量正在自发到来,但供给侧还接不住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C9D3DE"/>
                </a:solidFill>
                <a:latin typeface="微软雅黑"/>
              </a:rPr>
              <a:t>丹东城市旅游价值提升策略报告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C9D3DE"/>
                </a:solidFill>
                <a:latin typeface="微软雅黑"/>
              </a:rPr>
              <a:t>16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48640" y="1554480"/>
          <a:ext cx="5669280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46520" y="1572768"/>
            <a:ext cx="521208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850" b="0">
                <a:solidFill>
                  <a:srgbClr val="E8A33D"/>
                </a:solidFill>
                <a:latin typeface="微软雅黑"/>
              </a:rPr>
              <a:t>● </a:t>
            </a:r>
            <a:r>
              <a:rPr sz="1150" b="1">
                <a:solidFill>
                  <a:srgbClr val="0D2E52"/>
                </a:solidFill>
                <a:latin typeface="微软雅黑"/>
              </a:rPr>
              <a:t>动能:</a:t>
            </a:r>
            <a:r>
              <a:rPr sz="1150" b="0">
                <a:solidFill>
                  <a:srgbClr val="222B36"/>
                </a:solidFill>
                <a:latin typeface="微软雅黑"/>
              </a:rPr>
              <a:t>2025年全市旅游人数+19.3%、收入+23.8%;G331「零公里」出圈,国门湾营地一位难求;「鸭绿江畔·丹东真好」品牌起势。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850" b="0">
                <a:solidFill>
                  <a:srgbClr val="E8A33D"/>
                </a:solidFill>
                <a:latin typeface="微软雅黑"/>
              </a:rPr>
              <a:t>● </a:t>
            </a:r>
            <a:r>
              <a:rPr sz="1150" b="1">
                <a:solidFill>
                  <a:srgbClr val="0D2E52"/>
                </a:solidFill>
                <a:latin typeface="微软雅黑"/>
              </a:rPr>
              <a:t>短板① 无龙头:</a:t>
            </a:r>
            <a:r>
              <a:rPr sz="1150" b="0">
                <a:solidFill>
                  <a:srgbClr val="222B36"/>
                </a:solidFill>
                <a:latin typeface="微软雅黑"/>
              </a:rPr>
              <a:t>全市30处A级景区、9个4A,没有5A级景区,缺乏可以「扛心智」的旗舰产品。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850" b="0">
                <a:solidFill>
                  <a:srgbClr val="E8A33D"/>
                </a:solidFill>
                <a:latin typeface="微软雅黑"/>
              </a:rPr>
              <a:t>● </a:t>
            </a:r>
            <a:r>
              <a:rPr sz="1150" b="1">
                <a:solidFill>
                  <a:srgbClr val="0D2E52"/>
                </a:solidFill>
                <a:latin typeface="微软雅黑"/>
              </a:rPr>
              <a:t>短板② 过路化:</a:t>
            </a:r>
            <a:r>
              <a:rPr sz="1150" b="0">
                <a:solidFill>
                  <a:srgbClr val="222B36"/>
                </a:solidFill>
                <a:latin typeface="微软雅黑"/>
              </a:rPr>
              <a:t>自驾客打卡零公里即北上,停留短、消费浅;夜间产品与沉浸内容近乎空白。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850" b="0">
                <a:solidFill>
                  <a:srgbClr val="E8A33D"/>
                </a:solidFill>
                <a:latin typeface="微软雅黑"/>
              </a:rPr>
              <a:t>● </a:t>
            </a:r>
            <a:r>
              <a:rPr sz="1150" b="1">
                <a:solidFill>
                  <a:srgbClr val="0D2E52"/>
                </a:solidFill>
                <a:latin typeface="微软雅黑"/>
              </a:rPr>
              <a:t>短板③ 断点多:</a:t>
            </a:r>
            <a:r>
              <a:rPr sz="1150" b="0">
                <a:solidFill>
                  <a:srgbClr val="222B36"/>
                </a:solidFill>
                <a:latin typeface="微软雅黑"/>
              </a:rPr>
              <a:t>虎山—断桥沿江体验不连续,景区散而不联,一票一景、各自为战。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850" b="0">
                <a:solidFill>
                  <a:srgbClr val="E8A33D"/>
                </a:solidFill>
                <a:latin typeface="微软雅黑"/>
              </a:rPr>
              <a:t>● </a:t>
            </a:r>
            <a:r>
              <a:rPr sz="1150" b="1">
                <a:solidFill>
                  <a:srgbClr val="0D2E52"/>
                </a:solidFill>
                <a:latin typeface="微软雅黑"/>
              </a:rPr>
              <a:t>短板④ 季节失衡:</a:t>
            </a:r>
            <a:r>
              <a:rPr sz="1150" b="0">
                <a:solidFill>
                  <a:srgbClr val="222B36"/>
                </a:solidFill>
                <a:latin typeface="微软雅黑"/>
              </a:rPr>
              <a:t>旺季集中于夏秋,冬春供给单薄;住宿结构老化,中高端与特色民宿稀缺。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144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微软雅黑"/>
              </a:rPr>
              <a:t>PART 02 · 定位比较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30352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0D2E52"/>
                </a:solidFill>
                <a:latin typeface="微软雅黑"/>
              </a:rPr>
              <a:t>比较结论:丹东的定位选择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2412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E6B7A"/>
                </a:solidFill>
                <a:latin typeface="微软雅黑"/>
              </a:rPr>
              <a:t>不做「东北的哈尔滨」,做「中国边境旅行的起点与暖城」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C9D3DE"/>
                </a:solidFill>
                <a:latin typeface="微软雅黑"/>
              </a:rPr>
              <a:t>丹东城市旅游价值提升策略报告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C9D3DE"/>
                </a:solidFill>
                <a:latin typeface="微软雅黑"/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600200"/>
            <a:ext cx="11064240" cy="1371600"/>
          </a:xfrm>
          <a:prstGeom prst="roundRect">
            <a:avLst/>
          </a:prstGeom>
          <a:solidFill>
            <a:srgbClr val="0D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83080"/>
            <a:ext cx="10424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E8A33D"/>
                </a:solidFill>
                <a:latin typeface="微软雅黑"/>
              </a:rPr>
              <a:t>城市定位主张:</a:t>
            </a:r>
            <a:r>
              <a:rPr sz="2000" b="1">
                <a:solidFill>
                  <a:srgbClr val="FFFFFF"/>
                </a:solidFill>
                <a:latin typeface="微软雅黑"/>
              </a:rPr>
              <a:t>  中国边境旅行第一站 · 英雄暖城丹东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C7D6E8"/>
                </a:solidFill>
                <a:latin typeface="微软雅黑"/>
              </a:rPr>
              <a:t>以「双起点」占据全国自驾/公路旅行心智,以「江海泉+低成本」占据银发旅居心智,以「英雄叙事」守住红色研学基本盘。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46120"/>
            <a:ext cx="11064240" cy="676656"/>
          </a:xfrm>
          <a:prstGeom prst="roundRect">
            <a:avLst/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246120"/>
            <a:ext cx="15544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D2E52"/>
                </a:solidFill>
                <a:latin typeface="微软雅黑"/>
              </a:rPr>
              <a:t>对哈尔滨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246120"/>
            <a:ext cx="905256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222B36"/>
                </a:solidFill>
                <a:latin typeface="微软雅黑"/>
              </a:rPr>
              <a:t>不争冰雪超级IP,承接其溢出客流:「冰雪之后,来暖城过冬/沿边出发」;加入东北高铁计次票等联动产品。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023360"/>
            <a:ext cx="11064240" cy="676656"/>
          </a:xfrm>
          <a:prstGeom prst="roundRect">
            <a:avLst/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023360"/>
            <a:ext cx="15544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D2E52"/>
                </a:solidFill>
                <a:latin typeface="微软雅黑"/>
              </a:rPr>
              <a:t>对大连/沈阳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4023360"/>
            <a:ext cx="905256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222B36"/>
                </a:solidFill>
                <a:latin typeface="微软雅黑"/>
              </a:rPr>
              <a:t>不争滨海度假与都市消费,做「边境体验+公路旅行」差异内容,吸引其2小时圈周末客群。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800600"/>
            <a:ext cx="11064240" cy="676656"/>
          </a:xfrm>
          <a:prstGeom prst="roundRect">
            <a:avLst/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800600"/>
            <a:ext cx="15544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D2E52"/>
                </a:solidFill>
                <a:latin typeface="微软雅黑"/>
              </a:rPr>
              <a:t>对延吉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4800600"/>
            <a:ext cx="905256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222B36"/>
                </a:solidFill>
                <a:latin typeface="微软雅黑"/>
              </a:rPr>
              <a:t>共同做大「边境风情」品类,以「起点仪式+英雄叙事+江海景观」形成差异;争取G331沿线城市联盟主导权。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577840"/>
            <a:ext cx="11064240" cy="676656"/>
          </a:xfrm>
          <a:prstGeom prst="roundRect">
            <a:avLst/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577840"/>
            <a:ext cx="15544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D2E52"/>
                </a:solidFill>
                <a:latin typeface="微软雅黑"/>
              </a:rPr>
              <a:t>对全国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5577840"/>
            <a:ext cx="905256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222B36"/>
                </a:solidFill>
                <a:latin typeface="微软雅黑"/>
              </a:rPr>
              <a:t>锁定两个全国唯一:双国道零起点、最大边境城市——所有传播资源向「此生必驾,始于丹东」集中。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E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44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554480"/>
            <a:ext cx="1371600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2743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E8A33D"/>
                </a:solidFill>
                <a:latin typeface="微软雅黑"/>
              </a:rPr>
              <a:t>PART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微软雅黑"/>
              </a:rPr>
              <a:t>核心观点:关于丹东的八个判断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794760"/>
            <a:ext cx="98755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50" b="0">
                <a:solidFill>
                  <a:srgbClr val="C7D6E8"/>
                </a:solidFill>
                <a:latin typeface="微软雅黑"/>
              </a:rPr>
              <a:t>—  基于人群变化、消费特征与城市比较得出的策略判断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50" b="0">
                <a:solidFill>
                  <a:srgbClr val="C7D6E8"/>
                </a:solidFill>
                <a:latin typeface="微软雅黑"/>
              </a:rPr>
              <a:t>—  每个观点对应后文一组可落地的策略动作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0080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FA6C0"/>
                </a:solidFill>
                <a:latin typeface="微软雅黑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144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微软雅黑"/>
              </a:rPr>
              <a:t>PART 03 · 核心观点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30352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0D2E52"/>
                </a:solidFill>
                <a:latin typeface="微软雅黑"/>
              </a:rPr>
              <a:t>核心观点(一):定位与叙事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C9D3DE"/>
                </a:solidFill>
                <a:latin typeface="微软雅黑"/>
              </a:rPr>
              <a:t>丹东城市旅游价值提升策略报告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C9D3DE"/>
                </a:solidFill>
                <a:latin typeface="微软雅黑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72768"/>
            <a:ext cx="11064240" cy="1115568"/>
          </a:xfrm>
          <a:prstGeom prst="roundRect">
            <a:avLst/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572768"/>
            <a:ext cx="73152" cy="1115568"/>
          </a:xfrm>
          <a:prstGeom prst="rect">
            <a:avLst/>
          </a:prstGeom>
          <a:solidFill>
            <a:srgbClr val="B8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66420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0D2E52"/>
                </a:solidFill>
                <a:latin typeface="微软雅黑"/>
              </a:rPr>
              <a:t>观点一|丹东的对手不是别的城市,而是「过路化」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029968"/>
            <a:ext cx="1060704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222B36"/>
                </a:solidFill>
                <a:latin typeface="微软雅黑"/>
              </a:rPr>
              <a:t>双起点带来的自驾流量是自发的、免费的,但目前多数客人「打卡零公里即离开」。把平均停留从半天拉到2晚,总消费的提升幅度将远大于游客数翻倍,这是全部策略的第一目标。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788920"/>
            <a:ext cx="11064240" cy="1115568"/>
          </a:xfrm>
          <a:prstGeom prst="roundRect">
            <a:avLst/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788920"/>
            <a:ext cx="73152" cy="1115568"/>
          </a:xfrm>
          <a:prstGeom prst="rect">
            <a:avLst/>
          </a:prstGeom>
          <a:solidFill>
            <a:srgbClr val="B8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88036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0D2E52"/>
                </a:solidFill>
                <a:latin typeface="微软雅黑"/>
              </a:rPr>
              <a:t>观点二|「起点」是仪式经济,不是地理概念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246120"/>
            <a:ext cx="1060704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222B36"/>
                </a:solidFill>
                <a:latin typeface="微软雅黑"/>
              </a:rPr>
              <a:t>游客要的是「万里征程始于足下」的仪式感:发车礼、第一枚章、纪念车贴、护照式打卡。把仪式做成标准化产品,零公里地标才能从拍照点变成消费入口。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05072"/>
            <a:ext cx="11064240" cy="1115568"/>
          </a:xfrm>
          <a:prstGeom prst="roundRect">
            <a:avLst/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4005072"/>
            <a:ext cx="73152" cy="1115568"/>
          </a:xfrm>
          <a:prstGeom prst="rect">
            <a:avLst/>
          </a:prstGeom>
          <a:solidFill>
            <a:srgbClr val="B8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096512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0D2E52"/>
                </a:solidFill>
                <a:latin typeface="微软雅黑"/>
              </a:rPr>
              <a:t>观点三|红色叙事是护城河,但必须庄重地年轻化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462272"/>
            <a:ext cx="1060704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222B36"/>
                </a:solidFill>
                <a:latin typeface="微软雅黑"/>
              </a:rPr>
              <a:t>抗美援朝记忆是丹东独有的、不可复制的心智资产。用沉浸式讲述(1950实景演艺、深度研学课程)替代静态陈列,但娱乐化必须有边界——庄重本身就是体验的一部分。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221224"/>
            <a:ext cx="11064240" cy="1115568"/>
          </a:xfrm>
          <a:prstGeom prst="roundRect">
            <a:avLst/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5221224"/>
            <a:ext cx="73152" cy="1115568"/>
          </a:xfrm>
          <a:prstGeom prst="rect">
            <a:avLst/>
          </a:prstGeom>
          <a:solidFill>
            <a:srgbClr val="B8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312664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0D2E52"/>
                </a:solidFill>
                <a:latin typeface="微软雅黑"/>
              </a:rPr>
              <a:t>观点四|银发旅居是丹东的「第二人口」策略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678424"/>
            <a:ext cx="1060704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222B36"/>
                </a:solidFill>
                <a:latin typeface="微软雅黑"/>
              </a:rPr>
              <a:t>东北夏凉、温泉、江海、低房价低物价——银发避暑旅居可以一次性解决淡季现金流、存量房产消化和服务业就业三个问题,应升格为城市战略而非文旅子项。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144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微软雅黑"/>
              </a:rPr>
              <a:t>PART 03 · 核心观点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30352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0D2E52"/>
                </a:solidFill>
                <a:latin typeface="微软雅黑"/>
              </a:rPr>
              <a:t>核心观点(二):模式与运营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C9D3DE"/>
                </a:solidFill>
                <a:latin typeface="微软雅黑"/>
              </a:rPr>
              <a:t>丹东城市旅游价值提升策略报告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C9D3DE"/>
                </a:solidFill>
                <a:latin typeface="微软雅黑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72768"/>
            <a:ext cx="11064240" cy="1115568"/>
          </a:xfrm>
          <a:prstGeom prst="roundRect">
            <a:avLst/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572768"/>
            <a:ext cx="73152" cy="1115568"/>
          </a:xfrm>
          <a:prstGeom prst="rect">
            <a:avLst/>
          </a:prstGeom>
          <a:solidFill>
            <a:srgbClr val="B8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66420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0D2E52"/>
                </a:solidFill>
                <a:latin typeface="微软雅黑"/>
              </a:rPr>
              <a:t>观点五|票务上做「减法」,收入上做「加法」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029968"/>
            <a:ext cx="1060704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222B36"/>
                </a:solidFill>
                <a:latin typeface="微软雅黑"/>
              </a:rPr>
              <a:t>客群对门票敏感、对体验慷慨。学万岁山:通票化、多日多次、极限淡季定价,把收入重心移向住宿、餐饮、演艺、文创——先让人进来、留下,钱自然花出来。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788920"/>
            <a:ext cx="11064240" cy="1115568"/>
          </a:xfrm>
          <a:prstGeom prst="roundRect">
            <a:avLst/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788920"/>
            <a:ext cx="73152" cy="1115568"/>
          </a:xfrm>
          <a:prstGeom prst="rect">
            <a:avLst/>
          </a:prstGeom>
          <a:solidFill>
            <a:srgbClr val="B8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88036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0D2E52"/>
                </a:solidFill>
                <a:latin typeface="微软雅黑"/>
              </a:rPr>
              <a:t>观点六|沿江20公里是丹东的「中央体验区」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246120"/>
            <a:ext cx="1060704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222B36"/>
                </a:solidFill>
                <a:latin typeface="微软雅黑"/>
              </a:rPr>
              <a:t>虎山—断桥黄金岸线承担了游客80%的第一印象,应按「一带四节点」整体运营:仪式区(虎山)—集散区(国门湾)—生活区(老城滨江)—核心区(断桥),夜航+夜市+夜演补齐夜间断档。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05072"/>
            <a:ext cx="11064240" cy="1115568"/>
          </a:xfrm>
          <a:prstGeom prst="roundRect">
            <a:avLst/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4005072"/>
            <a:ext cx="73152" cy="1115568"/>
          </a:xfrm>
          <a:prstGeom prst="rect">
            <a:avLst/>
          </a:prstGeom>
          <a:solidFill>
            <a:srgbClr val="B8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096512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0D2E52"/>
                </a:solidFill>
                <a:latin typeface="微软雅黑"/>
              </a:rPr>
              <a:t>观点七|联动的本质是「让游客的下一步永远有去处」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462272"/>
            <a:ext cx="1060704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222B36"/>
                </a:solidFill>
                <a:latin typeface="微软雅黑"/>
              </a:rPr>
              <a:t>一江两线三圈+城市通票+接驳专线,把散落的景区编织成连续动线;与G331沿线城市结盟,把「过境通道」变成「共同市场」。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221224"/>
            <a:ext cx="11064240" cy="1115568"/>
          </a:xfrm>
          <a:prstGeom prst="roundRect">
            <a:avLst/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5221224"/>
            <a:ext cx="73152" cy="1115568"/>
          </a:xfrm>
          <a:prstGeom prst="rect">
            <a:avLst/>
          </a:prstGeom>
          <a:solidFill>
            <a:srgbClr val="B8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312664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0D2E52"/>
                </a:solidFill>
                <a:latin typeface="微软雅黑"/>
              </a:rPr>
              <a:t>观点八|口碑是丹东唯一付得起的全国性广告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678424"/>
            <a:ext cx="1060704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222B36"/>
                </a:solidFill>
                <a:latin typeface="微软雅黑"/>
              </a:rPr>
              <a:t>淄博与哈尔滨证明:服务兜底产生的自来水传播,效果超过任何投放。「不让游客受委屈」应成为全市动员的一号工程。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E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44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554480"/>
            <a:ext cx="1371600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2743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E8A33D"/>
                </a:solidFill>
                <a:latin typeface="微软雅黑"/>
              </a:rPr>
              <a:t>PART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微软雅黑"/>
              </a:rPr>
              <a:t>策略主张:IP · 沿江 · 联动 · 票务 · 产品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794760"/>
            <a:ext cx="98755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50" b="0">
                <a:solidFill>
                  <a:srgbClr val="C7D6E8"/>
                </a:solidFill>
                <a:latin typeface="微软雅黑"/>
              </a:rPr>
              <a:t>—  城市IP:双起点之城的主副IP矩阵与仪式感系统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50" b="0">
                <a:solidFill>
                  <a:srgbClr val="C7D6E8"/>
                </a:solidFill>
                <a:latin typeface="微软雅黑"/>
              </a:rPr>
              <a:t>—  沿江品质:虎山—断桥「一带四节点」中央体验区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50" b="0">
                <a:solidFill>
                  <a:srgbClr val="C7D6E8"/>
                </a:solidFill>
                <a:latin typeface="微软雅黑"/>
              </a:rPr>
              <a:t>—  全域联动「一江两线三圈」与City Pass票务组合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50" b="0">
                <a:solidFill>
                  <a:srgbClr val="C7D6E8"/>
                </a:solidFill>
                <a:latin typeface="微软雅黑"/>
              </a:rPr>
              <a:t>—  产品组合:自驾优先、四季日历、沉浸内容分期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0080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FA6C0"/>
                </a:solidFill>
                <a:latin typeface="微软雅黑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144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微软雅黑"/>
              </a:rPr>
              <a:t>PART 04 · 策略主张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30352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0D2E52"/>
                </a:solidFill>
                <a:latin typeface="微软雅黑"/>
              </a:rPr>
              <a:t>城市IP体系:「此生必驾,始于丹东」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2412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E6B7A"/>
                </a:solidFill>
                <a:latin typeface="微软雅黑"/>
              </a:rPr>
              <a:t>一个主IP统领心智,四个副IP分季节、分客群展开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C9D3DE"/>
                </a:solidFill>
                <a:latin typeface="微软雅黑"/>
              </a:rPr>
              <a:t>丹东城市旅游价值提升策略报告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C9D3DE"/>
                </a:solidFill>
                <a:latin typeface="微软雅黑"/>
              </a:rPr>
              <a:t>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1554480"/>
            <a:ext cx="5943600" cy="1051560"/>
          </a:xfrm>
          <a:prstGeom prst="roundRect">
            <a:avLst/>
          </a:prstGeom>
          <a:solidFill>
            <a:srgbClr val="0D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1664208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E8A33D"/>
                </a:solidFill>
                <a:latin typeface="微软雅黑"/>
              </a:rPr>
              <a:t>主IP:中国边境旅行第一站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121408"/>
            <a:ext cx="5943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微软雅黑"/>
              </a:rPr>
              <a:t>「此生必驾,始于丹东」— G331/G228 双国道零起点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26080"/>
            <a:ext cx="2724912" cy="1143000"/>
          </a:xfrm>
          <a:prstGeom prst="roundRect">
            <a:avLst/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926080"/>
            <a:ext cx="2724912" cy="91440"/>
          </a:xfrm>
          <a:prstGeom prst="rect">
            <a:avLst/>
          </a:prstGeom>
          <a:solidFill>
            <a:srgbClr val="B8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3127248"/>
            <a:ext cx="245059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B83A2E"/>
                </a:solidFill>
                <a:latin typeface="微软雅黑"/>
              </a:rPr>
              <a:t>英雄之城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3529584"/>
            <a:ext cx="24505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222B36"/>
                </a:solidFill>
                <a:latin typeface="微软雅黑"/>
              </a:rPr>
              <a:t>红色研学 · 抗美援朝纪念叙事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01568" y="2926080"/>
            <a:ext cx="2724912" cy="1143000"/>
          </a:xfrm>
          <a:prstGeom prst="roundRect">
            <a:avLst/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2926080"/>
            <a:ext cx="2724912" cy="914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38728" y="3127248"/>
            <a:ext cx="245059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E8A33D"/>
                </a:solidFill>
                <a:latin typeface="微软雅黑"/>
              </a:rPr>
              <a:t>银杏之城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38728" y="3529584"/>
            <a:ext cx="24505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222B36"/>
                </a:solidFill>
                <a:latin typeface="微软雅黑"/>
              </a:rPr>
              <a:t>秋季流量引擎 · 城市视觉符号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2926080"/>
            <a:ext cx="2724912" cy="1143000"/>
          </a:xfrm>
          <a:prstGeom prst="roundRect">
            <a:avLst/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6208" y="2926080"/>
            <a:ext cx="2724912" cy="91440"/>
          </a:xfrm>
          <a:prstGeom prst="rect">
            <a:avLst/>
          </a:prstGeom>
          <a:solidFill>
            <a:srgbClr val="2E8B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3368" y="3127248"/>
            <a:ext cx="245059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2E8B83"/>
                </a:solidFill>
                <a:latin typeface="微软雅黑"/>
              </a:rPr>
              <a:t>江海泉暖城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3529584"/>
            <a:ext cx="24505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222B36"/>
                </a:solidFill>
                <a:latin typeface="微软雅黑"/>
              </a:rPr>
              <a:t>康养旅居 · 银发候鸟基地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0848" y="2926080"/>
            <a:ext cx="2724912" cy="1143000"/>
          </a:xfrm>
          <a:prstGeom prst="roundRect">
            <a:avLst/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70848" y="2926080"/>
            <a:ext cx="2724912" cy="91440"/>
          </a:xfrm>
          <a:prstGeom prst="rect">
            <a:avLst/>
          </a:prstGeom>
          <a:solidFill>
            <a:srgbClr val="144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08008" y="3127248"/>
            <a:ext cx="245059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4487F"/>
                </a:solidFill>
                <a:latin typeface="微软雅黑"/>
              </a:rPr>
              <a:t>边境风情之城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08008" y="3529584"/>
            <a:ext cx="24505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222B36"/>
                </a:solidFill>
                <a:latin typeface="微软雅黑"/>
              </a:rPr>
              <a:t>跨境视野 · 朝鲜族文化体验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431596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0D2E52"/>
                </a:solidFill>
                <a:latin typeface="微软雅黑"/>
              </a:rPr>
              <a:t>仪式感与符号系统(把「起点」做成可带走的产品):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4736592"/>
            <a:ext cx="2724912" cy="1234440"/>
          </a:xfrm>
          <a:prstGeom prst="roundRect">
            <a:avLst/>
          </a:prstGeom>
          <a:noFill/>
          <a:ln w="9525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" y="4864608"/>
            <a:ext cx="2450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8A33D"/>
                </a:solidFill>
                <a:latin typeface="微软雅黑"/>
              </a:rPr>
              <a:t>零公里发车仪式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" y="5248656"/>
            <a:ext cx="245059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222B36"/>
                </a:solidFill>
                <a:latin typeface="微软雅黑"/>
              </a:rPr>
              <a:t>每日固定时段发车礼:鸣笛、盖章、合影,拍摄位标准化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01568" y="4736592"/>
            <a:ext cx="2724912" cy="1234440"/>
          </a:xfrm>
          <a:prstGeom prst="roundRect">
            <a:avLst/>
          </a:prstGeom>
          <a:noFill/>
          <a:ln w="9525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38728" y="4864608"/>
            <a:ext cx="2450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8A33D"/>
                </a:solidFill>
                <a:latin typeface="微软雅黑"/>
              </a:rPr>
              <a:t>环游中国第一枚章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38728" y="5248656"/>
            <a:ext cx="245059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222B36"/>
                </a:solidFill>
                <a:latin typeface="微软雅黑"/>
              </a:rPr>
              <a:t>「起点护照」集章体系,串联全市景点与沿线城市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36208" y="4736592"/>
            <a:ext cx="2724912" cy="1234440"/>
          </a:xfrm>
          <a:prstGeom prst="roundRect">
            <a:avLst/>
          </a:prstGeom>
          <a:noFill/>
          <a:ln w="9525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73368" y="4864608"/>
            <a:ext cx="2450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8A33D"/>
                </a:solidFill>
                <a:latin typeface="微软雅黑"/>
              </a:rPr>
              <a:t>起点纪念物系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73368" y="5248656"/>
            <a:ext cx="245059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222B36"/>
                </a:solidFill>
                <a:latin typeface="微软雅黑"/>
              </a:rPr>
              <a:t>车贴/邮戳/完驾证书/银杏书签,低成本高传播的社交货币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70848" y="4736592"/>
            <a:ext cx="2724912" cy="1234440"/>
          </a:xfrm>
          <a:prstGeom prst="roundRect">
            <a:avLst/>
          </a:prstGeom>
          <a:noFill/>
          <a:ln w="9525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08008" y="4864608"/>
            <a:ext cx="2450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8A33D"/>
                </a:solidFill>
                <a:latin typeface="微软雅黑"/>
              </a:rPr>
              <a:t>事件日历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08008" y="5248656"/>
            <a:ext cx="245059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222B36"/>
                </a:solidFill>
                <a:latin typeface="微软雅黑"/>
              </a:rPr>
              <a:t>自驾集结赛 · 鸭绿江马拉松 · 银杏文化周 · 开海节四季不断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144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微软雅黑"/>
              </a:rPr>
              <a:t>PART 04 · 策略主张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30352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0D2E52"/>
                </a:solidFill>
                <a:latin typeface="微软雅黑"/>
              </a:rPr>
              <a:t>沿江品质提升:虎山—断桥「一带四节点」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2412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E6B7A"/>
                </a:solidFill>
                <a:latin typeface="微软雅黑"/>
              </a:rPr>
              <a:t>约20公里黄金岸线,承担游客第一印象的「中央体验区」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C9D3DE"/>
                </a:solidFill>
                <a:latin typeface="微软雅黑"/>
              </a:rPr>
              <a:t>丹东城市旅游价值提升策略报告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C9D3DE"/>
                </a:solidFill>
                <a:latin typeface="微软雅黑"/>
              </a:rPr>
              <a:t>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645920"/>
            <a:ext cx="2606040" cy="2286000"/>
          </a:xfrm>
          <a:prstGeom prst="roundRect">
            <a:avLst/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645920"/>
            <a:ext cx="2606040" cy="109728"/>
          </a:xfrm>
          <a:prstGeom prst="rect">
            <a:avLst/>
          </a:prstGeom>
          <a:solidFill>
            <a:srgbClr val="2E8B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874519"/>
            <a:ext cx="231343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2E8B83"/>
                </a:solidFill>
                <a:latin typeface="微软雅黑"/>
              </a:rPr>
              <a:t>① 虎山长城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286000"/>
            <a:ext cx="23134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D2E52"/>
                </a:solidFill>
                <a:latin typeface="微软雅黑"/>
              </a:rPr>
              <a:t>起点仪式区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651760"/>
            <a:ext cx="231343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222B36"/>
                </a:solidFill>
                <a:latin typeface="微软雅黑"/>
              </a:rPr>
              <a:t>长城东端起点+零公里联动;发车仪式主场;夜游虎山长城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191256" y="2606040"/>
            <a:ext cx="219456" cy="365760"/>
          </a:xfrm>
          <a:prstGeom prst="rightArrow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29000" y="1645920"/>
            <a:ext cx="2606040" cy="2286000"/>
          </a:xfrm>
          <a:prstGeom prst="roundRect">
            <a:avLst/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29000" y="1645920"/>
            <a:ext cx="2606040" cy="109728"/>
          </a:xfrm>
          <a:prstGeom prst="rect">
            <a:avLst/>
          </a:prstGeom>
          <a:solidFill>
            <a:srgbClr val="144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75304" y="1874519"/>
            <a:ext cx="231343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4487F"/>
                </a:solidFill>
                <a:latin typeface="微软雅黑"/>
              </a:rPr>
              <a:t>② 国门湾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75304" y="2286000"/>
            <a:ext cx="23134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D2E52"/>
                </a:solidFill>
                <a:latin typeface="微软雅黑"/>
              </a:rPr>
              <a:t>营地集散区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75304" y="2651760"/>
            <a:ext cx="231343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222B36"/>
                </a:solidFill>
                <a:latin typeface="微软雅黑"/>
              </a:rPr>
              <a:t>房车营地扩容连锁;自驾服务中心(补给/维保/攻略);观江平台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053328" y="2606040"/>
            <a:ext cx="219456" cy="365760"/>
          </a:xfrm>
          <a:prstGeom prst="rightArrow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91072" y="1645920"/>
            <a:ext cx="2606040" cy="2286000"/>
          </a:xfrm>
          <a:prstGeom prst="roundRect">
            <a:avLst/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91072" y="1645920"/>
            <a:ext cx="2606040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37376" y="1874519"/>
            <a:ext cx="231343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E8A33D"/>
                </a:solidFill>
                <a:latin typeface="微软雅黑"/>
              </a:rPr>
              <a:t>③ 老城滨江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7376" y="2286000"/>
            <a:ext cx="23134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D2E52"/>
                </a:solidFill>
                <a:latin typeface="微软雅黑"/>
              </a:rPr>
              <a:t>生活休闲区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7376" y="2651760"/>
            <a:ext cx="231343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222B36"/>
                </a:solidFill>
                <a:latin typeface="微软雅黑"/>
              </a:rPr>
              <a:t>滨江慢行道贯通;安东老街扩容;江畔市集与银杏大道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915400" y="2606040"/>
            <a:ext cx="219456" cy="365760"/>
          </a:xfrm>
          <a:prstGeom prst="rightArrow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53144" y="1645920"/>
            <a:ext cx="2606040" cy="2286000"/>
          </a:xfrm>
          <a:prstGeom prst="roundRect">
            <a:avLst/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53144" y="1645920"/>
            <a:ext cx="2606040" cy="109728"/>
          </a:xfrm>
          <a:prstGeom prst="rect">
            <a:avLst/>
          </a:prstGeom>
          <a:solidFill>
            <a:srgbClr val="B8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99448" y="1874519"/>
            <a:ext cx="231343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B83A2E"/>
                </a:solidFill>
                <a:latin typeface="微软雅黑"/>
              </a:rPr>
              <a:t>④ 断桥核心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99448" y="2286000"/>
            <a:ext cx="23134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D2E52"/>
                </a:solidFill>
                <a:latin typeface="微软雅黑"/>
              </a:rPr>
              <a:t>沉浸体验区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99448" y="2651760"/>
            <a:ext cx="231343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222B36"/>
                </a:solidFill>
                <a:latin typeface="微软雅黑"/>
              </a:rPr>
              <a:t>桥体光影夜游;1950沉浸演艺;纪念馆—断桥—老街一体动线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4224528"/>
            <a:ext cx="110642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850" b="0">
                <a:solidFill>
                  <a:srgbClr val="E8A33D"/>
                </a:solidFill>
                <a:latin typeface="微软雅黑"/>
              </a:rPr>
              <a:t>● </a:t>
            </a:r>
            <a:r>
              <a:rPr sz="1150" b="1">
                <a:solidFill>
                  <a:srgbClr val="0D2E52"/>
                </a:solidFill>
                <a:latin typeface="微软雅黑"/>
              </a:rPr>
              <a:t>慢行系统:</a:t>
            </a:r>
            <a:r>
              <a:rPr sz="1150" b="0">
                <a:solidFill>
                  <a:srgbClr val="222B36"/>
                </a:solidFill>
                <a:latin typeface="微软雅黑"/>
              </a:rPr>
              <a:t>滨江骑行道/步道全线贯通,驿站(补给+卫生间+充电)按2–3公里间距布点,标识统一到「起点」视觉体系。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850" b="0">
                <a:solidFill>
                  <a:srgbClr val="E8A33D"/>
                </a:solidFill>
                <a:latin typeface="微软雅黑"/>
              </a:rPr>
              <a:t>● </a:t>
            </a:r>
            <a:r>
              <a:rPr sz="1150" b="1">
                <a:solidFill>
                  <a:srgbClr val="0D2E52"/>
                </a:solidFill>
                <a:latin typeface="微软雅黑"/>
              </a:rPr>
              <a:t>游船升级:</a:t>
            </a:r>
            <a:r>
              <a:rPr sz="1150" b="0">
                <a:solidFill>
                  <a:srgbClr val="222B36"/>
                </a:solidFill>
                <a:latin typeface="微软雅黑"/>
              </a:rPr>
              <a:t>分层产品——跨境视野观光航班/日落航班/餐饮演艺主题航班;探索冬季航线,配合「夜航+夜市+夜演」三夜联动。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850" b="0">
                <a:solidFill>
                  <a:srgbClr val="E8A33D"/>
                </a:solidFill>
                <a:latin typeface="微软雅黑"/>
              </a:rPr>
              <a:t>● </a:t>
            </a:r>
            <a:r>
              <a:rPr sz="1150" b="1">
                <a:solidFill>
                  <a:srgbClr val="0D2E52"/>
                </a:solidFill>
                <a:latin typeface="微软雅黑"/>
              </a:rPr>
              <a:t>城市更新结合:</a:t>
            </a:r>
            <a:r>
              <a:rPr sz="1150" b="0">
                <a:solidFill>
                  <a:srgbClr val="222B36"/>
                </a:solidFill>
                <a:latin typeface="微软雅黑"/>
              </a:rPr>
              <a:t>滨江老旧街区与轻纺工业遗存「微更新+运营前置」,改造为民宿、市集、展演空间,避免大拆大建。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144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微软雅黑"/>
              </a:rPr>
              <a:t>PART 04 · 策略主张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30352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0D2E52"/>
                </a:solidFill>
                <a:latin typeface="微软雅黑"/>
              </a:rPr>
              <a:t>全域联动:「一江两线三圈」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2412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E6B7A"/>
                </a:solidFill>
                <a:latin typeface="微软雅黑"/>
              </a:rPr>
              <a:t>让游客的下一步永远有去处——把散点资源编织成连续动线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C9D3DE"/>
                </a:solidFill>
                <a:latin typeface="微软雅黑"/>
              </a:rPr>
              <a:t>丹东城市旅游价值提升策略报告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C9D3DE"/>
                </a:solidFill>
                <a:latin typeface="微软雅黑"/>
              </a:rPr>
              <a:t>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600200"/>
            <a:ext cx="5120640" cy="822960"/>
          </a:xfrm>
          <a:prstGeom prst="roundRect">
            <a:avLst/>
          </a:prstGeom>
          <a:solidFill>
            <a:srgbClr val="0D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00200"/>
            <a:ext cx="47548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微软雅黑"/>
              </a:rPr>
              <a:t>一江:</a:t>
            </a:r>
            <a:r>
              <a:rPr sz="1300" b="0">
                <a:solidFill>
                  <a:srgbClr val="FFFFFF"/>
                </a:solidFill>
                <a:latin typeface="微软雅黑"/>
              </a:rPr>
              <a:t>鸭绿江城市段主轴(中央体验区)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560320"/>
            <a:ext cx="5120640" cy="868680"/>
          </a:xfrm>
          <a:prstGeom prst="roundRect">
            <a:avLst/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2560320"/>
            <a:ext cx="73152" cy="868680"/>
          </a:xfrm>
          <a:prstGeom prst="rect">
            <a:avLst/>
          </a:prstGeom>
          <a:solidFill>
            <a:srgbClr val="2E8B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633472"/>
            <a:ext cx="47548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2E8B83"/>
                </a:solidFill>
                <a:latin typeface="微软雅黑"/>
              </a:rPr>
              <a:t>两线 · G331边境线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98094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222B36"/>
                </a:solidFill>
                <a:latin typeface="微软雅黑"/>
              </a:rPr>
              <a:t>虎山 → 河口(桃花/毛岸英学校) → 绿江村(塞外小江南),边境自驾景观廊道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20440"/>
            <a:ext cx="5120640" cy="868680"/>
          </a:xfrm>
          <a:prstGeom prst="roundRect">
            <a:avLst/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3520440"/>
            <a:ext cx="73152" cy="868680"/>
          </a:xfrm>
          <a:prstGeom prst="rect">
            <a:avLst/>
          </a:prstGeom>
          <a:solidFill>
            <a:srgbClr val="144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593592"/>
            <a:ext cx="47548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4487F"/>
                </a:solidFill>
                <a:latin typeface="微软雅黑"/>
              </a:rPr>
              <a:t>两线 · G228滨海线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94106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222B36"/>
                </a:solidFill>
                <a:latin typeface="微软雅黑"/>
              </a:rPr>
              <a:t>东港(海鲜/湿地观鸟) → 大鹿岛 → 獐岛(海疆最北端起点),滨海度假走廊</a:t>
            </a:r>
          </a:p>
        </p:txBody>
      </p:sp>
      <p:sp>
        <p:nvSpPr>
          <p:cNvPr id="19" name="Oval 18"/>
          <p:cNvSpPr/>
          <p:nvPr/>
        </p:nvSpPr>
        <p:spPr>
          <a:xfrm>
            <a:off x="5943600" y="1600200"/>
            <a:ext cx="1828800" cy="1828800"/>
          </a:xfrm>
          <a:prstGeom prst="ellipse">
            <a:avLst/>
          </a:prstGeom>
          <a:noFill/>
          <a:ln w="9525">
            <a:solidFill>
              <a:srgbClr val="B8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0760" y="205740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B83A2E"/>
                </a:solidFill>
                <a:latin typeface="微软雅黑"/>
              </a:rPr>
              <a:t>城市核心圈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450592"/>
            <a:ext cx="1463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0">
                <a:solidFill>
                  <a:srgbClr val="222B36"/>
                </a:solidFill>
                <a:latin typeface="微软雅黑"/>
              </a:rPr>
              <a:t>断桥/纪念馆/锦江山/安东老街/银杏街</a:t>
            </a:r>
          </a:p>
        </p:txBody>
      </p:sp>
      <p:sp>
        <p:nvSpPr>
          <p:cNvPr id="22" name="Oval 21"/>
          <p:cNvSpPr/>
          <p:nvPr/>
        </p:nvSpPr>
        <p:spPr>
          <a:xfrm>
            <a:off x="7909560" y="1600200"/>
            <a:ext cx="1828800" cy="1828800"/>
          </a:xfrm>
          <a:prstGeom prst="ellipse">
            <a:avLst/>
          </a:prstGeom>
          <a:noFill/>
          <a:ln w="9525">
            <a:solidFill>
              <a:srgbClr val="2E8B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0" y="205740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2E8B83"/>
                </a:solidFill>
                <a:latin typeface="微软雅黑"/>
              </a:rPr>
              <a:t>宽甸山水圈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2450592"/>
            <a:ext cx="1463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0">
                <a:solidFill>
                  <a:srgbClr val="222B36"/>
                </a:solidFill>
                <a:latin typeface="微软雅黑"/>
              </a:rPr>
              <a:t>天桥沟/青山沟/黄椅山/温泉带</a:t>
            </a:r>
          </a:p>
        </p:txBody>
      </p:sp>
      <p:sp>
        <p:nvSpPr>
          <p:cNvPr id="25" name="Oval 24"/>
          <p:cNvSpPr/>
          <p:nvPr/>
        </p:nvSpPr>
        <p:spPr>
          <a:xfrm>
            <a:off x="9875520" y="1600200"/>
            <a:ext cx="1828800" cy="1828800"/>
          </a:xfrm>
          <a:prstGeom prst="ellipse">
            <a:avLst/>
          </a:prstGeom>
          <a:noFill/>
          <a:ln w="9525">
            <a:solidFill>
              <a:srgbClr val="1448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12680" y="205740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4487F"/>
                </a:solidFill>
                <a:latin typeface="微软雅黑"/>
              </a:rPr>
              <a:t>东港海岛圈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2450592"/>
            <a:ext cx="1463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0">
                <a:solidFill>
                  <a:srgbClr val="222B36"/>
                </a:solidFill>
                <a:latin typeface="微软雅黑"/>
              </a:rPr>
              <a:t>大鹿岛/獐岛/孤山镇/海鲜市集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3703320"/>
            <a:ext cx="576072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800" b="0">
                <a:solidFill>
                  <a:srgbClr val="E8A33D"/>
                </a:solidFill>
                <a:latin typeface="微软雅黑"/>
              </a:rPr>
              <a:t>● </a:t>
            </a:r>
            <a:r>
              <a:rPr sz="1100" b="1">
                <a:solidFill>
                  <a:srgbClr val="0D2E52"/>
                </a:solidFill>
                <a:latin typeface="微软雅黑"/>
              </a:rPr>
              <a:t>交通组织:</a:t>
            </a:r>
            <a:r>
              <a:rPr sz="1100" b="0">
                <a:solidFill>
                  <a:srgbClr val="222B36"/>
                </a:solidFill>
                <a:latin typeface="微软雅黑"/>
              </a:rPr>
              <a:t>旅游环线巴士+景区接驳专线;「高铁+落地租车/房车」产品包;营地网络按线布点。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800" b="0">
                <a:solidFill>
                  <a:srgbClr val="E8A33D"/>
                </a:solidFill>
                <a:latin typeface="微软雅黑"/>
              </a:rPr>
              <a:t>● </a:t>
            </a:r>
            <a:r>
              <a:rPr sz="1100" b="1">
                <a:solidFill>
                  <a:srgbClr val="0D2E52"/>
                </a:solidFill>
                <a:latin typeface="微软雅黑"/>
              </a:rPr>
              <a:t>区域结盟:</a:t>
            </a:r>
            <a:r>
              <a:rPr sz="1100" b="0">
                <a:solidFill>
                  <a:srgbClr val="222B36"/>
                </a:solidFill>
                <a:latin typeface="微软雅黑"/>
              </a:rPr>
              <a:t>发起G331沿线城市文旅联盟(丹东—通化—白山—延边),互认通票、共推「一程多站」。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800" b="0">
                <a:solidFill>
                  <a:srgbClr val="E8A33D"/>
                </a:solidFill>
                <a:latin typeface="微软雅黑"/>
              </a:rPr>
              <a:t>● </a:t>
            </a:r>
            <a:r>
              <a:rPr sz="1100" b="1">
                <a:solidFill>
                  <a:srgbClr val="0D2E52"/>
                </a:solidFill>
                <a:latin typeface="微软雅黑"/>
              </a:rPr>
              <a:t>铁路联动:</a:t>
            </a:r>
            <a:r>
              <a:rPr sz="1100" b="0">
                <a:solidFill>
                  <a:srgbClr val="222B36"/>
                </a:solidFill>
                <a:latin typeface="微软雅黑"/>
              </a:rPr>
              <a:t>深度接入东北「旅游计次票」体系(已覆盖丹东站),承接哈尔滨/长白山溢出客流。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5623560"/>
            <a:ext cx="11064240" cy="475488"/>
          </a:xfrm>
          <a:prstGeom prst="roundRect">
            <a:avLst/>
          </a:prstGeom>
          <a:solidFill>
            <a:srgbClr val="FB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623560"/>
            <a:ext cx="1073505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B83A2E"/>
                </a:solidFill>
                <a:latin typeface="微软雅黑"/>
              </a:rPr>
              <a:t>观点  </a:t>
            </a:r>
            <a:r>
              <a:rPr sz="1150" b="0">
                <a:solidFill>
                  <a:srgbClr val="222B36"/>
                </a:solidFill>
                <a:latin typeface="微软雅黑"/>
              </a:rPr>
              <a:t>联动目标:把「半日打卡城市」变成「2晚3天目的地」——每增加一晚停留,人均消费预计提升60%以上。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144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微软雅黑"/>
              </a:rPr>
              <a:t>PART 04 · 策略主张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30352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0D2E52"/>
                </a:solidFill>
                <a:latin typeface="微软雅黑"/>
              </a:rPr>
              <a:t>票务组合:低门槛进入,高体验变现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2412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E6B7A"/>
                </a:solidFill>
                <a:latin typeface="微软雅黑"/>
              </a:rPr>
              <a:t>借鉴万岁山「低价高频」逻辑,重构「票务让利、二消挣钱」的收入模型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C9D3DE"/>
                </a:solidFill>
                <a:latin typeface="微软雅黑"/>
              </a:rPr>
              <a:t>丹东城市旅游价值提升策略报告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C9D3DE"/>
                </a:solidFill>
                <a:latin typeface="微软雅黑"/>
              </a:rPr>
              <a:t>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627632"/>
            <a:ext cx="5440680" cy="1325880"/>
          </a:xfrm>
          <a:prstGeom prst="roundRect">
            <a:avLst/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627632"/>
            <a:ext cx="73152" cy="1325880"/>
          </a:xfrm>
          <a:prstGeom prst="rect">
            <a:avLst/>
          </a:prstGeom>
          <a:solidFill>
            <a:srgbClr val="144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73736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4487F"/>
                </a:solidFill>
                <a:latin typeface="微软雅黑"/>
              </a:rPr>
              <a:t>丹东City Pass城市通票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130552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222B36"/>
                </a:solidFill>
                <a:latin typeface="微软雅黑"/>
              </a:rPr>
              <a:t>3日/5日两档,通行主要A级景区+游船/温泉折扣+环线巴士免费;定价锚定「单景区两次门票之和」以下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627632"/>
            <a:ext cx="5440680" cy="1325880"/>
          </a:xfrm>
          <a:prstGeom prst="roundRect">
            <a:avLst/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6208" y="1627632"/>
            <a:ext cx="73152" cy="132588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173736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微软雅黑"/>
              </a:rPr>
              <a:t>「起点护照」联票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8" y="2130552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222B36"/>
                </a:solidFill>
                <a:latin typeface="微软雅黑"/>
              </a:rPr>
              <a:t>集章免费、权益付费:集满兑换纪念品/餐饮券,绑定复游;与G331沿线城市互认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090672"/>
            <a:ext cx="5440680" cy="1325880"/>
          </a:xfrm>
          <a:prstGeom prst="roundRect">
            <a:avLst/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090672"/>
            <a:ext cx="73152" cy="1325880"/>
          </a:xfrm>
          <a:prstGeom prst="rect">
            <a:avLst/>
          </a:prstGeom>
          <a:solidFill>
            <a:srgbClr val="2E8B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320040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2E8B83"/>
                </a:solidFill>
                <a:latin typeface="微软雅黑"/>
              </a:rPr>
              <a:t>一票三日无限次试点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3593592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222B36"/>
                </a:solidFill>
                <a:latin typeface="微软雅黑"/>
              </a:rPr>
              <a:t>选取1–2个核心景区(如虎山长城)试点,验证「长停留带动周边二消」模型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090672"/>
            <a:ext cx="5440680" cy="1325880"/>
          </a:xfrm>
          <a:prstGeom prst="roundRect">
            <a:avLst/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6208" y="3090672"/>
            <a:ext cx="73152" cy="1325880"/>
          </a:xfrm>
          <a:prstGeom prst="rect">
            <a:avLst/>
          </a:prstGeom>
          <a:solidFill>
            <a:srgbClr val="B8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4808" y="320040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B83A2E"/>
                </a:solidFill>
                <a:latin typeface="微软雅黑"/>
              </a:rPr>
              <a:t>旅居者年卡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8" y="3593592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222B36"/>
                </a:solidFill>
                <a:latin typeface="微软雅黑"/>
              </a:rPr>
              <a:t>面向银发旅居与本地市民的低价年卡,平峰期填舱,培养「城市主人」口碑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470916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0D2E52"/>
                </a:solidFill>
                <a:latin typeface="微软雅黑"/>
              </a:rPr>
              <a:t>配套原则: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5074920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850" b="0">
                <a:solidFill>
                  <a:srgbClr val="E8A33D"/>
                </a:solidFill>
                <a:latin typeface="微软雅黑"/>
              </a:rPr>
              <a:t>● </a:t>
            </a:r>
            <a:r>
              <a:rPr sz="1150" b="1">
                <a:solidFill>
                  <a:srgbClr val="0D2E52"/>
                </a:solidFill>
                <a:latin typeface="微软雅黑"/>
              </a:rPr>
              <a:t>极限淡季定价:</a:t>
            </a:r>
            <a:r>
              <a:rPr sz="1150" b="0">
                <a:solidFill>
                  <a:srgbClr val="222B36"/>
                </a:solidFill>
                <a:latin typeface="微软雅黑"/>
              </a:rPr>
              <a:t>冬春季通票价格下探至旺季1/3,以「极致性价比旅居」对冲季节性(参考东北铁路计次票逻辑)。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850" b="0">
                <a:solidFill>
                  <a:srgbClr val="E8A33D"/>
                </a:solidFill>
                <a:latin typeface="微软雅黑"/>
              </a:rPr>
              <a:t>● </a:t>
            </a:r>
            <a:r>
              <a:rPr sz="1150" b="1">
                <a:solidFill>
                  <a:srgbClr val="0D2E52"/>
                </a:solidFill>
                <a:latin typeface="微软雅黑"/>
              </a:rPr>
              <a:t>收入再平衡:</a:t>
            </a:r>
            <a:r>
              <a:rPr sz="1150" b="0">
                <a:solidFill>
                  <a:srgbClr val="222B36"/>
                </a:solidFill>
                <a:latin typeface="微软雅黑"/>
              </a:rPr>
              <a:t>门票收入占比目标从主导降至30%以下,住宿/餐饮/演艺/文创成为主力,倒逼二消场景建设。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144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微软雅黑"/>
              </a:rPr>
              <a:t>PART 04 · 策略主张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30352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0D2E52"/>
                </a:solidFill>
                <a:latin typeface="微软雅黑"/>
              </a:rPr>
              <a:t>产品组合:自驾优先,四季不断档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2412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E6B7A"/>
                </a:solidFill>
                <a:latin typeface="微软雅黑"/>
              </a:rPr>
              <a:t>六大产品线对应六类客群,按投入强度分期推进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C9D3DE"/>
                </a:solidFill>
                <a:latin typeface="微软雅黑"/>
              </a:rPr>
              <a:t>丹东城市旅游价值提升策略报告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C9D3DE"/>
                </a:solidFill>
                <a:latin typeface="微软雅黑"/>
              </a:rPr>
              <a:t>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554480"/>
          <a:ext cx="11201398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1151"/>
                <a:gridCol w="5643453"/>
                <a:gridCol w="2052164"/>
                <a:gridCol w="1624630"/>
              </a:tblGrid>
              <a:tr h="54210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</a:rPr>
                        <a:t>产品线</a:t>
                      </a:r>
                    </a:p>
                  </a:txBody>
                  <a:tcPr marL="54864" marR="54864" marT="27432" marB="27432" anchor="ctr">
                    <a:solidFill>
                      <a:srgbClr val="1448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</a:rPr>
                        <a:t>核心内容</a:t>
                      </a:r>
                    </a:p>
                  </a:txBody>
                  <a:tcPr marL="54864" marR="54864" marT="27432" marB="27432" anchor="ctr">
                    <a:solidFill>
                      <a:srgbClr val="1448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</a:rPr>
                        <a:t>目标客群</a:t>
                      </a:r>
                    </a:p>
                  </a:txBody>
                  <a:tcPr marL="54864" marR="54864" marT="27432" marB="27432" anchor="ctr">
                    <a:solidFill>
                      <a:srgbClr val="1448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</a:rPr>
                        <a:t>优先级</a:t>
                      </a:r>
                    </a:p>
                  </a:txBody>
                  <a:tcPr marL="54864" marR="54864" marT="27432" marB="27432" anchor="ctr">
                    <a:solidFill>
                      <a:srgbClr val="14487F"/>
                    </a:solidFill>
                  </a:tcPr>
                </a:tc>
              </a:tr>
              <a:tr h="54210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D2E52"/>
                          </a:solidFill>
                          <a:latin typeface="微软雅黑"/>
                        </a:rPr>
                        <a:t>自驾/公路旅行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B36"/>
                          </a:solidFill>
                          <a:latin typeface="微软雅黑"/>
                        </a:rPr>
                        <a:t>G331首发站产品包(发车仪式+车检补给+首晚住宿+攻略);房车营地连锁;摩旅/骑行友好配套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B36"/>
                          </a:solidFill>
                          <a:latin typeface="微软雅黑"/>
                        </a:rPr>
                        <a:t>全国自驾圈层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B36"/>
                          </a:solidFill>
                          <a:latin typeface="微软雅黑"/>
                        </a:rPr>
                        <a:t>★★★ 近期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210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D2E52"/>
                          </a:solidFill>
                          <a:latin typeface="微软雅黑"/>
                        </a:rPr>
                        <a:t>红色研学</a:t>
                      </a:r>
                    </a:p>
                  </a:txBody>
                  <a:tcPr marL="54864" marR="54864" marT="27432" marB="27432" anchor="ctr"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B36"/>
                          </a:solidFill>
                          <a:latin typeface="微软雅黑"/>
                        </a:rPr>
                        <a:t>纪念馆+断桥+河口标准化课程;1950沉浸式演艺;国防教育营</a:t>
                      </a:r>
                    </a:p>
                  </a:txBody>
                  <a:tcPr marL="54864" marR="54864" marT="27432" marB="27432" anchor="ctr"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B36"/>
                          </a:solidFill>
                          <a:latin typeface="微软雅黑"/>
                        </a:rPr>
                        <a:t>学校/机关/亲子</a:t>
                      </a:r>
                    </a:p>
                  </a:txBody>
                  <a:tcPr marL="54864" marR="54864" marT="27432" marB="27432" anchor="ctr"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B36"/>
                          </a:solidFill>
                          <a:latin typeface="微软雅黑"/>
                        </a:rPr>
                        <a:t>★★★ 近期</a:t>
                      </a:r>
                    </a:p>
                  </a:txBody>
                  <a:tcPr marL="54864" marR="54864" marT="27432" marB="27432" anchor="ctr">
                    <a:solidFill>
                      <a:srgbClr val="F0F4F9"/>
                    </a:solidFill>
                  </a:tcPr>
                </a:tc>
              </a:tr>
              <a:tr h="54210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D2E52"/>
                          </a:solidFill>
                          <a:latin typeface="微软雅黑"/>
                        </a:rPr>
                        <a:t>康养旅居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B36"/>
                          </a:solidFill>
                          <a:latin typeface="微软雅黑"/>
                        </a:rPr>
                        <a:t>「温泉+海岛+江景」月付套餐;候鸟公寓;医养配套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B36"/>
                          </a:solidFill>
                          <a:latin typeface="微软雅黑"/>
                        </a:rPr>
                        <a:t>银发/候鸟客群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B36"/>
                          </a:solidFill>
                          <a:latin typeface="微软雅黑"/>
                        </a:rPr>
                        <a:t>★★★ 近期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210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D2E52"/>
                          </a:solidFill>
                          <a:latin typeface="微软雅黑"/>
                        </a:rPr>
                        <a:t>边境体验</a:t>
                      </a:r>
                    </a:p>
                  </a:txBody>
                  <a:tcPr marL="54864" marR="54864" marT="27432" marB="27432" anchor="ctr"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B36"/>
                          </a:solidFill>
                          <a:latin typeface="微软雅黑"/>
                        </a:rPr>
                        <a:t>跨境视野游船;国门与界碑打卡;朝鲜族民俗村与服饰写真;边贸市集</a:t>
                      </a:r>
                    </a:p>
                  </a:txBody>
                  <a:tcPr marL="54864" marR="54864" marT="27432" marB="27432" anchor="ctr"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B36"/>
                          </a:solidFill>
                          <a:latin typeface="微软雅黑"/>
                        </a:rPr>
                        <a:t>年轻圈层/亲子</a:t>
                      </a:r>
                    </a:p>
                  </a:txBody>
                  <a:tcPr marL="54864" marR="54864" marT="27432" marB="27432" anchor="ctr"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B36"/>
                          </a:solidFill>
                          <a:latin typeface="微软雅黑"/>
                        </a:rPr>
                        <a:t>★★ 中期</a:t>
                      </a:r>
                    </a:p>
                  </a:txBody>
                  <a:tcPr marL="54864" marR="54864" marT="27432" marB="27432" anchor="ctr">
                    <a:solidFill>
                      <a:srgbClr val="F0F4F9"/>
                    </a:solidFill>
                  </a:tcPr>
                </a:tc>
              </a:tr>
              <a:tr h="54210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D2E52"/>
                          </a:solidFill>
                          <a:latin typeface="微软雅黑"/>
                        </a:rPr>
                        <a:t>美食物产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B36"/>
                          </a:solidFill>
                          <a:latin typeface="微软雅黑"/>
                        </a:rPr>
                        <a:t>黄蚬子/开海节事件化;草莓季(采摘+甜品节);伴手礼体系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B36"/>
                          </a:solidFill>
                          <a:latin typeface="微软雅黑"/>
                        </a:rPr>
                        <a:t>全客群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B36"/>
                          </a:solidFill>
                          <a:latin typeface="微软雅黑"/>
                        </a:rPr>
                        <a:t>★★ 中期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211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D2E52"/>
                          </a:solidFill>
                          <a:latin typeface="微软雅黑"/>
                        </a:rPr>
                        <a:t>沉浸内容</a:t>
                      </a:r>
                    </a:p>
                  </a:txBody>
                  <a:tcPr marL="54864" marR="54864" marT="27432" marB="27432" anchor="ctr"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B36"/>
                          </a:solidFill>
                          <a:latin typeface="微软雅黑"/>
                        </a:rPr>
                        <a:t>安东老街NPC常态化;鸭绿江夜游演艺;冬季冰凌+温泉产品</a:t>
                      </a:r>
                    </a:p>
                  </a:txBody>
                  <a:tcPr marL="54864" marR="54864" marT="27432" marB="27432" anchor="ctr"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B36"/>
                          </a:solidFill>
                          <a:latin typeface="微软雅黑"/>
                        </a:rPr>
                        <a:t>年轻圈层</a:t>
                      </a:r>
                    </a:p>
                  </a:txBody>
                  <a:tcPr marL="54864" marR="54864" marT="27432" marB="27432" anchor="ctr"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B36"/>
                          </a:solidFill>
                          <a:latin typeface="微软雅黑"/>
                        </a:rPr>
                        <a:t>★ 中远期</a:t>
                      </a:r>
                    </a:p>
                  </a:txBody>
                  <a:tcPr marL="54864" marR="54864" marT="27432" marB="27432" anchor="ctr"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5577840"/>
            <a:ext cx="11201400" cy="475488"/>
          </a:xfrm>
          <a:prstGeom prst="roundRect">
            <a:avLst/>
          </a:prstGeom>
          <a:solidFill>
            <a:srgbClr val="FB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5577840"/>
            <a:ext cx="1087221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B83A2E"/>
                </a:solidFill>
                <a:latin typeface="微软雅黑"/>
              </a:rPr>
              <a:t>观点  </a:t>
            </a:r>
            <a:r>
              <a:rPr sz="1150" b="0">
                <a:solidFill>
                  <a:srgbClr val="222B36"/>
                </a:solidFill>
                <a:latin typeface="微软雅黑"/>
              </a:rPr>
              <a:t>四季日历:春(河口桃花/草莓尾季) → 夏(避暑+海岛+自驾旺季) → 秋(银杏+枫叶双景) → 冬(温泉+冰凌+极限性价比旅居),用产品填平淡季而非用折扣硬扛。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E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44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554480"/>
            <a:ext cx="1371600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2743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E8A33D"/>
                </a:solidFill>
                <a:latin typeface="微软雅黑"/>
              </a:rPr>
              <a:t>PART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微软雅黑"/>
              </a:rPr>
              <a:t>客群导入与更高维度价值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794760"/>
            <a:ext cx="98755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50" b="0">
                <a:solidFill>
                  <a:srgbClr val="C7D6E8"/>
                </a:solidFill>
                <a:latin typeface="微软雅黑"/>
              </a:rPr>
              <a:t>—  客群分层:基本盘 → 增量主力 → 战略客群的导入次序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50" b="0">
                <a:solidFill>
                  <a:srgbClr val="C7D6E8"/>
                </a:solidFill>
                <a:latin typeface="微软雅黑"/>
              </a:rPr>
              <a:t>—  银发经济:从旅游子项升格为城市战略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50" b="0">
                <a:solidFill>
                  <a:srgbClr val="C7D6E8"/>
                </a:solidFill>
                <a:latin typeface="微软雅黑"/>
              </a:rPr>
              <a:t>—  旅游作为杠杆:人口回流 · 城市更新 · 产业联动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0080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FA6C0"/>
                </a:solidFill>
                <a:latin typeface="微软雅黑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144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微软雅黑"/>
              </a:rPr>
              <a:t>PART 05 · 客群与更高维度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30352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0D2E52"/>
                </a:solidFill>
                <a:latin typeface="微软雅黑"/>
              </a:rPr>
              <a:t>客群导入:分层次序与转化机制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2412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E6B7A"/>
                </a:solidFill>
                <a:latin typeface="微软雅黑"/>
              </a:rPr>
              <a:t>先守基本盘,再攻增量,战略客群决定城市长期曲线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C9D3DE"/>
                </a:solidFill>
                <a:latin typeface="微软雅黑"/>
              </a:rPr>
              <a:t>丹东城市旅游价值提升策略报告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C9D3DE"/>
                </a:solidFill>
                <a:latin typeface="微软雅黑"/>
              </a:rPr>
              <a:t>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627632"/>
            <a:ext cx="10424160" cy="969264"/>
          </a:xfrm>
          <a:prstGeom prst="roundRect">
            <a:avLst/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627632"/>
            <a:ext cx="73152" cy="969264"/>
          </a:xfrm>
          <a:prstGeom prst="rect">
            <a:avLst/>
          </a:prstGeom>
          <a:solidFill>
            <a:srgbClr val="144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719072"/>
            <a:ext cx="11887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4487F"/>
                </a:solidFill>
                <a:latin typeface="微软雅黑"/>
              </a:rPr>
              <a:t>基本盘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1719072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D2E52"/>
                </a:solidFill>
                <a:latin typeface="微软雅黑"/>
              </a:rPr>
              <a:t>辽吉黑都市圈短途周末客群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2103120"/>
            <a:ext cx="8686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222B36"/>
                </a:solidFill>
                <a:latin typeface="微软雅黑"/>
              </a:rPr>
              <a:t>沈阳/大连2小时圈;周末游+美食游;复游率是核心指标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688336"/>
            <a:ext cx="8778240" cy="969264"/>
          </a:xfrm>
          <a:prstGeom prst="roundRect">
            <a:avLst/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2688336"/>
            <a:ext cx="73152" cy="9692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2779776"/>
            <a:ext cx="11887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微软雅黑"/>
              </a:rPr>
              <a:t>增量主力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2779776"/>
            <a:ext cx="7040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D2E52"/>
                </a:solidFill>
                <a:latin typeface="微软雅黑"/>
              </a:rPr>
              <a:t>京津冀高铁客群 + 全国自驾/摩旅圈层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3163824"/>
            <a:ext cx="7040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222B36"/>
                </a:solidFill>
                <a:latin typeface="微软雅黑"/>
              </a:rPr>
              <a:t>高铁5小时圈专列/专题;自驾俱乐部B端合作;首发站产品承接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749040"/>
            <a:ext cx="7132320" cy="969264"/>
          </a:xfrm>
          <a:prstGeom prst="roundRect">
            <a:avLst/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3749040"/>
            <a:ext cx="73152" cy="969264"/>
          </a:xfrm>
          <a:prstGeom prst="rect">
            <a:avLst/>
          </a:prstGeom>
          <a:solidFill>
            <a:srgbClr val="2E8B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3840480"/>
            <a:ext cx="11887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2E8B83"/>
                </a:solidFill>
                <a:latin typeface="微软雅黑"/>
              </a:rPr>
              <a:t>战略客群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384048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D2E52"/>
                </a:solidFill>
                <a:latin typeface="微软雅黑"/>
              </a:rPr>
              <a:t>银发旅居候鸟 + 亲子研学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4224528"/>
            <a:ext cx="5394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222B36"/>
                </a:solidFill>
                <a:latin typeface="微软雅黑"/>
              </a:rPr>
              <a:t>康养机构/老年大学直连;研学课程共建;按月旅居产品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09744"/>
            <a:ext cx="5486400" cy="969264"/>
          </a:xfrm>
          <a:prstGeom prst="roundRect">
            <a:avLst/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4809744"/>
            <a:ext cx="73152" cy="969264"/>
          </a:xfrm>
          <a:prstGeom prst="rect">
            <a:avLst/>
          </a:prstGeom>
          <a:solidFill>
            <a:srgbClr val="B8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4901184"/>
            <a:ext cx="11887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B83A2E"/>
                </a:solidFill>
                <a:latin typeface="微软雅黑"/>
              </a:rPr>
              <a:t>远期客群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4901184"/>
            <a:ext cx="3749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D2E52"/>
                </a:solidFill>
                <a:latin typeface="微软雅黑"/>
              </a:rPr>
              <a:t>入境边境游(政策窗口)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5285232"/>
            <a:ext cx="3749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222B36"/>
                </a:solidFill>
                <a:latin typeface="微软雅黑"/>
              </a:rPr>
              <a:t>中韩班轮复航跟踪;边境旅游试验区申创;跨境线路储备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2743200"/>
            <a:ext cx="3383280" cy="3017520"/>
          </a:xfrm>
          <a:prstGeom prst="roundRect">
            <a:avLst/>
          </a:prstGeom>
          <a:solidFill>
            <a:srgbClr val="0D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58200" y="292608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E8A33D"/>
                </a:solidFill>
                <a:latin typeface="微软雅黑"/>
              </a:rPr>
              <a:t>流量 → 留量 → 复游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3346704"/>
            <a:ext cx="29718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100" b="0">
                <a:solidFill>
                  <a:srgbClr val="FFFFFF"/>
                </a:solidFill>
                <a:latin typeface="微软雅黑"/>
              </a:rPr>
              <a:t>① 延长停留:夜产品+通票+营地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100" b="0">
                <a:solidFill>
                  <a:srgbClr val="FFFFFF"/>
                </a:solidFill>
                <a:latin typeface="微软雅黑"/>
              </a:rPr>
              <a:t>② 提高客单:二消场景+体验溢价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100" b="0">
                <a:solidFill>
                  <a:srgbClr val="FFFFFF"/>
                </a:solidFill>
                <a:latin typeface="微软雅黑"/>
              </a:rPr>
              <a:t>③ 制造复游:集章权益+季节限定+旅居身份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微软雅黑"/>
              </a:rPr>
              <a:t>④ 放大口碑:服务兜底+UGC激励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144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微软雅黑"/>
              </a:rPr>
              <a:t>PART 05 · 客群与更高维度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30352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0D2E52"/>
                </a:solidFill>
                <a:latin typeface="微软雅黑"/>
              </a:rPr>
              <a:t>银发经济:丹东的「第二人口」战略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2412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E6B7A"/>
                </a:solidFill>
                <a:latin typeface="微软雅黑"/>
              </a:rPr>
              <a:t>用旅居人口对冲户籍人口流出——淡季、房产、就业三个问题一并求解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C9D3DE"/>
                </a:solidFill>
                <a:latin typeface="微软雅黑"/>
              </a:rPr>
              <a:t>丹东城市旅游价值提升策略报告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C9D3DE"/>
                </a:solidFill>
                <a:latin typeface="微软雅黑"/>
              </a:rPr>
              <a:t>29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600200"/>
            <a:ext cx="3611880" cy="3977639"/>
          </a:xfrm>
          <a:prstGeom prst="roundRect">
            <a:avLst/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600200"/>
            <a:ext cx="3611880" cy="109728"/>
          </a:xfrm>
          <a:prstGeom prst="rect">
            <a:avLst/>
          </a:prstGeom>
          <a:solidFill>
            <a:srgbClr val="2E8B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28800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>
                <a:solidFill>
                  <a:srgbClr val="2E8B83"/>
                </a:solidFill>
                <a:latin typeface="微软雅黑"/>
              </a:rPr>
              <a:t>为什么是丹东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286000"/>
            <a:ext cx="32461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050" b="1">
                <a:solidFill>
                  <a:srgbClr val="2E8B83"/>
                </a:solidFill>
                <a:latin typeface="微软雅黑"/>
              </a:rPr>
              <a:t>· </a:t>
            </a:r>
            <a:r>
              <a:rPr sz="1050" b="0">
                <a:solidFill>
                  <a:srgbClr val="222B36"/>
                </a:solidFill>
                <a:latin typeface="微软雅黑"/>
              </a:rPr>
              <a:t>夏季凉爽宜居,是南方「候鸟」避暑的天然目的地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050" b="1">
                <a:solidFill>
                  <a:srgbClr val="2E8B83"/>
                </a:solidFill>
                <a:latin typeface="微软雅黑"/>
              </a:rPr>
              <a:t>· </a:t>
            </a:r>
            <a:r>
              <a:rPr sz="1050" b="0">
                <a:solidFill>
                  <a:srgbClr val="222B36"/>
                </a:solidFill>
                <a:latin typeface="微软雅黑"/>
              </a:rPr>
              <a:t>五龙背/东汤温泉+江海景观,康养资源组合东北少有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050" b="1">
                <a:solidFill>
                  <a:srgbClr val="2E8B83"/>
                </a:solidFill>
                <a:latin typeface="微软雅黑"/>
              </a:rPr>
              <a:t>· </a:t>
            </a:r>
            <a:r>
              <a:rPr sz="1050" b="0">
                <a:solidFill>
                  <a:srgbClr val="222B36"/>
                </a:solidFill>
                <a:latin typeface="微软雅黑"/>
              </a:rPr>
              <a:t>房价与生活成本低,存量住宅充裕,旅居性价比全国前列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050" b="1">
                <a:solidFill>
                  <a:srgbClr val="2E8B83"/>
                </a:solidFill>
                <a:latin typeface="微软雅黑"/>
              </a:rPr>
              <a:t>· </a:t>
            </a:r>
            <a:r>
              <a:rPr sz="1050" b="0">
                <a:solidFill>
                  <a:srgbClr val="222B36"/>
                </a:solidFill>
                <a:latin typeface="微软雅黑"/>
              </a:rPr>
              <a:t>医疗基础尚可,毗邻沈阳大连优质医疗圈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8536" y="1600200"/>
            <a:ext cx="3611880" cy="3977639"/>
          </a:xfrm>
          <a:prstGeom prst="roundRect">
            <a:avLst/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88536" y="1600200"/>
            <a:ext cx="3611880" cy="109728"/>
          </a:xfrm>
          <a:prstGeom prst="rect">
            <a:avLst/>
          </a:prstGeom>
          <a:solidFill>
            <a:srgbClr val="144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71416" y="1828800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>
                <a:solidFill>
                  <a:srgbClr val="14487F"/>
                </a:solidFill>
                <a:latin typeface="微软雅黑"/>
              </a:rPr>
              <a:t>产品与供给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1416" y="2286000"/>
            <a:ext cx="32461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050" b="1">
                <a:solidFill>
                  <a:srgbClr val="14487F"/>
                </a:solidFill>
                <a:latin typeface="微软雅黑"/>
              </a:rPr>
              <a:t>· </a:t>
            </a:r>
            <a:r>
              <a:rPr sz="1050" b="0">
                <a:solidFill>
                  <a:srgbClr val="222B36"/>
                </a:solidFill>
                <a:latin typeface="微软雅黑"/>
              </a:rPr>
              <a:t>「温泉+海岛+江景」月付旅居套餐,按30/60/90天设计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050" b="1">
                <a:solidFill>
                  <a:srgbClr val="14487F"/>
                </a:solidFill>
                <a:latin typeface="微软雅黑"/>
              </a:rPr>
              <a:t>· </a:t>
            </a:r>
            <a:r>
              <a:rPr sz="1050" b="0">
                <a:solidFill>
                  <a:srgbClr val="222B36"/>
                </a:solidFill>
                <a:latin typeface="微软雅黑"/>
              </a:rPr>
              <a:t>存量住宅改造候鸟公寓,统一托管运营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050" b="1">
                <a:solidFill>
                  <a:srgbClr val="14487F"/>
                </a:solidFill>
                <a:latin typeface="微软雅黑"/>
              </a:rPr>
              <a:t>· </a:t>
            </a:r>
            <a:r>
              <a:rPr sz="1050" b="0">
                <a:solidFill>
                  <a:srgbClr val="222B36"/>
                </a:solidFill>
                <a:latin typeface="微软雅黑"/>
              </a:rPr>
              <a:t>旅居者市民待遇包:公交/图书馆/社区医疗/老年大学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050" b="1">
                <a:solidFill>
                  <a:srgbClr val="14487F"/>
                </a:solidFill>
                <a:latin typeface="微软雅黑"/>
              </a:rPr>
              <a:t>· </a:t>
            </a:r>
            <a:r>
              <a:rPr sz="1050" b="0">
                <a:solidFill>
                  <a:srgbClr val="222B36"/>
                </a:solidFill>
                <a:latin typeface="微软雅黑"/>
              </a:rPr>
              <a:t>医养结合:体检、慢病管理、紧急救护网络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0144" y="1600200"/>
            <a:ext cx="3611880" cy="3977639"/>
          </a:xfrm>
          <a:prstGeom prst="roundRect">
            <a:avLst/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0144" y="1600200"/>
            <a:ext cx="3611880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3024" y="1828800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>
                <a:solidFill>
                  <a:srgbClr val="E8A33D"/>
                </a:solidFill>
                <a:latin typeface="微软雅黑"/>
              </a:rPr>
              <a:t>城市收益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3024" y="2286000"/>
            <a:ext cx="32461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050" b="1">
                <a:solidFill>
                  <a:srgbClr val="E8A33D"/>
                </a:solidFill>
                <a:latin typeface="微软雅黑"/>
              </a:rPr>
              <a:t>· </a:t>
            </a:r>
            <a:r>
              <a:rPr sz="1050" b="0">
                <a:solidFill>
                  <a:srgbClr val="222B36"/>
                </a:solidFill>
                <a:latin typeface="微软雅黑"/>
              </a:rPr>
              <a:t>平峰季稳定现金流,「淡季不淡」结构性改善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050" b="1">
                <a:solidFill>
                  <a:srgbClr val="E8A33D"/>
                </a:solidFill>
                <a:latin typeface="微软雅黑"/>
              </a:rPr>
              <a:t>· </a:t>
            </a:r>
            <a:r>
              <a:rPr sz="1050" b="0">
                <a:solidFill>
                  <a:srgbClr val="222B36"/>
                </a:solidFill>
                <a:latin typeface="微软雅黑"/>
              </a:rPr>
              <a:t>盘活闲置房产,稳定物业与社区服务就业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050" b="1">
                <a:solidFill>
                  <a:srgbClr val="E8A33D"/>
                </a:solidFill>
                <a:latin typeface="微软雅黑"/>
              </a:rPr>
              <a:t>· </a:t>
            </a:r>
            <a:r>
              <a:rPr sz="1050" b="0">
                <a:solidFill>
                  <a:srgbClr val="222B36"/>
                </a:solidFill>
                <a:latin typeface="微软雅黑"/>
              </a:rPr>
              <a:t>旅居者成为口碑节点,带动亲友探访式旅游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050" b="1">
                <a:solidFill>
                  <a:srgbClr val="E8A33D"/>
                </a:solidFill>
                <a:latin typeface="微软雅黑"/>
              </a:rPr>
              <a:t>· </a:t>
            </a:r>
            <a:r>
              <a:rPr sz="1050" b="0">
                <a:solidFill>
                  <a:srgbClr val="222B36"/>
                </a:solidFill>
                <a:latin typeface="微软雅黑"/>
              </a:rPr>
              <a:t>部分旅居转定居,直接贡献人口回流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760720"/>
            <a:ext cx="11064240" cy="475488"/>
          </a:xfrm>
          <a:prstGeom prst="roundRect">
            <a:avLst/>
          </a:prstGeom>
          <a:solidFill>
            <a:srgbClr val="FB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760720"/>
            <a:ext cx="1073505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B83A2E"/>
                </a:solidFill>
                <a:latin typeface="微软雅黑"/>
              </a:rPr>
              <a:t>观点  </a:t>
            </a:r>
            <a:r>
              <a:rPr sz="1150" b="0">
                <a:solidFill>
                  <a:srgbClr val="222B36"/>
                </a:solidFill>
                <a:latin typeface="微软雅黑"/>
              </a:rPr>
              <a:t>银发旅居的本质是「把人留下来生活」——它对城市GDP、就业与人口结构的贡献,可能超过观光旅游本身。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144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微软雅黑"/>
              </a:rPr>
              <a:t>PART 05 · 客群与更高维度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30352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0D2E52"/>
                </a:solidFill>
                <a:latin typeface="微软雅黑"/>
              </a:rPr>
              <a:t>人口回流与城市更新:旅游作为城市杠杆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2412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E6B7A"/>
                </a:solidFill>
                <a:latin typeface="微软雅黑"/>
              </a:rPr>
              <a:t>文旅不只是产业,更是重新配置城市资产与人口的抓手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C9D3DE"/>
                </a:solidFill>
                <a:latin typeface="微软雅黑"/>
              </a:rPr>
              <a:t>丹东城市旅游价值提升策略报告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C9D3DE"/>
                </a:solidFill>
                <a:latin typeface="微软雅黑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54480"/>
            <a:ext cx="5394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D2E52"/>
                </a:solidFill>
                <a:latin typeface="微软雅黑"/>
              </a:rPr>
              <a:t>人口回流:让旅游岗位接住返乡青年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011680"/>
            <a:ext cx="5394960" cy="1170432"/>
          </a:xfrm>
          <a:prstGeom prst="roundRect">
            <a:avLst/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03120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2E8B83"/>
                </a:solidFill>
                <a:latin typeface="微软雅黑"/>
              </a:rPr>
              <a:t>文旅创业生态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468880"/>
            <a:ext cx="4983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222B36"/>
                </a:solidFill>
                <a:latin typeface="微软雅黑"/>
              </a:rPr>
              <a:t>民宿/营地/餐饮/文创/内容创作者的小微创业扶持基金与轻审批;「青年返乡合伙人」计划,优先给流量位与租金减免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310128"/>
            <a:ext cx="5394960" cy="1170432"/>
          </a:xfrm>
          <a:prstGeom prst="roundRect">
            <a:avLst/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01568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2E8B83"/>
                </a:solidFill>
                <a:latin typeface="微软雅黑"/>
              </a:rPr>
              <a:t>就业带动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767328"/>
            <a:ext cx="4983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222B36"/>
                </a:solidFill>
                <a:latin typeface="微软雅黑"/>
              </a:rPr>
              <a:t>自驾服务、康养照护、演艺文创等新岗位定向培训;文旅从业者技能认证与体面薪酬示范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08576"/>
            <a:ext cx="5394960" cy="1170432"/>
          </a:xfrm>
          <a:prstGeom prst="roundRect">
            <a:avLst/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700016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2E8B83"/>
                </a:solidFill>
                <a:latin typeface="微软雅黑"/>
              </a:rPr>
              <a:t>新丹东人政策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065776"/>
            <a:ext cx="4983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222B36"/>
                </a:solidFill>
                <a:latin typeface="微软雅黑"/>
              </a:rPr>
              <a:t>旅居转定居的落户/购房/医保衔接便利;引进运营人才「一事一议」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554480"/>
            <a:ext cx="5394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D2E52"/>
                </a:solidFill>
                <a:latin typeface="微软雅黑"/>
              </a:rPr>
              <a:t>城市更新:让旅游流量反哺城市资产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011680"/>
            <a:ext cx="5394960" cy="1170432"/>
          </a:xfrm>
          <a:prstGeom prst="roundRect">
            <a:avLst/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2103120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B83A2E"/>
                </a:solidFill>
                <a:latin typeface="微软雅黑"/>
              </a:rPr>
              <a:t>滨江带更新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2468880"/>
            <a:ext cx="4983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222B36"/>
                </a:solidFill>
                <a:latin typeface="微软雅黑"/>
              </a:rPr>
              <a:t>老城滨江生活岸线贯通,工业遗存(轻纺记忆)改造为展演/市集/民宿空间,「微更新+运营前置」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310128"/>
            <a:ext cx="5394960" cy="1170432"/>
          </a:xfrm>
          <a:prstGeom prst="roundRect">
            <a:avLst/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3952" y="3401568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B83A2E"/>
                </a:solidFill>
                <a:latin typeface="微软雅黑"/>
              </a:rPr>
              <a:t>老街区文旅化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3767328"/>
            <a:ext cx="4983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222B36"/>
                </a:solidFill>
                <a:latin typeface="微软雅黑"/>
              </a:rPr>
              <a:t>安东老城肌理保护性利用,避免仿古一条街同质化;鼓励原住民业态参与,保留生活气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608576"/>
            <a:ext cx="5394960" cy="1170432"/>
          </a:xfrm>
          <a:prstGeom prst="roundRect">
            <a:avLst/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4700016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B83A2E"/>
                </a:solidFill>
                <a:latin typeface="微软雅黑"/>
              </a:rPr>
              <a:t>闲置资产盘活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2" y="5065776"/>
            <a:ext cx="4983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222B36"/>
                </a:solidFill>
                <a:latin typeface="微软雅黑"/>
              </a:rPr>
              <a:t>闲置厂房/楼宇转文旅新空间白名单制度;存量住宅→候鸟公寓的合规改造通道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5943600"/>
            <a:ext cx="11064240" cy="475488"/>
          </a:xfrm>
          <a:prstGeom prst="roundRect">
            <a:avLst/>
          </a:prstGeom>
          <a:solidFill>
            <a:srgbClr val="FB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943600"/>
            <a:ext cx="1073505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B83A2E"/>
                </a:solidFill>
                <a:latin typeface="微软雅黑"/>
              </a:rPr>
              <a:t>观点  </a:t>
            </a:r>
            <a:r>
              <a:rPr sz="1150" b="0">
                <a:solidFill>
                  <a:srgbClr val="222B36"/>
                </a:solidFill>
                <a:latin typeface="微软雅黑"/>
              </a:rPr>
              <a:t>产业联动:农文旅(草莓/板栗/海产深加工伴手礼)+边贸购物+枢纽经济(高铁+双国道),让旅游成为多产业的流量入口。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E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44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554480"/>
            <a:ext cx="1371600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2743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E8A33D"/>
                </a:solidFill>
                <a:latin typeface="微软雅黑"/>
              </a:rPr>
              <a:t>PART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微软雅黑"/>
              </a:rPr>
              <a:t>实施路径与保障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794760"/>
            <a:ext cx="98755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50" b="0">
                <a:solidFill>
                  <a:srgbClr val="C7D6E8"/>
                </a:solidFill>
                <a:latin typeface="微软雅黑"/>
              </a:rPr>
              <a:t>—  三阶段推进:速赢 → 系统 → 深化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50" b="0">
                <a:solidFill>
                  <a:srgbClr val="C7D6E8"/>
                </a:solidFill>
                <a:latin typeface="微软雅黑"/>
              </a:rPr>
              <a:t>—  机制:平台公司+专业运营团队+民营业态生态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50" b="0">
                <a:solidFill>
                  <a:srgbClr val="C7D6E8"/>
                </a:solidFill>
                <a:latin typeface="微软雅黑"/>
              </a:rPr>
              <a:t>—  风险边界:政策敏感性 · 叙事庄重底线 · 季节现金流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0080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FA6C0"/>
                </a:solidFill>
                <a:latin typeface="微软雅黑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144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微软雅黑"/>
              </a:rPr>
              <a:t>PART 06 · 实施路径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30352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0D2E52"/>
                </a:solidFill>
                <a:latin typeface="微软雅黑"/>
              </a:rPr>
              <a:t>三阶段路线图:先声量,后体系,再旗舰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C9D3DE"/>
                </a:solidFill>
                <a:latin typeface="微软雅黑"/>
              </a:rPr>
              <a:t>丹东城市旅游价值提升策略报告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C9D3DE"/>
                </a:solidFill>
                <a:latin typeface="微软雅黑"/>
              </a:rPr>
              <a:t>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54480"/>
            <a:ext cx="3611880" cy="777240"/>
          </a:xfrm>
          <a:prstGeom prst="round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2763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第一阶段 · 速赢起势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75104"/>
            <a:ext cx="3246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2F5FA"/>
                </a:solidFill>
                <a:latin typeface="微软雅黑"/>
              </a:rPr>
              <a:t>0–12个月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450592"/>
            <a:ext cx="3611880" cy="3291840"/>
          </a:xfrm>
          <a:prstGeom prst="roundRect">
            <a:avLst/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606040"/>
            <a:ext cx="324612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050" b="1">
                <a:solidFill>
                  <a:srgbClr val="E8A33D"/>
                </a:solidFill>
                <a:latin typeface="微软雅黑"/>
              </a:rPr>
              <a:t>· </a:t>
            </a:r>
            <a:r>
              <a:rPr sz="1050" b="0">
                <a:solidFill>
                  <a:srgbClr val="222B36"/>
                </a:solidFill>
                <a:latin typeface="微软雅黑"/>
              </a:rPr>
              <a:t>零公里仪式系统+起点护照上线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050" b="1">
                <a:solidFill>
                  <a:srgbClr val="E8A33D"/>
                </a:solidFill>
                <a:latin typeface="微软雅黑"/>
              </a:rPr>
              <a:t>· </a:t>
            </a:r>
            <a:r>
              <a:rPr sz="1050" b="0">
                <a:solidFill>
                  <a:srgbClr val="222B36"/>
                </a:solidFill>
                <a:latin typeface="微软雅黑"/>
              </a:rPr>
              <a:t>City Pass通票与淡季极限定价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050" b="1">
                <a:solidFill>
                  <a:srgbClr val="E8A33D"/>
                </a:solidFill>
                <a:latin typeface="微软雅黑"/>
              </a:rPr>
              <a:t>· </a:t>
            </a:r>
            <a:r>
              <a:rPr sz="1050" b="0">
                <a:solidFill>
                  <a:srgbClr val="222B36"/>
                </a:solidFill>
                <a:latin typeface="微软雅黑"/>
              </a:rPr>
              <a:t>沿江驿站/标识/慢行道补短板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050" b="1">
                <a:solidFill>
                  <a:srgbClr val="E8A33D"/>
                </a:solidFill>
                <a:latin typeface="微软雅黑"/>
              </a:rPr>
              <a:t>· </a:t>
            </a:r>
            <a:r>
              <a:rPr sz="1050" b="0">
                <a:solidFill>
                  <a:srgbClr val="222B36"/>
                </a:solidFill>
                <a:latin typeface="微软雅黑"/>
              </a:rPr>
              <a:t>事件日历落地(自驾集结/马拉松/银杏周/开海节)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050" b="1">
                <a:solidFill>
                  <a:srgbClr val="E8A33D"/>
                </a:solidFill>
                <a:latin typeface="微软雅黑"/>
              </a:rPr>
              <a:t>· </a:t>
            </a:r>
            <a:r>
              <a:rPr sz="1050" b="0">
                <a:solidFill>
                  <a:srgbClr val="222B36"/>
                </a:solidFill>
                <a:latin typeface="微软雅黑"/>
              </a:rPr>
              <a:t>「不让游客受委屈」服务承诺与先行赔付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8536" y="1554480"/>
            <a:ext cx="3611880" cy="777240"/>
          </a:xfrm>
          <a:prstGeom prst="roundRect">
            <a:avLst/>
          </a:prstGeom>
          <a:solidFill>
            <a:srgbClr val="144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71416" y="162763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第二阶段 · 系统建设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1416" y="1975104"/>
            <a:ext cx="3246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2F5FA"/>
                </a:solidFill>
                <a:latin typeface="微软雅黑"/>
              </a:rPr>
              <a:t>1–3年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88536" y="2450592"/>
            <a:ext cx="3611880" cy="3291840"/>
          </a:xfrm>
          <a:prstGeom prst="roundRect">
            <a:avLst/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71416" y="2606040"/>
            <a:ext cx="324612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050" b="1">
                <a:solidFill>
                  <a:srgbClr val="14487F"/>
                </a:solidFill>
                <a:latin typeface="微软雅黑"/>
              </a:rPr>
              <a:t>· </a:t>
            </a:r>
            <a:r>
              <a:rPr sz="1050" b="0">
                <a:solidFill>
                  <a:srgbClr val="222B36"/>
                </a:solidFill>
                <a:latin typeface="微软雅黑"/>
              </a:rPr>
              <a:t>虎山—断桥「一带四节点」整体运营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050" b="1">
                <a:solidFill>
                  <a:srgbClr val="14487F"/>
                </a:solidFill>
                <a:latin typeface="微软雅黑"/>
              </a:rPr>
              <a:t>· </a:t>
            </a:r>
            <a:r>
              <a:rPr sz="1050" b="0">
                <a:solidFill>
                  <a:srgbClr val="222B36"/>
                </a:solidFill>
                <a:latin typeface="微软雅黑"/>
              </a:rPr>
              <a:t>房车营地网络与自驾服务中心连锁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050" b="1">
                <a:solidFill>
                  <a:srgbClr val="14487F"/>
                </a:solidFill>
                <a:latin typeface="微软雅黑"/>
              </a:rPr>
              <a:t>· </a:t>
            </a:r>
            <a:r>
              <a:rPr sz="1050" b="0">
                <a:solidFill>
                  <a:srgbClr val="222B36"/>
                </a:solidFill>
                <a:latin typeface="微软雅黑"/>
              </a:rPr>
              <a:t>银发旅居产品与候鸟公寓规模化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050" b="1">
                <a:solidFill>
                  <a:srgbClr val="14487F"/>
                </a:solidFill>
                <a:latin typeface="微软雅黑"/>
              </a:rPr>
              <a:t>· </a:t>
            </a:r>
            <a:r>
              <a:rPr sz="1050" b="0">
                <a:solidFill>
                  <a:srgbClr val="222B36"/>
                </a:solidFill>
                <a:latin typeface="微软雅黑"/>
              </a:rPr>
              <a:t>安东老街NPC演艺常态化+夜航夜市夜演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050" b="1">
                <a:solidFill>
                  <a:srgbClr val="14487F"/>
                </a:solidFill>
                <a:latin typeface="微软雅黑"/>
              </a:rPr>
              <a:t>· </a:t>
            </a:r>
            <a:r>
              <a:rPr sz="1050" b="0">
                <a:solidFill>
                  <a:srgbClr val="222B36"/>
                </a:solidFill>
                <a:latin typeface="微软雅黑"/>
              </a:rPr>
              <a:t>G331沿线城市联盟与通票互认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0144" y="1554480"/>
            <a:ext cx="3611880" cy="777240"/>
          </a:xfrm>
          <a:prstGeom prst="roundRect">
            <a:avLst/>
          </a:prstGeom>
          <a:solidFill>
            <a:srgbClr val="B8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3024" y="162763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第三阶段 · 旗舰深化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3024" y="1975104"/>
            <a:ext cx="3246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2F5FA"/>
                </a:solidFill>
                <a:latin typeface="微软雅黑"/>
              </a:rPr>
              <a:t>3–5年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10144" y="2450592"/>
            <a:ext cx="3611880" cy="3291840"/>
          </a:xfrm>
          <a:prstGeom prst="roundRect">
            <a:avLst/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93024" y="2606040"/>
            <a:ext cx="324612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050" b="1">
                <a:solidFill>
                  <a:srgbClr val="B83A2E"/>
                </a:solidFill>
                <a:latin typeface="微软雅黑"/>
              </a:rPr>
              <a:t>· </a:t>
            </a:r>
            <a:r>
              <a:rPr sz="1050" b="0">
                <a:solidFill>
                  <a:srgbClr val="222B36"/>
                </a:solidFill>
                <a:latin typeface="微软雅黑"/>
              </a:rPr>
              <a:t>鸭绿江夜游演艺/1950沉浸剧场旗舰项目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050" b="1">
                <a:solidFill>
                  <a:srgbClr val="B83A2E"/>
                </a:solidFill>
                <a:latin typeface="微软雅黑"/>
              </a:rPr>
              <a:t>· </a:t>
            </a:r>
            <a:r>
              <a:rPr sz="1050" b="0">
                <a:solidFill>
                  <a:srgbClr val="222B36"/>
                </a:solidFill>
                <a:latin typeface="微软雅黑"/>
              </a:rPr>
              <a:t>创建国家边境旅游试验区,入境产品上线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050" b="1">
                <a:solidFill>
                  <a:srgbClr val="B83A2E"/>
                </a:solidFill>
                <a:latin typeface="微软雅黑"/>
              </a:rPr>
              <a:t>· </a:t>
            </a:r>
            <a:r>
              <a:rPr sz="1050" b="0">
                <a:solidFill>
                  <a:srgbClr val="222B36"/>
                </a:solidFill>
                <a:latin typeface="微软雅黑"/>
              </a:rPr>
              <a:t>滨江片区级城市更新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050" b="1">
                <a:solidFill>
                  <a:srgbClr val="B83A2E"/>
                </a:solidFill>
                <a:latin typeface="微软雅黑"/>
              </a:rPr>
              <a:t>· </a:t>
            </a:r>
            <a:r>
              <a:rPr sz="1050" b="0">
                <a:solidFill>
                  <a:srgbClr val="222B36"/>
                </a:solidFill>
                <a:latin typeface="微软雅黑"/>
              </a:rPr>
              <a:t>冲击5A级景区与国家级旅游度假区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050" b="1">
                <a:solidFill>
                  <a:srgbClr val="B83A2E"/>
                </a:solidFill>
                <a:latin typeface="微软雅黑"/>
              </a:rPr>
              <a:t>· </a:t>
            </a:r>
            <a:r>
              <a:rPr sz="1050" b="0">
                <a:solidFill>
                  <a:srgbClr val="222B36"/>
                </a:solidFill>
                <a:latin typeface="微软雅黑"/>
              </a:rPr>
              <a:t>「旅居转定居」人口政策闭环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144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微软雅黑"/>
              </a:rPr>
              <a:t>PART 06 · 实施路径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30352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0D2E52"/>
                </a:solidFill>
                <a:latin typeface="微软雅黑"/>
              </a:rPr>
              <a:t>机制保障与风险边界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C9D3DE"/>
                </a:solidFill>
                <a:latin typeface="微软雅黑"/>
              </a:rPr>
              <a:t>丹东城市旅游价值提升策略报告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C9D3DE"/>
                </a:solidFill>
                <a:latin typeface="微软雅黑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36192"/>
            <a:ext cx="5394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D2E52"/>
                </a:solidFill>
                <a:latin typeface="微软雅黑"/>
              </a:rPr>
              <a:t>运营机制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965960"/>
            <a:ext cx="539496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900" b="0">
                <a:solidFill>
                  <a:srgbClr val="E8A33D"/>
                </a:solidFill>
                <a:latin typeface="微软雅黑"/>
              </a:rPr>
              <a:t>● </a:t>
            </a:r>
            <a:r>
              <a:rPr sz="1200" b="1">
                <a:solidFill>
                  <a:srgbClr val="0D2E52"/>
                </a:solidFill>
                <a:latin typeface="微软雅黑"/>
              </a:rPr>
              <a:t>政企分工:</a:t>
            </a:r>
            <a:r>
              <a:rPr sz="1200" b="0">
                <a:solidFill>
                  <a:srgbClr val="222B36"/>
                </a:solidFill>
                <a:latin typeface="微软雅黑"/>
              </a:rPr>
              <a:t>管委会管资源与规则,平台公司管资产,专业运营团队管产品与内容——学河南引入市场化运营主体。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900" b="0">
                <a:solidFill>
                  <a:srgbClr val="E8A33D"/>
                </a:solidFill>
                <a:latin typeface="微软雅黑"/>
              </a:rPr>
              <a:t>● </a:t>
            </a:r>
            <a:r>
              <a:rPr sz="1200" b="1">
                <a:solidFill>
                  <a:srgbClr val="0D2E52"/>
                </a:solidFill>
                <a:latin typeface="微软雅黑"/>
              </a:rPr>
              <a:t>民营生态:</a:t>
            </a:r>
            <a:r>
              <a:rPr sz="1200" b="0">
                <a:solidFill>
                  <a:srgbClr val="222B36"/>
                </a:solidFill>
                <a:latin typeface="微软雅黑"/>
              </a:rPr>
              <a:t>餐饮/民宿/营地/文创放开给民营与个体,政府做基础设施与流量分发,不与民争利。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900" b="0">
                <a:solidFill>
                  <a:srgbClr val="E8A33D"/>
                </a:solidFill>
                <a:latin typeface="微软雅黑"/>
              </a:rPr>
              <a:t>● </a:t>
            </a:r>
            <a:r>
              <a:rPr sz="1200" b="1">
                <a:solidFill>
                  <a:srgbClr val="0D2E52"/>
                </a:solidFill>
                <a:latin typeface="微软雅黑"/>
              </a:rPr>
              <a:t>数据公示:</a:t>
            </a:r>
            <a:r>
              <a:rPr sz="1200" b="0">
                <a:solidFill>
                  <a:srgbClr val="222B36"/>
                </a:solidFill>
                <a:latin typeface="微软雅黑"/>
              </a:rPr>
              <a:t>客流/收入/投诉数据定期公开,建立经营信任(参考万岁山做法)。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900" b="0">
                <a:solidFill>
                  <a:srgbClr val="E8A33D"/>
                </a:solidFill>
                <a:latin typeface="微软雅黑"/>
              </a:rPr>
              <a:t>● </a:t>
            </a:r>
            <a:r>
              <a:rPr sz="1200" b="1">
                <a:solidFill>
                  <a:srgbClr val="0D2E52"/>
                </a:solidFill>
                <a:latin typeface="微软雅黑"/>
              </a:rPr>
              <a:t>全民动员:</a:t>
            </a:r>
            <a:r>
              <a:rPr sz="1200" b="0">
                <a:solidFill>
                  <a:srgbClr val="222B36"/>
                </a:solidFill>
                <a:latin typeface="微软雅黑"/>
              </a:rPr>
              <a:t>「人人都是丹东城市形象大使」;出租车/餐饮/住宿服务规范与暗访机制。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536192"/>
            <a:ext cx="5394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B83A2E"/>
                </a:solidFill>
                <a:latin typeface="微软雅黑"/>
              </a:rPr>
              <a:t>风险与边界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965960"/>
            <a:ext cx="539496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900" b="0">
                <a:solidFill>
                  <a:srgbClr val="E8A33D"/>
                </a:solidFill>
                <a:latin typeface="微软雅黑"/>
              </a:rPr>
              <a:t>● </a:t>
            </a:r>
            <a:r>
              <a:rPr sz="1200" b="1">
                <a:solidFill>
                  <a:srgbClr val="0D2E52"/>
                </a:solidFill>
                <a:latin typeface="微软雅黑"/>
              </a:rPr>
              <a:t>涉朝敏感性:</a:t>
            </a:r>
            <a:r>
              <a:rPr sz="1200" b="0">
                <a:solidFill>
                  <a:srgbClr val="222B36"/>
                </a:solidFill>
                <a:latin typeface="微软雅黑"/>
              </a:rPr>
              <a:t>跨境元素严格限定在合规观光范畴;入境/跨境产品跟随国家政策窗口,不抢跑。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900" b="0">
                <a:solidFill>
                  <a:srgbClr val="E8A33D"/>
                </a:solidFill>
                <a:latin typeface="微软雅黑"/>
              </a:rPr>
              <a:t>● </a:t>
            </a:r>
            <a:r>
              <a:rPr sz="1200" b="1">
                <a:solidFill>
                  <a:srgbClr val="0D2E52"/>
                </a:solidFill>
                <a:latin typeface="微软雅黑"/>
              </a:rPr>
              <a:t>红色叙事底线:</a:t>
            </a:r>
            <a:r>
              <a:rPr sz="1200" b="0">
                <a:solidFill>
                  <a:srgbClr val="222B36"/>
                </a:solidFill>
                <a:latin typeface="微软雅黑"/>
              </a:rPr>
              <a:t>抗美援朝主题坚持庄重表达,严禁过度娱乐化;沉浸式≠游乐化。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900" b="0">
                <a:solidFill>
                  <a:srgbClr val="E8A33D"/>
                </a:solidFill>
                <a:latin typeface="微软雅黑"/>
              </a:rPr>
              <a:t>● </a:t>
            </a:r>
            <a:r>
              <a:rPr sz="1200" b="1">
                <a:solidFill>
                  <a:srgbClr val="0D2E52"/>
                </a:solidFill>
                <a:latin typeface="微软雅黑"/>
              </a:rPr>
              <a:t>季节现金流:</a:t>
            </a:r>
            <a:r>
              <a:rPr sz="1200" b="0">
                <a:solidFill>
                  <a:srgbClr val="222B36"/>
                </a:solidFill>
                <a:latin typeface="微软雅黑"/>
              </a:rPr>
              <a:t>重资产项目谨慎上马,优先轻资产内容与存量改造;用旅居与冬季产品平滑现金流。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900" b="0">
                <a:solidFill>
                  <a:srgbClr val="E8A33D"/>
                </a:solidFill>
                <a:latin typeface="微软雅黑"/>
              </a:rPr>
              <a:t>● </a:t>
            </a:r>
            <a:r>
              <a:rPr sz="1200" b="1">
                <a:solidFill>
                  <a:srgbClr val="0D2E52"/>
                </a:solidFill>
                <a:latin typeface="微软雅黑"/>
              </a:rPr>
              <a:t>同质化风险:</a:t>
            </a:r>
            <a:r>
              <a:rPr sz="1200" b="0">
                <a:solidFill>
                  <a:srgbClr val="222B36"/>
                </a:solidFill>
                <a:latin typeface="微软雅黑"/>
              </a:rPr>
              <a:t>拒绝「仿古街+灯光秀」通用模板,所有产品必须回答「为什么只能在丹东」。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E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10312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微软雅黑"/>
              </a:rPr>
              <a:t>从流量到留量,从起点到目的地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15468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600" b="0">
                <a:solidFill>
                  <a:srgbClr val="C7D6E8"/>
                </a:solidFill>
                <a:latin typeface="微软雅黑"/>
              </a:rPr>
              <a:t>丹东不需要成为第二个哈尔滨——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0">
                <a:solidFill>
                  <a:srgbClr val="C7D6E8"/>
                </a:solidFill>
                <a:latin typeface="微软雅黑"/>
              </a:rPr>
              <a:t>它只需要成为中国边境旅行无可替代的第一站,和让人愿意住下来的暖城。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84632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250" b="0">
                <a:solidFill>
                  <a:srgbClr val="E8A33D"/>
                </a:solidFill>
                <a:latin typeface="微软雅黑"/>
              </a:rPr>
              <a:t>下一步:确认本报告框架与观点后,可深化为——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E8A33D"/>
                </a:solidFill>
                <a:latin typeface="微软雅黑"/>
              </a:rPr>
              <a:t>① 分项行动清单与责任分工建议    ② 重点项目概念方案    ③ 投入产出与客流测算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035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8FA6C0"/>
                </a:solidFill>
                <a:latin typeface="微软雅黑"/>
              </a:rPr>
              <a:t>鸭绿江畔 · 丹东真好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