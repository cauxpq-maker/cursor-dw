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5035"/>
          </a:solidFill>
          <a:ln w="12700">
            <a:solidFill>
              <a:srgbClr val="D4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spc="120" kern="0" dirty="0">
                <a:solidFill>
                  <a:srgbClr val="7B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DANDONG · BORDER CITY TOURISM STRATEGY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9966960" y="644652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7B827B"/>
                </a:solidFill>
              </a:rPr>
              <a:t>政府研讨版｜2026.07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5035"/>
          </a:solidFill>
          <a:ln w="12700">
            <a:solidFill>
              <a:srgbClr val="D45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480000">
            <a:off x="7818120" y="-960120"/>
            <a:ext cx="5029200" cy="5029200"/>
          </a:xfrm>
          <a:prstGeom prst="arc">
            <a:avLst/>
          </a:prstGeom>
          <a:solidFill>
            <a:srgbClr val="173A3A">
              <a:alpha val="0"/>
            </a:srgbClr>
          </a:solidFill>
          <a:ln w="27940">
            <a:solidFill>
              <a:srgbClr val="D9A441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1100000">
            <a:off x="8641080" y="137160"/>
            <a:ext cx="4160520" cy="4160520"/>
          </a:xfrm>
          <a:prstGeom prst="arc">
            <a:avLst/>
          </a:prstGeom>
          <a:solidFill>
            <a:srgbClr val="173A3A">
              <a:alpha val="0"/>
            </a:srgbClr>
          </a:solidFill>
          <a:ln w="69850">
            <a:solidFill>
              <a:srgbClr val="D45035">
                <a:alpha val="9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5669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DANDONG 2035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234440"/>
            <a:ext cx="7635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丹东城市旅游战略提升与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鸭绿江沿江文旅发展规划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063240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8D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从“边境观光”走向“边境生活方式目的地”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3232" y="3886200"/>
            <a:ext cx="1938528" cy="310896"/>
          </a:xfrm>
          <a:prstGeom prst="roundRect">
            <a:avLst>
              <a:gd name="adj" fmla="val 23529"/>
            </a:avLst>
          </a:prstGeom>
          <a:solidFill>
            <a:srgbClr val="244E4E"/>
          </a:solidFill>
          <a:ln w="12700">
            <a:solidFill>
              <a:srgbClr val="244E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390448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虎山—断桥沿江廊道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79776" y="3886200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244E4E"/>
          </a:solidFill>
          <a:ln w="12700">
            <a:solidFill>
              <a:srgbClr val="244E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52928" y="390448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夜游演艺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005072" y="3886200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244E4E"/>
          </a:solidFill>
          <a:ln w="12700">
            <a:solidFill>
              <a:srgbClr val="244E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78224" y="390448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四季运营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230368" y="3886200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244E4E"/>
          </a:solidFill>
          <a:ln w="12700">
            <a:solidFill>
              <a:srgbClr val="244E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0" y="390448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人口回流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55664" y="3886200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244E4E"/>
          </a:solidFill>
          <a:ln w="12700">
            <a:solidFill>
              <a:srgbClr val="244E4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28816" y="390448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银发经济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394192" y="1417320"/>
            <a:ext cx="3218688" cy="4315968"/>
          </a:xfrm>
          <a:prstGeom prst="rect">
            <a:avLst/>
          </a:prstGeom>
          <a:solidFill>
            <a:srgbClr val="E8E3D9"/>
          </a:solidFill>
          <a:ln w="15240">
            <a:solidFill>
              <a:srgbClr val="D450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68512" y="5321808"/>
            <a:ext cx="2670048" cy="-3493008"/>
          </a:xfrm>
          <a:prstGeom prst="line">
            <a:avLst/>
          </a:prstGeom>
          <a:noFill/>
          <a:ln w="10160">
            <a:solidFill>
              <a:srgbClr val="B6B1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68512" y="1828800"/>
            <a:ext cx="2670048" cy="3493008"/>
          </a:xfrm>
          <a:prstGeom prst="line">
            <a:avLst/>
          </a:prstGeom>
          <a:noFill/>
          <a:ln w="10160">
            <a:solidFill>
              <a:srgbClr val="B6B1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0" y="5221224"/>
            <a:ext cx="2816352" cy="310896"/>
          </a:xfrm>
          <a:prstGeom prst="roundRect">
            <a:avLst/>
          </a:prstGeom>
          <a:solidFill>
            <a:srgbClr val="FFFCF5">
              <a:alpha val="93000"/>
            </a:srgbClr>
          </a:solidFill>
          <a:ln w="12700">
            <a:solidFill>
              <a:srgbClr val="FFFCF5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68512" y="5266944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图片占位｜鸭绿江/断桥城市形象主图</a:t>
            </a:r>
            <a:endParaRPr lang="en-US" sz="68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59161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9C0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政府研讨版｜供下一阶段行动决策讨论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13232" y="62727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391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2026年7月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今天需要形成的，不只是项目清单，而是行动共识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建议以“战略判断—空间抓手—运营机制—近期行动”推进政府讨论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1907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52728" y="17190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趋势判断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52728" y="21488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暑期市场变了，丹东的打法也要变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94360" y="2779776"/>
            <a:ext cx="5074920" cy="0"/>
          </a:xfrm>
          <a:prstGeom prst="line">
            <a:avLst/>
          </a:prstGeom>
          <a:noFill/>
          <a:ln w="12700">
            <a:solidFill>
              <a:srgbClr val="E7E1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0" y="171907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76288" y="17190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战略定位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76288" y="21488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从过境观光走向边境生活方式目的地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6217920" y="2779776"/>
            <a:ext cx="5074920" cy="0"/>
          </a:xfrm>
          <a:prstGeom prst="line">
            <a:avLst/>
          </a:prstGeom>
          <a:noFill/>
          <a:ln w="12700">
            <a:solidFill>
              <a:srgbClr val="E7E1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13639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13639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核心廊道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52728" y="35661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虎山—断桥成为全市文旅第一抓手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594360" y="4197096"/>
            <a:ext cx="5074920" cy="0"/>
          </a:xfrm>
          <a:prstGeom prst="line">
            <a:avLst/>
          </a:prstGeom>
          <a:noFill/>
          <a:ln w="12700">
            <a:solidFill>
              <a:srgbClr val="E7E1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313639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76288" y="313639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夜游四季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76288" y="35661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把白天客流转化为夜晚消费、全年热度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6217920" y="4197096"/>
            <a:ext cx="5074920" cy="0"/>
          </a:xfrm>
          <a:prstGeom prst="line">
            <a:avLst/>
          </a:prstGeom>
          <a:noFill/>
          <a:ln w="12700">
            <a:solidFill>
              <a:srgbClr val="E7E1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55371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52728" y="45537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产品客群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52728" y="49834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组合票、研学、自驾、银发与人口回流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5614416"/>
            <a:ext cx="5074920" cy="0"/>
          </a:xfrm>
          <a:prstGeom prst="line">
            <a:avLst/>
          </a:prstGeom>
          <a:noFill/>
          <a:ln w="12700">
            <a:solidFill>
              <a:srgbClr val="E7E1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455371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876288" y="45537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行动机制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876288" y="49834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90天启动、三阶段推进、跨部门统筹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6217920" y="5614416"/>
            <a:ext cx="5074920" cy="0"/>
          </a:xfrm>
          <a:prstGeom prst="line">
            <a:avLst/>
          </a:prstGeom>
          <a:noFill/>
          <a:ln w="12700">
            <a:solidFill>
              <a:srgbClr val="E7E1D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五句话形成丹东旅游下一阶段行动共识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核心不是再造一个孤立景区，而是重组城市空间、时间和消费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30352" y="1700784"/>
            <a:ext cx="2057400" cy="3474720"/>
          </a:xfrm>
          <a:prstGeom prst="roundRect">
            <a:avLst>
              <a:gd name="adj" fmla="val 2667"/>
            </a:avLst>
          </a:prstGeom>
          <a:solidFill>
            <a:srgbClr val="173A3A"/>
          </a:solidFill>
          <a:ln w="12700">
            <a:solidFill>
              <a:srgbClr val="173A3A"/>
            </a:solidFill>
            <a:prstDash val="solid"/>
          </a:ln>
          <a:effectLst>
            <a:outerShdw sx="100000" sy="100000" kx="0" ky="0" algn="bl" rotWithShape="0" blurRad="12700" dist="50800" dir="2700000">
              <a:srgbClr val="A49F94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183794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1655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以江定城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87752"/>
            <a:ext cx="165506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C7D8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把虎山—断桥从交通沿线升级为丹东城市旅游主轴。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2816352" y="1700784"/>
            <a:ext cx="2057400" cy="3474720"/>
          </a:xfrm>
          <a:prstGeom prst="roundRect">
            <a:avLst>
              <a:gd name="adj" fmla="val 2667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2700" dist="50800" dir="2700000">
              <a:srgbClr val="A49F94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99232" y="183794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194560"/>
            <a:ext cx="1655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以夜留人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2587752"/>
            <a:ext cx="165506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用日落、游船、演艺、夜食延长游客停留6小时。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5102352" y="1700784"/>
            <a:ext cx="2057400" cy="3474720"/>
          </a:xfrm>
          <a:prstGeom prst="roundRect">
            <a:avLst>
              <a:gd name="adj" fmla="val 2667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2700" dist="50800" dir="2700000">
              <a:srgbClr val="A49F94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85232" y="183794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2194560"/>
            <a:ext cx="1655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以季稳流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2587752"/>
            <a:ext cx="165506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用四季事件日历替代“一夏独热”，形成全年传播节奏。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388352" y="1700784"/>
            <a:ext cx="2057400" cy="3474720"/>
          </a:xfrm>
          <a:prstGeom prst="roundRect">
            <a:avLst>
              <a:gd name="adj" fmla="val 2667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2700" dist="50800" dir="2700000">
              <a:srgbClr val="A49F94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71232" y="183794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2194560"/>
            <a:ext cx="1655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以联增收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2587752"/>
            <a:ext cx="165506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景区、交通、酒店、演艺一票联动，告别单一门票经济。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9674352" y="1700784"/>
            <a:ext cx="2057400" cy="3474720"/>
          </a:xfrm>
          <a:prstGeom prst="roundRect">
            <a:avLst>
              <a:gd name="adj" fmla="val 2667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2700" dist="50800" dir="2700000">
              <a:srgbClr val="A49F94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57232" y="183794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2194560"/>
            <a:ext cx="1655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以旅兴城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0" y="2587752"/>
            <a:ext cx="165506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把游客导入转化为消费、人才、旅居和人口回流。</a:t>
            </a:r>
            <a:endParaRPr lang="en-US" sz="92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5321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建议总抓手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691640" y="54406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“一条江、一条路、一个夜晚、四个季节”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MARKET SHIFT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暑期旅游进入“量增、价跌、选择碎片化”的新阶段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客流仍旺，但目的地不能再用“人来了”代替“价值留下了”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276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130552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境内游预订出游人次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同比增长</a:t>
            </a:r>
            <a:endParaRPr lang="en-US" sz="820" dirty="0"/>
          </a:p>
        </p:txBody>
      </p:sp>
      <p:sp>
        <p:nvSpPr>
          <p:cNvPr id="7" name="Text 5"/>
          <p:cNvSpPr txBox="1"/>
          <p:nvPr/>
        </p:nvSpPr>
        <p:spPr>
          <a:xfrm>
            <a:off x="2852928" y="16276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E64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+22.4%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2130552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跨省游热度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同比增长</a:t>
            </a:r>
            <a:endParaRPr lang="en-US" sz="820" dirty="0"/>
          </a:p>
        </p:txBody>
      </p:sp>
      <p:sp>
        <p:nvSpPr>
          <p:cNvPr id="9" name="Text 7"/>
          <p:cNvSpPr txBox="1"/>
          <p:nvPr/>
        </p:nvSpPr>
        <p:spPr>
          <a:xfrm>
            <a:off x="5111496" y="16276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D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−20%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5138928" y="2130552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7月上旬机票预订均价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同比约降</a:t>
            </a:r>
            <a:endParaRPr lang="en-US" sz="820" dirty="0"/>
          </a:p>
        </p:txBody>
      </p:sp>
      <p:sp>
        <p:nvSpPr>
          <p:cNvPr id="11" name="Text 9"/>
          <p:cNvSpPr txBox="1"/>
          <p:nvPr/>
        </p:nvSpPr>
        <p:spPr>
          <a:xfrm>
            <a:off x="7370064" y="16276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−8.2%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397496" y="2130552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经济型酒店暑期首周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RevPAR同比</a:t>
            </a:r>
            <a:endParaRPr lang="en-US" sz="820" dirty="0"/>
          </a:p>
        </p:txBody>
      </p:sp>
      <p:sp>
        <p:nvSpPr>
          <p:cNvPr id="13" name="Text 11"/>
          <p:cNvSpPr txBox="1"/>
          <p:nvPr/>
        </p:nvSpPr>
        <p:spPr>
          <a:xfrm>
            <a:off x="9628632" y="16276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60%+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9656064" y="2130552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暑期亲子客群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占比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621792" y="2999232"/>
            <a:ext cx="10927080" cy="0"/>
          </a:xfrm>
          <a:prstGeom prst="line">
            <a:avLst/>
          </a:prstGeom>
          <a:noFill/>
          <a:ln w="12700">
            <a:solidFill>
              <a:srgbClr val="E7E1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4015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从“抢流量”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84048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到“提停留、提转化”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681728"/>
            <a:ext cx="2304288" cy="0"/>
          </a:xfrm>
          <a:prstGeom prst="line">
            <a:avLst/>
          </a:prstGeom>
          <a:noFill/>
          <a:ln w="38100">
            <a:solidFill>
              <a:srgbClr val="D4503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29000" y="34015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从“卖门票”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384048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到“卖时间、场景与组合”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29000" y="4681728"/>
            <a:ext cx="2304288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0" y="34015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从“提前计划”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84048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到“临时决策、短视频种草”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4681728"/>
            <a:ext cx="2304288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006840" y="34015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从“大团观光”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006840" y="384048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到“小团、自驾、自由行”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006840" y="4681728"/>
            <a:ext cx="2304288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58978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资料口径：文化和旅游部、国铁集团及携程、同程、去哪儿等公开市场信息，2026年暑期；用于趋势研判，正式报审前建议由统计部门复核。</a:t>
            </a:r>
            <a:endParaRPr lang="en-US" sz="6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MARKET SHIFT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对丹东的含义：暑期优势仍在，但“只看断桥”不再够用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517904"/>
            <a:ext cx="4800600" cy="1115568"/>
          </a:xfrm>
          <a:prstGeom prst="roundRect">
            <a:avLst>
              <a:gd name="adj" fmla="val 4918"/>
            </a:avLst>
          </a:prstGeom>
          <a:solidFill>
            <a:srgbClr val="E3EBDD"/>
          </a:solidFill>
          <a:ln w="12700">
            <a:solidFill>
              <a:srgbClr val="E3EB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" y="1700784"/>
            <a:ext cx="4398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有流量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139696"/>
            <a:ext cx="4398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辽宁暑期热度提升，边境、自驾、避暑具备话题基础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594360" y="2907792"/>
            <a:ext cx="4800600" cy="1115568"/>
          </a:xfrm>
          <a:prstGeom prst="roundRect">
            <a:avLst>
              <a:gd name="adj" fmla="val 4918"/>
            </a:avLst>
          </a:prstGeom>
          <a:solidFill>
            <a:srgbClr val="E3EBDD"/>
          </a:solidFill>
          <a:ln w="12700">
            <a:solidFill>
              <a:srgbClr val="E3EB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3090672"/>
            <a:ext cx="4398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有辨识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3529584"/>
            <a:ext cx="4398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界江、国门、断桥、331起点形成独有认知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594360" y="4297680"/>
            <a:ext cx="4800600" cy="1115568"/>
          </a:xfrm>
          <a:prstGeom prst="roundRect">
            <a:avLst>
              <a:gd name="adj" fmla="val 4918"/>
            </a:avLst>
          </a:prstGeom>
          <a:solidFill>
            <a:srgbClr val="E3EBDD"/>
          </a:solidFill>
          <a:ln w="12700">
            <a:solidFill>
              <a:srgbClr val="E3EB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4480560"/>
            <a:ext cx="4398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有空间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4919472"/>
            <a:ext cx="4398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虎山至断桥兼具山水、历史、乡村与城市消费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5715000" y="1517904"/>
            <a:ext cx="4800600" cy="1115568"/>
          </a:xfrm>
          <a:prstGeom prst="roundRect">
            <a:avLst>
              <a:gd name="adj" fmla="val 4918"/>
            </a:avLst>
          </a:prstGeom>
          <a:solidFill>
            <a:srgbClr val="F2DDD5"/>
          </a:solidFill>
          <a:ln w="12700">
            <a:solidFill>
              <a:srgbClr val="F2DDD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16168" y="1700784"/>
            <a:ext cx="4398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停得短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16168" y="2139696"/>
            <a:ext cx="4398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核心景点完成后缺少连续体验，过夜理由不足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715000" y="2907792"/>
            <a:ext cx="4800600" cy="1115568"/>
          </a:xfrm>
          <a:prstGeom prst="roundRect">
            <a:avLst>
              <a:gd name="adj" fmla="val 4918"/>
            </a:avLst>
          </a:prstGeom>
          <a:solidFill>
            <a:srgbClr val="F2DDD5"/>
          </a:solidFill>
          <a:ln w="12700">
            <a:solidFill>
              <a:srgbClr val="F2DDD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16168" y="3090672"/>
            <a:ext cx="4398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夜不强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16168" y="3529584"/>
            <a:ext cx="4398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夜景有基础，但夜游叙事、演艺、消费场景尚未成链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5715000" y="4297680"/>
            <a:ext cx="4800600" cy="1115568"/>
          </a:xfrm>
          <a:prstGeom prst="roundRect">
            <a:avLst>
              <a:gd name="adj" fmla="val 4918"/>
            </a:avLst>
          </a:prstGeom>
          <a:solidFill>
            <a:srgbClr val="F2DDD5"/>
          </a:solidFill>
          <a:ln w="12700">
            <a:solidFill>
              <a:srgbClr val="F2DDD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16168" y="4480560"/>
            <a:ext cx="4398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季节单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16168" y="4919472"/>
            <a:ext cx="4398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暑期集中，秋冬春的产品和传播节奏尚未系统化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10762488" y="3054096"/>
            <a:ext cx="594360" cy="347472"/>
          </a:xfrm>
          <a:prstGeom prst="chevron">
            <a:avLst/>
          </a:prstGeom>
          <a:solidFill>
            <a:srgbClr val="D45035"/>
          </a:solidFill>
          <a:ln w="12700">
            <a:solidFill>
              <a:srgbClr val="D4503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652760" y="25420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突破口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0570464" y="35204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以沿江廊道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重组消费链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5035"/>
          </a:solidFill>
          <a:ln w="12700">
            <a:solidFill>
              <a:srgbClr val="D450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5943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8288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战略定位：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以边境生活方式重塑丹东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61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AD9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不是“景点更多”，而是“城市更值得停留”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3886200"/>
            <a:ext cx="1618488" cy="310896"/>
          </a:xfrm>
          <a:prstGeom prst="roundRect">
            <a:avLst>
              <a:gd name="adj" fmla="val 23529"/>
            </a:avLst>
          </a:prstGeom>
          <a:solidFill>
            <a:srgbClr val="244E4E"/>
          </a:solidFill>
          <a:ln w="12700">
            <a:solidFill>
              <a:srgbClr val="244E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3904488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国家边境门户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14600" y="388620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44E4E"/>
          </a:solidFill>
          <a:ln w="12700">
            <a:solidFill>
              <a:srgbClr val="244E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87752" y="3904488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331起点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096512" y="388620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44E4E"/>
          </a:solidFill>
          <a:ln w="12700">
            <a:solidFill>
              <a:srgbClr val="244E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69664" y="3904488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鸭绿江生活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678424" y="3886200"/>
            <a:ext cx="1216152" cy="310896"/>
          </a:xfrm>
          <a:prstGeom prst="roundRect">
            <a:avLst>
              <a:gd name="adj" fmla="val 23529"/>
            </a:avLst>
          </a:prstGeom>
          <a:solidFill>
            <a:srgbClr val="244E4E"/>
          </a:solidFill>
          <a:ln w="12700">
            <a:solidFill>
              <a:srgbClr val="244E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51576" y="3904488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和平叙事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8823960" y="502920"/>
            <a:ext cx="2788920" cy="5440680"/>
          </a:xfrm>
          <a:prstGeom prst="rect">
            <a:avLst/>
          </a:prstGeom>
          <a:solidFill>
            <a:srgbClr val="E8E3D9"/>
          </a:solidFill>
          <a:ln w="15240">
            <a:solidFill>
              <a:srgbClr val="D450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98280" y="5532120"/>
            <a:ext cx="2240280" cy="-4617720"/>
          </a:xfrm>
          <a:prstGeom prst="line">
            <a:avLst/>
          </a:prstGeom>
          <a:noFill/>
          <a:ln w="10160">
            <a:solidFill>
              <a:srgbClr val="B6B1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98280" y="914400"/>
            <a:ext cx="2240280" cy="4617720"/>
          </a:xfrm>
          <a:prstGeom prst="line">
            <a:avLst/>
          </a:prstGeom>
          <a:noFill/>
          <a:ln w="10160">
            <a:solidFill>
              <a:srgbClr val="B6B1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25128" y="5431536"/>
            <a:ext cx="2386584" cy="310896"/>
          </a:xfrm>
          <a:prstGeom prst="roundRect">
            <a:avLst/>
          </a:prstGeom>
          <a:solidFill>
            <a:srgbClr val="FFFCF5">
              <a:alpha val="93000"/>
            </a:srgbClr>
          </a:solidFill>
          <a:ln w="12700">
            <a:solidFill>
              <a:srgbClr val="FFFCF5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98280" y="54772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图片占位｜章节主视觉</a:t>
            </a:r>
            <a:endParaRPr lang="en-US" sz="68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62636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1A8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丹东城市旅游战略规划 · 政府研讨版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POSITIONING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从“边境观光城市”升级为“国家级边境生活方式目的地”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179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过去的丹东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15179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未来的丹东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794760" cy="612648"/>
          </a:xfrm>
          <a:prstGeom prst="roundRect">
            <a:avLst>
              <a:gd name="adj" fmla="val 8955"/>
            </a:avLst>
          </a:prstGeom>
          <a:solidFill>
            <a:srgbClr val="ECE8DF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240280"/>
            <a:ext cx="3392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看断桥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679192"/>
            <a:ext cx="3392424" cy="-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28032" y="2194560"/>
            <a:ext cx="731520" cy="347472"/>
          </a:xfrm>
          <a:prstGeom prst="chevron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2057400"/>
            <a:ext cx="5394960" cy="612648"/>
          </a:xfrm>
          <a:prstGeom prst="roundRect">
            <a:avLst>
              <a:gd name="adj" fmla="val 8955"/>
            </a:avLst>
          </a:prstGeom>
          <a:solidFill>
            <a:srgbClr val="DDE9E8"/>
          </a:solidFill>
          <a:ln w="12700">
            <a:solidFill>
              <a:srgbClr val="DDE9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44768" y="224028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走一段江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144768" y="2679192"/>
            <a:ext cx="4992624" cy="-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898648"/>
            <a:ext cx="3794760" cy="612648"/>
          </a:xfrm>
          <a:prstGeom prst="roundRect">
            <a:avLst>
              <a:gd name="adj" fmla="val 8955"/>
            </a:avLst>
          </a:prstGeom>
          <a:solidFill>
            <a:srgbClr val="ECE8DF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3081528"/>
            <a:ext cx="3392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拍国境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3520440"/>
            <a:ext cx="3392424" cy="-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28032" y="3035808"/>
            <a:ext cx="731520" cy="347472"/>
          </a:xfrm>
          <a:prstGeom prst="chevron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2898648"/>
            <a:ext cx="5394960" cy="612648"/>
          </a:xfrm>
          <a:prstGeom prst="roundRect">
            <a:avLst>
              <a:gd name="adj" fmla="val 8955"/>
            </a:avLst>
          </a:prstGeom>
          <a:solidFill>
            <a:srgbClr val="DDE9E8"/>
          </a:solidFill>
          <a:ln w="12700">
            <a:solidFill>
              <a:srgbClr val="DDE9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44768" y="3081528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住一个夜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144768" y="3520440"/>
            <a:ext cx="4992624" cy="-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739896"/>
            <a:ext cx="3794760" cy="612648"/>
          </a:xfrm>
          <a:prstGeom prst="roundRect">
            <a:avLst>
              <a:gd name="adj" fmla="val 8955"/>
            </a:avLst>
          </a:prstGeom>
          <a:solidFill>
            <a:srgbClr val="ECE8DF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3922776"/>
            <a:ext cx="3392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吃一顿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4361688"/>
            <a:ext cx="3392424" cy="-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28032" y="3877056"/>
            <a:ext cx="731520" cy="347472"/>
          </a:xfrm>
          <a:prstGeom prst="chevron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3739896"/>
            <a:ext cx="5394960" cy="612648"/>
          </a:xfrm>
          <a:prstGeom prst="roundRect">
            <a:avLst>
              <a:gd name="adj" fmla="val 8955"/>
            </a:avLst>
          </a:prstGeom>
          <a:solidFill>
            <a:srgbClr val="DDE9E8"/>
          </a:solidFill>
          <a:ln w="12700">
            <a:solidFill>
              <a:srgbClr val="DDE9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44768" y="3922776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过一种生活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144768" y="4361688"/>
            <a:ext cx="4992624" cy="-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" y="4581144"/>
            <a:ext cx="3794760" cy="612648"/>
          </a:xfrm>
          <a:prstGeom prst="roundRect">
            <a:avLst>
              <a:gd name="adj" fmla="val 8955"/>
            </a:avLst>
          </a:prstGeom>
          <a:solidFill>
            <a:srgbClr val="ECE8DF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1248" y="4764024"/>
            <a:ext cx="3392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当天走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41248" y="5202936"/>
            <a:ext cx="3392424" cy="-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28032" y="4718304"/>
            <a:ext cx="731520" cy="347472"/>
          </a:xfrm>
          <a:prstGeom prst="chevron">
            <a:avLst/>
          </a:prstGeom>
          <a:solidFill>
            <a:srgbClr val="D45035"/>
          </a:solidFill>
          <a:ln w="12700">
            <a:solidFill>
              <a:srgbClr val="D450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4581144"/>
            <a:ext cx="5394960" cy="612648"/>
          </a:xfrm>
          <a:prstGeom prst="roundRect">
            <a:avLst>
              <a:gd name="adj" fmla="val 8955"/>
            </a:avLst>
          </a:prstGeom>
          <a:solidFill>
            <a:srgbClr val="173A3A"/>
          </a:solidFill>
          <a:ln w="12700">
            <a:solidFill>
              <a:srgbClr val="173A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44768" y="4764024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再来一季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144768" y="5202936"/>
            <a:ext cx="4992624" cy="-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5577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城市品牌建议语（讨论稿）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2761488" y="546811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江山起点 · 边境丹东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SPATIAL STRATEGY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“一心、一廊、一起点、两翼、多节点”统筹全域资源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90288" y="2148840"/>
            <a:ext cx="2834640" cy="2834640"/>
          </a:xfrm>
          <a:prstGeom prst="ellipse">
            <a:avLst/>
          </a:prstGeom>
          <a:solidFill>
            <a:srgbClr val="173A3A"/>
          </a:solidFill>
          <a:ln w="25400">
            <a:solidFill>
              <a:srgbClr val="D9A4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285232" y="263347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一廊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10912" y="32461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虎山—断桥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鸭绿江核心廊道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1627632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FFFCF5"/>
          </a:solidFill>
          <a:ln w="19050">
            <a:solidFill>
              <a:srgbClr val="D450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810512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一心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249424"/>
            <a:ext cx="21122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城市旅游消费中心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72968" y="2157984"/>
            <a:ext cx="1417320" cy="1051560"/>
          </a:xfrm>
          <a:prstGeom prst="line">
            <a:avLst/>
          </a:prstGeom>
          <a:noFill/>
          <a:ln w="16510">
            <a:solidFill>
              <a:srgbClr val="D450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9680" y="1627632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FFFCF5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070848" y="1810512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一起点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070848" y="2249424"/>
            <a:ext cx="21122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331国道国家级起点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424928" y="2157984"/>
            <a:ext cx="1444752" cy="1051560"/>
          </a:xfrm>
          <a:prstGeom prst="line">
            <a:avLst/>
          </a:prstGeom>
          <a:noFill/>
          <a:ln w="16510">
            <a:solidFill>
              <a:srgbClr val="D9A4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452628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FFFCF5"/>
          </a:solidFill>
          <a:ln w="19050">
            <a:solidFill>
              <a:srgbClr val="4D72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" y="4709160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西翼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" y="5148072"/>
            <a:ext cx="21122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山地温泉康养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172968" y="5056632"/>
            <a:ext cx="1417320" cy="-685800"/>
          </a:xfrm>
          <a:prstGeom prst="line">
            <a:avLst/>
          </a:prstGeom>
          <a:noFill/>
          <a:ln w="16510">
            <a:solidFill>
              <a:srgbClr val="4D72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69680" y="452628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FFFCF5"/>
          </a:solidFill>
          <a:ln w="19050">
            <a:solidFill>
              <a:srgbClr val="2E64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70848" y="4709160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南翼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070848" y="5148072"/>
            <a:ext cx="21122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滨海海岛度假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424928" y="5056632"/>
            <a:ext cx="1444752" cy="-685800"/>
          </a:xfrm>
          <a:prstGeom prst="line">
            <a:avLst/>
          </a:prstGeom>
          <a:noFill/>
          <a:ln w="16510">
            <a:solidFill>
              <a:srgbClr val="2E647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057400" y="5715000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多节点：虎山｜河口｜沿江驿站｜断桥｜纪念馆｜码头｜老街｜银杏大道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5035"/>
          </a:solidFill>
          <a:ln w="12700">
            <a:solidFill>
              <a:srgbClr val="D450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5943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8288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核心抓手：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虎山—断桥沿江廊道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61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AD9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从“沿江交通线”升级为“城市旅游主轴”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3886200"/>
            <a:ext cx="2020824" cy="310896"/>
          </a:xfrm>
          <a:prstGeom prst="roundRect">
            <a:avLst>
              <a:gd name="adj" fmla="val 23529"/>
            </a:avLst>
          </a:prstGeom>
          <a:solidFill>
            <a:srgbClr val="244E4E"/>
          </a:solidFill>
          <a:ln w="12700">
            <a:solidFill>
              <a:srgbClr val="244E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39044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世界级边境风景道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916936" y="3886200"/>
            <a:ext cx="1216152" cy="310896"/>
          </a:xfrm>
          <a:prstGeom prst="roundRect">
            <a:avLst>
              <a:gd name="adj" fmla="val 23529"/>
            </a:avLst>
          </a:prstGeom>
          <a:solidFill>
            <a:srgbClr val="244E4E"/>
          </a:solidFill>
          <a:ln w="12700">
            <a:solidFill>
              <a:srgbClr val="244E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90088" y="3904488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水陆联动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297680" y="3886200"/>
            <a:ext cx="1216152" cy="310896"/>
          </a:xfrm>
          <a:prstGeom prst="roundRect">
            <a:avLst>
              <a:gd name="adj" fmla="val 23529"/>
            </a:avLst>
          </a:prstGeom>
          <a:solidFill>
            <a:srgbClr val="244E4E"/>
          </a:solidFill>
          <a:ln w="12700">
            <a:solidFill>
              <a:srgbClr val="244E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70832" y="3904488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慢游系统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678424" y="3886200"/>
            <a:ext cx="1216152" cy="310896"/>
          </a:xfrm>
          <a:prstGeom prst="roundRect">
            <a:avLst>
              <a:gd name="adj" fmla="val 23529"/>
            </a:avLst>
          </a:prstGeom>
          <a:solidFill>
            <a:srgbClr val="244E4E"/>
          </a:solidFill>
          <a:ln w="12700">
            <a:solidFill>
              <a:srgbClr val="244E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51576" y="3904488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品质管控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8823960" y="502920"/>
            <a:ext cx="2788920" cy="5440680"/>
          </a:xfrm>
          <a:prstGeom prst="rect">
            <a:avLst/>
          </a:prstGeom>
          <a:solidFill>
            <a:srgbClr val="E8E3D9"/>
          </a:solidFill>
          <a:ln w="15240">
            <a:solidFill>
              <a:srgbClr val="D450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98280" y="5532120"/>
            <a:ext cx="2240280" cy="-4617720"/>
          </a:xfrm>
          <a:prstGeom prst="line">
            <a:avLst/>
          </a:prstGeom>
          <a:noFill/>
          <a:ln w="10160">
            <a:solidFill>
              <a:srgbClr val="B6B1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98280" y="914400"/>
            <a:ext cx="2240280" cy="4617720"/>
          </a:xfrm>
          <a:prstGeom prst="line">
            <a:avLst/>
          </a:prstGeom>
          <a:noFill/>
          <a:ln w="10160">
            <a:solidFill>
              <a:srgbClr val="B6B1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25128" y="5431536"/>
            <a:ext cx="2386584" cy="310896"/>
          </a:xfrm>
          <a:prstGeom prst="roundRect">
            <a:avLst/>
          </a:prstGeom>
          <a:solidFill>
            <a:srgbClr val="FFFCF5">
              <a:alpha val="93000"/>
            </a:srgbClr>
          </a:solidFill>
          <a:ln w="12700">
            <a:solidFill>
              <a:srgbClr val="FFFCF5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98280" y="54772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图片占位｜章节主视觉</a:t>
            </a:r>
            <a:endParaRPr lang="en-US" sz="68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62636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1A8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丹东城市旅游战略规划 · 政府研讨版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CORRIDOR VISION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虎山—断桥：丹东最需要统一规划、统一标准、统一运营的空间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720840" cy="4334256"/>
          </a:xfrm>
          <a:prstGeom prst="rect">
            <a:avLst/>
          </a:prstGeom>
          <a:solidFill>
            <a:srgbClr val="E8E3D9"/>
          </a:solidFill>
          <a:ln w="15240">
            <a:solidFill>
              <a:srgbClr val="D450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5458968"/>
            <a:ext cx="6172200" cy="-3511296"/>
          </a:xfrm>
          <a:prstGeom prst="line">
            <a:avLst/>
          </a:prstGeom>
          <a:noFill/>
          <a:ln w="10160">
            <a:solidFill>
              <a:srgbClr val="B6B1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47672"/>
            <a:ext cx="6172200" cy="3511296"/>
          </a:xfrm>
          <a:prstGeom prst="line">
            <a:avLst/>
          </a:prstGeom>
          <a:noFill/>
          <a:ln w="10160">
            <a:solidFill>
              <a:srgbClr val="B6B1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5358384"/>
            <a:ext cx="6318504" cy="310896"/>
          </a:xfrm>
          <a:prstGeom prst="roundRect">
            <a:avLst/>
          </a:prstGeom>
          <a:solidFill>
            <a:srgbClr val="FFFCF5">
              <a:alpha val="93000"/>
            </a:srgbClr>
          </a:solidFill>
          <a:ln w="12700">
            <a:solidFill>
              <a:srgbClr val="FFFCF5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5404104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图片占位｜沿江航拍/廊道全景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7607808" y="1536192"/>
            <a:ext cx="3977640" cy="896112"/>
          </a:xfrm>
          <a:prstGeom prst="roundRect">
            <a:avLst>
              <a:gd name="adj" fmla="val 6122"/>
            </a:avLst>
          </a:prstGeom>
          <a:solidFill>
            <a:srgbClr val="F2DDD5"/>
          </a:solidFill>
          <a:ln w="12700">
            <a:solidFill>
              <a:srgbClr val="F2DDD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08976" y="1719072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城市形象面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808976" y="2157984"/>
            <a:ext cx="3575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展示国家边境门户与鸭绿江城市天际线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7607808" y="2615184"/>
            <a:ext cx="3977640" cy="896112"/>
          </a:xfrm>
          <a:prstGeom prst="roundRect">
            <a:avLst>
              <a:gd name="adj" fmla="val 6122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08976" y="2798064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旅游主产品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808976" y="3236976"/>
            <a:ext cx="3575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形成可游半日、可玩一日、可住一夜的完整体验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7607808" y="3694176"/>
            <a:ext cx="3977640" cy="896112"/>
          </a:xfrm>
          <a:prstGeom prst="roundRect">
            <a:avLst>
              <a:gd name="adj" fmla="val 6122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08976" y="3877056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产业集聚带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808976" y="4315968"/>
            <a:ext cx="3575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串联景区、乡村、驿站、游船、演艺与夜间商业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7607808" y="4773168"/>
            <a:ext cx="3977640" cy="896112"/>
          </a:xfrm>
          <a:prstGeom prst="roundRect">
            <a:avLst>
              <a:gd name="adj" fmla="val 6122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08976" y="4956048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治理示范区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808976" y="5394960"/>
            <a:ext cx="3575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统一风貌、安全、生态、交通和服务标准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CORRIDOR STRUCTURE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四段联动：自然递进、情绪递进、消费递进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12648" y="1645920"/>
            <a:ext cx="2542032" cy="2971800"/>
          </a:xfrm>
          <a:prstGeom prst="roundRect">
            <a:avLst>
              <a:gd name="adj" fmla="val 2158"/>
            </a:avLst>
          </a:prstGeom>
          <a:solidFill>
            <a:srgbClr val="E3EBDD"/>
          </a:solidFill>
          <a:ln w="12700">
            <a:solidFill>
              <a:srgbClr val="E3EBDD"/>
            </a:solidFill>
            <a:prstDash val="solid"/>
          </a:ln>
          <a:effectLst>
            <a:outerShdw sx="100000" sy="100000" kx="0" ky="0" algn="bl" rotWithShape="0" blurRad="12700" dist="50800" dir="2700000">
              <a:srgbClr val="A49F94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95528" y="17830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13816" y="2139696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虎山国境段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2532888"/>
            <a:ext cx="2139696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长城 / 国门 / 徒步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98448" y="4169664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FFFCF5"/>
          </a:solidFill>
          <a:ln w="12700">
            <a:solidFill>
              <a:srgbClr val="FFFC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0" y="41879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00400" y="2889504"/>
            <a:ext cx="256032" cy="347472"/>
          </a:xfrm>
          <a:prstGeom prst="chevron">
            <a:avLst/>
          </a:prstGeom>
          <a:solidFill>
            <a:srgbClr val="D45035"/>
          </a:solidFill>
          <a:ln w="12700">
            <a:solidFill>
              <a:srgbClr val="D450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65576" y="1645920"/>
            <a:ext cx="2542032" cy="2971800"/>
          </a:xfrm>
          <a:prstGeom prst="roundRect">
            <a:avLst>
              <a:gd name="adj" fmla="val 2158"/>
            </a:avLst>
          </a:prstGeom>
          <a:solidFill>
            <a:srgbClr val="DDE9E8"/>
          </a:solidFill>
          <a:ln w="12700">
            <a:solidFill>
              <a:srgbClr val="DDE9E8"/>
            </a:solidFill>
            <a:prstDash val="solid"/>
          </a:ln>
          <a:effectLst>
            <a:outerShdw sx="100000" sy="100000" kx="0" ky="0" algn="bl" rotWithShape="0" blurRad="12700" dist="50800" dir="2700000">
              <a:srgbClr val="A49F94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648456" y="17830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2139696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河口乡野段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66744" y="2532888"/>
            <a:ext cx="2139696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铁路 / 村落 / 花果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51376" y="4169664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FFFCF5"/>
          </a:solidFill>
          <a:ln w="12700">
            <a:solidFill>
              <a:srgbClr val="FFFC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24528" y="41879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松弛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053328" y="2889504"/>
            <a:ext cx="256032" cy="347472"/>
          </a:xfrm>
          <a:prstGeom prst="chevron">
            <a:avLst/>
          </a:prstGeom>
          <a:solidFill>
            <a:srgbClr val="D45035"/>
          </a:solidFill>
          <a:ln w="12700">
            <a:solidFill>
              <a:srgbClr val="D450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18504" y="1645920"/>
            <a:ext cx="2542032" cy="2971800"/>
          </a:xfrm>
          <a:prstGeom prst="roundRect">
            <a:avLst>
              <a:gd name="adj" fmla="val 2158"/>
            </a:avLst>
          </a:prstGeom>
          <a:solidFill>
            <a:srgbClr val="EEE5D4"/>
          </a:solidFill>
          <a:ln w="12700">
            <a:solidFill>
              <a:srgbClr val="EEE5D4"/>
            </a:solidFill>
            <a:prstDash val="solid"/>
          </a:ln>
          <a:effectLst>
            <a:outerShdw sx="100000" sy="100000" kx="0" ky="0" algn="bl" rotWithShape="0" blurRad="12700" dist="50800" dir="2700000">
              <a:srgbClr val="A49F94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01384" y="17830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519672" y="2139696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沿江慢游段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19672" y="2532888"/>
            <a:ext cx="2139696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自驾 / 骑行 / 驿站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04304" y="4169664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FFFCF5"/>
          </a:solidFill>
          <a:ln w="12700">
            <a:solidFill>
              <a:srgbClr val="FFFC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77456" y="41879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沉浸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8906256" y="2889504"/>
            <a:ext cx="256032" cy="347472"/>
          </a:xfrm>
          <a:prstGeom prst="chevron">
            <a:avLst/>
          </a:prstGeom>
          <a:solidFill>
            <a:srgbClr val="D45035"/>
          </a:solidFill>
          <a:ln w="12700">
            <a:solidFill>
              <a:srgbClr val="D450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71432" y="1645920"/>
            <a:ext cx="2542032" cy="2971800"/>
          </a:xfrm>
          <a:prstGeom prst="roundRect">
            <a:avLst>
              <a:gd name="adj" fmla="val 2158"/>
            </a:avLst>
          </a:prstGeom>
          <a:solidFill>
            <a:srgbClr val="173A3A"/>
          </a:solidFill>
          <a:ln w="12700">
            <a:solidFill>
              <a:srgbClr val="173A3A"/>
            </a:solidFill>
            <a:prstDash val="solid"/>
          </a:ln>
          <a:effectLst>
            <a:outerShdw sx="100000" sy="100000" kx="0" ky="0" algn="bl" rotWithShape="0" blurRad="12700" dist="50800" dir="2700000">
              <a:srgbClr val="A49F94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354312" y="17830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372600" y="2139696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断桥城市段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372600" y="2532888"/>
            <a:ext cx="2139696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7D8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/ 夜游 / 消费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857232" y="4169664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930384" y="41879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高潮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1663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时间结构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1572768" y="505663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晨间登高 → 午后乡野 → 傍晚沿江 → 夜宿城市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SEGMENT PRODUCTS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每一段有主体验，每一节点有停留理由，每一次停留有消费接口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00"/>
          <a:ext cx="10972800" cy="3337560"/>
        </p:xfrm>
        <a:graphic>
          <a:graphicData uri="http://schemas.openxmlformats.org/drawingml/2006/table">
            <a:tbl>
              <a:tblPr/>
              <a:tblGrid>
                <a:gridCol w="1417320"/>
                <a:gridCol w="1325880"/>
                <a:gridCol w="3977640"/>
                <a:gridCol w="425196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分段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主叙事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重点产品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近期抓手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虎山国境段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边境探索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长城徒步、国境观察、研学课堂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入口重塑、观景点、亲子任务线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河口乡野段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江畔乡愁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铁路记忆、花果季、村落餐桌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村景整治、物产市集、微度假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沿江慢游段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风景在路上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骑行、自驾、摄影、轻露营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驿站体系、补能、统一导视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断桥城市段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历史与今夜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断桥、纪念馆、游船、演艺、夜食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夜游示范区、码头更新、联票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5166360"/>
            <a:ext cx="10972800" cy="640080"/>
          </a:xfrm>
          <a:prstGeom prst="roundRect">
            <a:avLst>
              <a:gd name="adj" fmla="val 8571"/>
            </a:avLst>
          </a:prstGeom>
          <a:solidFill>
            <a:srgbClr val="F2DDD5"/>
          </a:solidFill>
          <a:ln w="12700">
            <a:solidFill>
              <a:srgbClr val="F2DDD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5528" y="5349240"/>
            <a:ext cx="10570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底层原则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95528" y="5788152"/>
            <a:ext cx="10570464" cy="-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不追求沿线处处开发；以视廊保护和小体量、低干扰、高品质为准入底线。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MOBILITY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交通不是配套，而是沿江旅游产品本身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64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水上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417320" y="1682496"/>
            <a:ext cx="5669280" cy="0"/>
          </a:xfrm>
          <a:prstGeom prst="line">
            <a:avLst/>
          </a:prstGeom>
          <a:noFill/>
          <a:ln w="63500">
            <a:solidFill>
              <a:srgbClr val="2E6471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7360920" y="139903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日落游船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主题航线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340864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17320" y="2505456"/>
            <a:ext cx="5669280" cy="0"/>
          </a:xfrm>
          <a:prstGeom prst="line">
            <a:avLst/>
          </a:prstGeom>
          <a:noFill/>
          <a:ln w="63500">
            <a:solidFill>
              <a:srgbClr val="D4503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7360920" y="222199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高铁站—断桥—虎山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旅游快线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163824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A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自驾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17320" y="3328416"/>
            <a:ext cx="5669280" cy="0"/>
          </a:xfrm>
          <a:prstGeom prst="line">
            <a:avLst/>
          </a:prstGeom>
          <a:noFill/>
          <a:ln w="63500">
            <a:solidFill>
              <a:srgbClr val="D9A44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7360920" y="304495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331起点—沿江驿站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补能与停车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986784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D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骑行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17320" y="4151376"/>
            <a:ext cx="5669280" cy="0"/>
          </a:xfrm>
          <a:prstGeom prst="line">
            <a:avLst/>
          </a:prstGeom>
          <a:noFill/>
          <a:ln w="63500">
            <a:solidFill>
              <a:srgbClr val="4D725B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7360920" y="386791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分段绿道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租还与救援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4809744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4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417320" y="4974336"/>
            <a:ext cx="5669280" cy="0"/>
          </a:xfrm>
          <a:prstGeom prst="line">
            <a:avLst/>
          </a:prstGeom>
          <a:noFill/>
          <a:ln w="63500">
            <a:solidFill>
              <a:srgbClr val="244E4E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7360920" y="469087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滨江漫步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无障碍系统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966960" y="1508760"/>
            <a:ext cx="1600200" cy="4343400"/>
          </a:xfrm>
          <a:prstGeom prst="rect">
            <a:avLst/>
          </a:prstGeom>
          <a:solidFill>
            <a:srgbClr val="E8E3D9"/>
          </a:solidFill>
          <a:ln w="15240">
            <a:solidFill>
              <a:srgbClr val="D450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0" y="5440680"/>
            <a:ext cx="1051560" cy="-3520440"/>
          </a:xfrm>
          <a:prstGeom prst="line">
            <a:avLst/>
          </a:prstGeom>
          <a:noFill/>
          <a:ln w="10160">
            <a:solidFill>
              <a:srgbClr val="B6B1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41280" y="1920240"/>
            <a:ext cx="1051560" cy="3520440"/>
          </a:xfrm>
          <a:prstGeom prst="line">
            <a:avLst/>
          </a:prstGeom>
          <a:noFill/>
          <a:ln w="10160">
            <a:solidFill>
              <a:srgbClr val="B6B1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68128" y="5340096"/>
            <a:ext cx="1197864" cy="310896"/>
          </a:xfrm>
          <a:prstGeom prst="roundRect">
            <a:avLst/>
          </a:prstGeom>
          <a:solidFill>
            <a:srgbClr val="FFFCF5">
              <a:alpha val="93000"/>
            </a:srgbClr>
          </a:solidFill>
          <a:ln w="12700">
            <a:solidFill>
              <a:srgbClr val="FFFCF5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41280" y="538581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图片占位｜交通场景</a:t>
            </a:r>
            <a:endParaRPr lang="en-US" sz="68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576986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政府动作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536192" y="56692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统一线路、统一班次、统一购票、统一标识、统一安全标准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QUALITY CONTROL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沿江品质提升：先立标准，再上项目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3429000" cy="1627632"/>
          </a:xfrm>
          <a:prstGeom prst="roundRect">
            <a:avLst>
              <a:gd name="adj" fmla="val 3371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0992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066544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视廊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459736"/>
            <a:ext cx="3026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岸线、眺望面与天际线优先保护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4361688" y="1572768"/>
            <a:ext cx="3429000" cy="1627632"/>
          </a:xfrm>
          <a:prstGeom prst="roundRect">
            <a:avLst>
              <a:gd name="adj" fmla="val 3371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4568" y="170992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62856" y="2066544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建筑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62856" y="2459736"/>
            <a:ext cx="3026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控制体量、色彩、屋顶与临江界面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8129016" y="1572768"/>
            <a:ext cx="3429000" cy="1627632"/>
          </a:xfrm>
          <a:prstGeom prst="roundRect">
            <a:avLst>
              <a:gd name="adj" fmla="val 3371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11896" y="170992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330184" y="2066544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店招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330184" y="2459736"/>
            <a:ext cx="3026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统一尺度与照度，杜绝视觉污染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594360" y="3538728"/>
            <a:ext cx="3429000" cy="1627632"/>
          </a:xfrm>
          <a:prstGeom prst="roundRect">
            <a:avLst>
              <a:gd name="adj" fmla="val 3371"/>
            </a:avLst>
          </a:prstGeom>
          <a:solidFill>
            <a:srgbClr val="DDE9E8"/>
          </a:solidFill>
          <a:ln w="12700">
            <a:solidFill>
              <a:srgbClr val="DDE9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67588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4032504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灯光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4425696"/>
            <a:ext cx="3026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低照度、低干扰、叙事化，不做满江亮化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4361688" y="3538728"/>
            <a:ext cx="3429000" cy="1627632"/>
          </a:xfrm>
          <a:prstGeom prst="roundRect">
            <a:avLst>
              <a:gd name="adj" fmla="val 3371"/>
            </a:avLst>
          </a:prstGeom>
          <a:solidFill>
            <a:srgbClr val="DDE9E8"/>
          </a:solidFill>
          <a:ln w="12700">
            <a:solidFill>
              <a:srgbClr val="DDE9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44568" y="367588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62856" y="4032504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62856" y="4425696"/>
            <a:ext cx="3026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厕所、停车、休憩、适老与多语种标准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8129016" y="3538728"/>
            <a:ext cx="3429000" cy="1627632"/>
          </a:xfrm>
          <a:prstGeom prst="roundRect">
            <a:avLst>
              <a:gd name="adj" fmla="val 3371"/>
            </a:avLst>
          </a:prstGeom>
          <a:solidFill>
            <a:srgbClr val="DDE9E8"/>
          </a:solidFill>
          <a:ln w="12700">
            <a:solidFill>
              <a:srgbClr val="DDE9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11896" y="367588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330184" y="4032504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业态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330184" y="4425696"/>
            <a:ext cx="3026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建立正负面清单，淘汰低质同质供给</a:t>
            </a:r>
            <a:endParaRPr lang="en-US" sz="84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669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建议形成成果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783080" y="5559552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《虎山—断桥沿江风貌与业态准入导则》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5035"/>
          </a:solidFill>
          <a:ln w="12700">
            <a:solidFill>
              <a:srgbClr val="D450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5943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8288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夜游与四季：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把流量变成时间价值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61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AD9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白天看边境，晚上过生活；一季来一次，全年有理由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388620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44E4E"/>
          </a:solidFill>
          <a:ln w="12700">
            <a:solidFill>
              <a:srgbClr val="244E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3904488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鸭绿江之夜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13432" y="3886200"/>
            <a:ext cx="1216152" cy="310896"/>
          </a:xfrm>
          <a:prstGeom prst="roundRect">
            <a:avLst>
              <a:gd name="adj" fmla="val 23529"/>
            </a:avLst>
          </a:prstGeom>
          <a:solidFill>
            <a:srgbClr val="244E4E"/>
          </a:solidFill>
          <a:ln w="12700">
            <a:solidFill>
              <a:srgbClr val="244E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86584" y="3904488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三级演艺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94176" y="3886200"/>
            <a:ext cx="1014984" cy="310896"/>
          </a:xfrm>
          <a:prstGeom prst="roundRect">
            <a:avLst>
              <a:gd name="adj" fmla="val 23529"/>
            </a:avLst>
          </a:prstGeom>
          <a:solidFill>
            <a:srgbClr val="244E4E"/>
          </a:solidFill>
          <a:ln w="12700">
            <a:solidFill>
              <a:srgbClr val="244E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67328" y="390448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夜生活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873752" y="3886200"/>
            <a:ext cx="1618488" cy="310896"/>
          </a:xfrm>
          <a:prstGeom prst="roundRect">
            <a:avLst>
              <a:gd name="adj" fmla="val 23529"/>
            </a:avLst>
          </a:prstGeom>
          <a:solidFill>
            <a:srgbClr val="244E4E"/>
          </a:solidFill>
          <a:ln w="12700">
            <a:solidFill>
              <a:srgbClr val="244E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46904" y="3904488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四季事件日历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8823960" y="502920"/>
            <a:ext cx="2788920" cy="5440680"/>
          </a:xfrm>
          <a:prstGeom prst="rect">
            <a:avLst/>
          </a:prstGeom>
          <a:solidFill>
            <a:srgbClr val="E8E3D9"/>
          </a:solidFill>
          <a:ln w="15240">
            <a:solidFill>
              <a:srgbClr val="D450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98280" y="5532120"/>
            <a:ext cx="2240280" cy="-4617720"/>
          </a:xfrm>
          <a:prstGeom prst="line">
            <a:avLst/>
          </a:prstGeom>
          <a:noFill/>
          <a:ln w="10160">
            <a:solidFill>
              <a:srgbClr val="B6B1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98280" y="914400"/>
            <a:ext cx="2240280" cy="4617720"/>
          </a:xfrm>
          <a:prstGeom prst="line">
            <a:avLst/>
          </a:prstGeom>
          <a:noFill/>
          <a:ln w="10160">
            <a:solidFill>
              <a:srgbClr val="B6B1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25128" y="5431536"/>
            <a:ext cx="2386584" cy="310896"/>
          </a:xfrm>
          <a:prstGeom prst="roundRect">
            <a:avLst/>
          </a:prstGeom>
          <a:solidFill>
            <a:srgbClr val="FFFCF5">
              <a:alpha val="93000"/>
            </a:srgbClr>
          </a:solidFill>
          <a:ln w="12700">
            <a:solidFill>
              <a:srgbClr val="FFFCF5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98280" y="54772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图片占位｜章节主视觉</a:t>
            </a:r>
            <a:endParaRPr lang="en-US" sz="68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62636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1A8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丹东城市旅游战略规划 · 政府研讨版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NIGHT STRATEGY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夜游的目标不是“更亮”，而是让游客多留6小时、多住1晚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17:00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411480" cy="411480"/>
          </a:xfrm>
          <a:prstGeom prst="ellipse">
            <a:avLst/>
          </a:prstGeom>
          <a:solidFill>
            <a:srgbClr val="173A3A"/>
          </a:solidFill>
          <a:ln w="12700">
            <a:solidFill>
              <a:srgbClr val="17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176272"/>
            <a:ext cx="1847088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26517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日落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1363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沿江慢行 / 摄影</a:t>
            </a:r>
            <a:endParaRPr lang="en-US" sz="83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18:30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34640" y="1965960"/>
            <a:ext cx="411480" cy="411480"/>
          </a:xfrm>
          <a:prstGeom prst="ellipse">
            <a:avLst/>
          </a:prstGeom>
          <a:solidFill>
            <a:srgbClr val="173A3A"/>
          </a:solidFill>
          <a:ln w="12700">
            <a:solidFill>
              <a:srgbClr val="173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2176272"/>
            <a:ext cx="1847088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34640" y="26517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晚餐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31363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海鲜 / 烧烤 / 朝鲜族风味</a:t>
            </a:r>
            <a:endParaRPr lang="en-US" sz="830" dirty="0"/>
          </a:p>
        </p:txBody>
      </p:sp>
      <p:sp>
        <p:nvSpPr>
          <p:cNvPr id="14" name="Text 12"/>
          <p:cNvSpPr txBox="1"/>
          <p:nvPr/>
        </p:nvSpPr>
        <p:spPr>
          <a:xfrm>
            <a:off x="5102352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20:00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02352" y="1965960"/>
            <a:ext cx="411480" cy="411480"/>
          </a:xfrm>
          <a:prstGeom prst="ellipse">
            <a:avLst/>
          </a:prstGeom>
          <a:solidFill>
            <a:srgbClr val="173A3A"/>
          </a:solidFill>
          <a:ln w="12700">
            <a:solidFill>
              <a:srgbClr val="173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13832" y="2176272"/>
            <a:ext cx="1847088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02352" y="26517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演艺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102352" y="31363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游船 / 实景 / 行进式表演</a:t>
            </a:r>
            <a:endParaRPr lang="en-US" sz="830" dirty="0"/>
          </a:p>
        </p:txBody>
      </p:sp>
      <p:sp>
        <p:nvSpPr>
          <p:cNvPr id="19" name="Text 17"/>
          <p:cNvSpPr txBox="1"/>
          <p:nvPr/>
        </p:nvSpPr>
        <p:spPr>
          <a:xfrm>
            <a:off x="7370064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21:30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70064" y="1965960"/>
            <a:ext cx="411480" cy="411480"/>
          </a:xfrm>
          <a:prstGeom prst="ellipse">
            <a:avLst/>
          </a:prstGeom>
          <a:solidFill>
            <a:srgbClr val="173A3A"/>
          </a:solidFill>
          <a:ln w="12700">
            <a:solidFill>
              <a:srgbClr val="173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81544" y="2176272"/>
            <a:ext cx="1847088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70064" y="26517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夜生活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70064" y="31363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 / 市集 / 小酒馆</a:t>
            </a:r>
            <a:endParaRPr lang="en-US" sz="830" dirty="0"/>
          </a:p>
        </p:txBody>
      </p:sp>
      <p:sp>
        <p:nvSpPr>
          <p:cNvPr id="24" name="Text 22"/>
          <p:cNvSpPr txBox="1"/>
          <p:nvPr/>
        </p:nvSpPr>
        <p:spPr>
          <a:xfrm>
            <a:off x="9637776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23:00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37776" y="1965960"/>
            <a:ext cx="411480" cy="411480"/>
          </a:xfrm>
          <a:prstGeom prst="ellipse">
            <a:avLst/>
          </a:prstGeom>
          <a:solidFill>
            <a:srgbClr val="D45035"/>
          </a:solidFill>
          <a:ln w="12700">
            <a:solidFill>
              <a:srgbClr val="D4503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37776" y="26517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住宿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637776" y="31363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江景酒店 / 温泉 / 民宿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594360" y="4352544"/>
            <a:ext cx="3401568" cy="1051560"/>
          </a:xfrm>
          <a:prstGeom prst="roundRect">
            <a:avLst>
              <a:gd name="adj" fmla="val 5217"/>
            </a:avLst>
          </a:prstGeom>
          <a:solidFill>
            <a:srgbClr val="DDE9E8"/>
          </a:solidFill>
          <a:ln w="12700">
            <a:solidFill>
              <a:srgbClr val="DDE9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5528" y="4535424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夜景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95528" y="4974336"/>
            <a:ext cx="2999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城市背景与空间氛围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389120" y="4352544"/>
            <a:ext cx="3401568" cy="1051560"/>
          </a:xfrm>
          <a:prstGeom prst="roundRect">
            <a:avLst>
              <a:gd name="adj" fmla="val 5217"/>
            </a:avLst>
          </a:prstGeom>
          <a:solidFill>
            <a:srgbClr val="F2DDD5"/>
          </a:solidFill>
          <a:ln w="12700">
            <a:solidFill>
              <a:srgbClr val="F2DDD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90288" y="4535424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夜游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590288" y="4974336"/>
            <a:ext cx="2999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有线路、有内容、有票务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183880" y="4352544"/>
            <a:ext cx="3401568" cy="1051560"/>
          </a:xfrm>
          <a:prstGeom prst="roundRect">
            <a:avLst>
              <a:gd name="adj" fmla="val 5217"/>
            </a:avLst>
          </a:prstGeom>
          <a:solidFill>
            <a:srgbClr val="E3EBDD"/>
          </a:solidFill>
          <a:ln w="12700">
            <a:solidFill>
              <a:srgbClr val="E3EBD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85048" y="4535424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夜生活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385048" y="4974336"/>
            <a:ext cx="2999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有社交、有消费、有复访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NIGHTSCAPE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建立“一核、两带、多点”的夜景秩序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4846320" cy="4389120"/>
          </a:xfrm>
          <a:prstGeom prst="rect">
            <a:avLst/>
          </a:prstGeom>
          <a:solidFill>
            <a:srgbClr val="E8E3D9"/>
          </a:solidFill>
          <a:ln w="15240">
            <a:solidFill>
              <a:srgbClr val="D450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5486400"/>
            <a:ext cx="4297680" cy="-3566160"/>
          </a:xfrm>
          <a:prstGeom prst="line">
            <a:avLst/>
          </a:prstGeom>
          <a:noFill/>
          <a:ln w="10160">
            <a:solidFill>
              <a:srgbClr val="B6B1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20240"/>
            <a:ext cx="4297680" cy="3566160"/>
          </a:xfrm>
          <a:prstGeom prst="line">
            <a:avLst/>
          </a:prstGeom>
          <a:noFill/>
          <a:ln w="10160">
            <a:solidFill>
              <a:srgbClr val="B6B1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5385816"/>
            <a:ext cx="4443984" cy="310896"/>
          </a:xfrm>
          <a:prstGeom prst="roundRect">
            <a:avLst/>
          </a:prstGeom>
          <a:solidFill>
            <a:srgbClr val="FFFCF5">
              <a:alpha val="93000"/>
            </a:srgbClr>
          </a:solidFill>
          <a:ln w="12700">
            <a:solidFill>
              <a:srgbClr val="FFFCF5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543153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图片占位｜断桥夜景/鸭绿江夜航</a:t>
            </a:r>
            <a:endParaRPr lang="en-US" sz="68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155448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一核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15544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断桥—码头夜游核心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03911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历史地标、城市仪式、夜航集散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806440" y="2633472"/>
            <a:ext cx="5349240" cy="0"/>
          </a:xfrm>
          <a:prstGeom prst="line">
            <a:avLst/>
          </a:prstGeom>
          <a:noFill/>
          <a:ln w="12700">
            <a:solidFill>
              <a:srgbClr val="E7E1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290779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两带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90779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滨江生活带 + 水上观览带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39242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步行消费与游船观景相互导流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806440" y="3986784"/>
            <a:ext cx="5349240" cy="0"/>
          </a:xfrm>
          <a:prstGeom prst="line">
            <a:avLst/>
          </a:prstGeom>
          <a:noFill/>
          <a:ln w="12700">
            <a:solidFill>
              <a:srgbClr val="E7E1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06440" y="4261104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D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多点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426110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桥、塔、驿站、广场、建筑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474573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克制照明形成节奏，不做全线同亮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806440" y="5340096"/>
            <a:ext cx="5349240" cy="0"/>
          </a:xfrm>
          <a:prstGeom prst="line">
            <a:avLst/>
          </a:prstGeom>
          <a:noFill/>
          <a:ln w="12700">
            <a:solidFill>
              <a:srgbClr val="E7E1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06440" y="55321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灯光底线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54223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生态友好｜避免眩光｜控制色温｜重大节日动态切换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PERFORMANCE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不押注单一大剧场：构建“大、中、小”三级演艺生态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627632"/>
            <a:ext cx="3401568" cy="2880360"/>
          </a:xfrm>
          <a:prstGeom prst="roundRect">
            <a:avLst/>
          </a:prstGeom>
          <a:solidFill>
            <a:srgbClr val="173A3A"/>
          </a:solidFill>
          <a:ln w="12700">
            <a:solidFill>
              <a:srgbClr val="173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城市级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《鸭绿江之夜》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沉浸式水岸演艺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8E4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建立城市主叙事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8E4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旺季定时、淡季节庆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361688" y="1975104"/>
            <a:ext cx="3401568" cy="2532888"/>
          </a:xfrm>
          <a:prstGeom prst="roundRect">
            <a:avLst/>
          </a:prstGeom>
          <a:solidFill>
            <a:srgbClr val="2E6471"/>
          </a:solidFill>
          <a:ln w="12700">
            <a:solidFill>
              <a:srgbClr val="2E647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90288" y="217627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街区级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263347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码头音乐 / 行进巡游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夜间快闪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363931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8E4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低门槛聚人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8E4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与餐饮商业联动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129016" y="2322576"/>
            <a:ext cx="3401568" cy="2185416"/>
          </a:xfrm>
          <a:prstGeom prst="roundRect">
            <a:avLst/>
          </a:prstGeom>
          <a:solidFill>
            <a:srgbClr val="4D725B"/>
          </a:solidFill>
          <a:ln w="12700">
            <a:solidFill>
              <a:srgbClr val="4D72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57616" y="252374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场所级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57616" y="2980944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餐厅驻演 / 故事会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朝鲜族歌舞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57616" y="398678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8E4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高频常态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8E4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支持青年主理人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" y="5047488"/>
            <a:ext cx="10972800" cy="777240"/>
          </a:xfrm>
          <a:prstGeom prst="roundRect">
            <a:avLst>
              <a:gd name="adj" fmla="val 7059"/>
            </a:avLst>
          </a:prstGeom>
          <a:solidFill>
            <a:srgbClr val="F2DDD5"/>
          </a:solidFill>
          <a:ln w="12700">
            <a:solidFill>
              <a:srgbClr val="F2DDD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" y="5230368"/>
            <a:ext cx="10570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运营原则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5669280"/>
            <a:ext cx="10570464" cy="-9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先用可移动、可迭代、可季节调整的内容验证市场，再决定固定资产投入。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NIGHTLIFE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夜生活要覆盖年轻人，也要覆盖家庭与银发客群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212080" cy="1490472"/>
          </a:xfrm>
          <a:prstGeom prst="roundRect">
            <a:avLst>
              <a:gd name="adj" fmla="val 3681"/>
            </a:avLst>
          </a:prstGeom>
          <a:solidFill>
            <a:srgbClr val="DDE9E8"/>
          </a:solidFill>
          <a:ln w="12700">
            <a:solidFill>
              <a:srgbClr val="DD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" y="1783080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青年社交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221992"/>
            <a:ext cx="480974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江畔音乐、精酿、小酒馆、夜骑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43400" y="1819656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FFCF5"/>
          </a:solidFill>
          <a:ln w="12700">
            <a:solidFill>
              <a:srgbClr val="FFFC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16552" y="1837944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21:00后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212080" cy="1490472"/>
          </a:xfrm>
          <a:prstGeom prst="roundRect">
            <a:avLst>
              <a:gd name="adj" fmla="val 3681"/>
            </a:avLst>
          </a:prstGeom>
          <a:solidFill>
            <a:srgbClr val="F2DDD5"/>
          </a:solidFill>
          <a:ln w="12700">
            <a:solidFill>
              <a:srgbClr val="F2DDD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73368" y="1783080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家庭夜游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73368" y="2221992"/>
            <a:ext cx="480974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游船、轻演艺、亲子市集、甜品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21240" y="1819656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FFCF5"/>
          </a:solidFill>
          <a:ln w="12700">
            <a:solidFill>
              <a:srgbClr val="FFFC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94392" y="1837944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18:30–21:30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94360" y="3474720"/>
            <a:ext cx="5212080" cy="1490472"/>
          </a:xfrm>
          <a:prstGeom prst="roundRect">
            <a:avLst>
              <a:gd name="adj" fmla="val 3681"/>
            </a:avLst>
          </a:prstGeom>
          <a:solidFill>
            <a:srgbClr val="E3EBDD"/>
          </a:solidFill>
          <a:ln w="12700">
            <a:solidFill>
              <a:srgbClr val="E3EB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5528" y="3657600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银发文化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4096512"/>
            <a:ext cx="480974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滨江散步、戏曲、故事会、茶叙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43400" y="3694176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FFCF5"/>
          </a:solidFill>
          <a:ln w="12700">
            <a:solidFill>
              <a:srgbClr val="FFFC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16552" y="3712464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18:00–20:30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172200" y="3474720"/>
            <a:ext cx="5212080" cy="1490472"/>
          </a:xfrm>
          <a:prstGeom prst="roundRect">
            <a:avLst>
              <a:gd name="adj" fmla="val 3681"/>
            </a:avLst>
          </a:prstGeom>
          <a:solidFill>
            <a:srgbClr val="EEE5D4"/>
          </a:solidFill>
          <a:ln w="12700">
            <a:solidFill>
              <a:srgbClr val="EEE5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73368" y="3657600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大众夜食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73368" y="4096512"/>
            <a:ext cx="480974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海鲜、烧烤、朝鲜族风味、夜市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921240" y="3694176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FFCF5"/>
          </a:solidFill>
          <a:ln w="12700">
            <a:solidFill>
              <a:srgbClr val="FFFC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94392" y="3712464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18:00–24:00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4864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治理同步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572768" y="537667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营业时间｜噪声边界｜交通疏散｜食品安全｜价格诚信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FOUR SEASONS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四季不是四套口号，而是四种明确的来丹东理由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2487168" cy="406908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4D72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105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D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春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江岸苏醒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花季 / 草莓 / 乡村</a:t>
            </a:r>
            <a:endParaRPr lang="en-US" sz="93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224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D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年度事件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590288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331开路季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10712" y="1554480"/>
            <a:ext cx="2487168" cy="4069080"/>
          </a:xfrm>
          <a:prstGeom prst="roundRect">
            <a:avLst/>
          </a:prstGeom>
          <a:solidFill>
            <a:srgbClr val="173A3A"/>
          </a:solidFill>
          <a:ln w="19050">
            <a:solidFill>
              <a:srgbClr val="2E64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93592" y="18105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64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25146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江风不眠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310896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C7D8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避暑 / 夜游 / 海岛</a:t>
            </a:r>
            <a:endParaRPr lang="en-US" sz="93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4224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64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年度事件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4590288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鸭绿江之夜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27064" y="1554480"/>
            <a:ext cx="2487168" cy="406908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9944" y="18105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秋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25146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满城金色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310896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银杏 / 骑行 / 摄影</a:t>
            </a:r>
            <a:endParaRPr lang="en-US" sz="93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4224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A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年度事件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4590288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银杏城市季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43416" y="1554480"/>
            <a:ext cx="2487168" cy="406908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D4503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26296" y="18105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4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9226296" y="25146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暖泉静养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226296" y="310896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温泉 / 雾凇 / 美食</a:t>
            </a:r>
            <a:endParaRPr lang="en-US" sz="930" dirty="0"/>
          </a:p>
        </p:txBody>
      </p:sp>
      <p:sp>
        <p:nvSpPr>
          <p:cNvPr id="26" name="Text 24"/>
          <p:cNvSpPr txBox="1"/>
          <p:nvPr/>
        </p:nvSpPr>
        <p:spPr>
          <a:xfrm>
            <a:off x="9226296" y="4224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4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年度事件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9226296" y="4590288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边境暖冬季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HEAT MANAGEMENT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“一季一主题、一月一事件、每周有内容”保持城市热度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0876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1月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749808" cy="2286000"/>
          </a:xfrm>
          <a:prstGeom prst="rect">
            <a:avLst/>
          </a:prstGeom>
          <a:solidFill>
            <a:srgbClr val="F2D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08760" y="150876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2月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508760" y="1920240"/>
            <a:ext cx="749808" cy="2286000"/>
          </a:xfrm>
          <a:prstGeom prst="rect">
            <a:avLst/>
          </a:prstGeom>
          <a:solidFill>
            <a:srgbClr val="F2D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23160" y="150876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3月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423160" y="1920240"/>
            <a:ext cx="749808" cy="2286000"/>
          </a:xfrm>
          <a:prstGeom prst="rect">
            <a:avLst/>
          </a:prstGeom>
          <a:solidFill>
            <a:srgbClr val="E3EB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37560" y="150876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37560" y="1920240"/>
            <a:ext cx="749808" cy="2286000"/>
          </a:xfrm>
          <a:prstGeom prst="rect">
            <a:avLst/>
          </a:prstGeom>
          <a:solidFill>
            <a:srgbClr val="E3EB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51960" y="150876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5月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251960" y="1920240"/>
            <a:ext cx="749808" cy="2286000"/>
          </a:xfrm>
          <a:prstGeom prst="rect">
            <a:avLst/>
          </a:prstGeom>
          <a:solidFill>
            <a:srgbClr val="E3EB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66360" y="150876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6月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166360" y="1920240"/>
            <a:ext cx="749808" cy="2286000"/>
          </a:xfrm>
          <a:prstGeom prst="rect">
            <a:avLst/>
          </a:prstGeom>
          <a:solidFill>
            <a:srgbClr val="DDE9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80760" y="150876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7月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080760" y="1920240"/>
            <a:ext cx="749808" cy="2286000"/>
          </a:xfrm>
          <a:prstGeom prst="rect">
            <a:avLst/>
          </a:prstGeom>
          <a:solidFill>
            <a:srgbClr val="DDE9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95160" y="150876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995160" y="1920240"/>
            <a:ext cx="749808" cy="2286000"/>
          </a:xfrm>
          <a:prstGeom prst="rect">
            <a:avLst/>
          </a:prstGeom>
          <a:solidFill>
            <a:srgbClr val="DDE9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09560" y="150876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909560" y="1920240"/>
            <a:ext cx="749808" cy="2286000"/>
          </a:xfrm>
          <a:prstGeom prst="rect">
            <a:avLst/>
          </a:prstGeom>
          <a:solidFill>
            <a:srgbClr val="EEE5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23960" y="150876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10月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8823960" y="1920240"/>
            <a:ext cx="749808" cy="2286000"/>
          </a:xfrm>
          <a:prstGeom prst="rect">
            <a:avLst/>
          </a:prstGeom>
          <a:solidFill>
            <a:srgbClr val="EEE5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738360" y="150876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11月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9738360" y="1920240"/>
            <a:ext cx="749808" cy="2286000"/>
          </a:xfrm>
          <a:prstGeom prst="rect">
            <a:avLst/>
          </a:prstGeom>
          <a:solidFill>
            <a:srgbClr val="EEE5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652760" y="150876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12月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0652760" y="1920240"/>
            <a:ext cx="749808" cy="2286000"/>
          </a:xfrm>
          <a:prstGeom prst="rect">
            <a:avLst/>
          </a:prstGeom>
          <a:solidFill>
            <a:srgbClr val="F2D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" y="2084832"/>
            <a:ext cx="1664208" cy="566928"/>
          </a:xfrm>
          <a:prstGeom prst="roundRect">
            <a:avLst/>
          </a:prstGeom>
          <a:solidFill>
            <a:srgbClr val="D45035"/>
          </a:solidFill>
          <a:ln w="12700">
            <a:solidFill>
              <a:srgbClr val="D4503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" y="219456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边境暖冬季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450592" y="2889504"/>
            <a:ext cx="2578608" cy="566928"/>
          </a:xfrm>
          <a:prstGeom prst="roundRect">
            <a:avLst/>
          </a:prstGeom>
          <a:solidFill>
            <a:srgbClr val="4D725B"/>
          </a:solidFill>
          <a:ln w="12700">
            <a:solidFill>
              <a:srgbClr val="4D725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496312" y="299923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草莓花季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193792" y="2084832"/>
            <a:ext cx="2578608" cy="566928"/>
          </a:xfrm>
          <a:prstGeom prst="roundRect">
            <a:avLst/>
          </a:prstGeom>
          <a:solidFill>
            <a:srgbClr val="2E6471"/>
          </a:solidFill>
          <a:ln w="12700">
            <a:solidFill>
              <a:srgbClr val="2E647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239512" y="219456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鸭绿江之夜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936992" y="2889504"/>
            <a:ext cx="1664208" cy="566928"/>
          </a:xfrm>
          <a:prstGeom prst="round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982712" y="299923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331自驾节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851392" y="2084832"/>
            <a:ext cx="1664208" cy="566928"/>
          </a:xfrm>
          <a:prstGeom prst="round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897112" y="219456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银杏城市季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94360" y="4645152"/>
            <a:ext cx="2487168" cy="987552"/>
          </a:xfrm>
          <a:prstGeom prst="roundRect">
            <a:avLst>
              <a:gd name="adj" fmla="val 5556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95528" y="482803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每季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95528" y="5266944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形成一个全国传播主题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3410712" y="4645152"/>
            <a:ext cx="2487168" cy="987552"/>
          </a:xfrm>
          <a:prstGeom prst="roundRect">
            <a:avLst>
              <a:gd name="adj" fmla="val 5556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611880" y="482803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3611880" y="5266944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至少一个可预订事件产品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6227064" y="4645152"/>
            <a:ext cx="2487168" cy="987552"/>
          </a:xfrm>
          <a:prstGeom prst="roundRect">
            <a:avLst>
              <a:gd name="adj" fmla="val 5556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28232" y="482803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428232" y="5266944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演艺、市集、社群活动常态更新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9043416" y="4645152"/>
            <a:ext cx="2487168" cy="987552"/>
          </a:xfrm>
          <a:prstGeom prst="roundRect">
            <a:avLst>
              <a:gd name="adj" fmla="val 5556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244584" y="482803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244584" y="5266944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官方账号发布实时玩法与服务信息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7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5035"/>
          </a:solidFill>
          <a:ln w="12700">
            <a:solidFill>
              <a:srgbClr val="D450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5943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8288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产品与客群：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从“到访”走向“复访”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61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AD9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组合空间、票务与人群，重建丹东旅游收益模型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3886200"/>
            <a:ext cx="1216152" cy="310896"/>
          </a:xfrm>
          <a:prstGeom prst="roundRect">
            <a:avLst>
              <a:gd name="adj" fmla="val 23529"/>
            </a:avLst>
          </a:prstGeom>
          <a:solidFill>
            <a:srgbClr val="244E4E"/>
          </a:solidFill>
          <a:ln w="12700">
            <a:solidFill>
              <a:srgbClr val="244E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3904488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停留时长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112264" y="3886200"/>
            <a:ext cx="1014984" cy="310896"/>
          </a:xfrm>
          <a:prstGeom prst="roundRect">
            <a:avLst>
              <a:gd name="adj" fmla="val 23529"/>
            </a:avLst>
          </a:prstGeom>
          <a:solidFill>
            <a:srgbClr val="244E4E"/>
          </a:solidFill>
          <a:ln w="12700">
            <a:solidFill>
              <a:srgbClr val="244E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85416" y="390448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组合票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91840" y="3886200"/>
            <a:ext cx="1216152" cy="310896"/>
          </a:xfrm>
          <a:prstGeom prst="roundRect">
            <a:avLst>
              <a:gd name="adj" fmla="val 23529"/>
            </a:avLst>
          </a:prstGeom>
          <a:solidFill>
            <a:srgbClr val="244E4E"/>
          </a:solidFill>
          <a:ln w="12700">
            <a:solidFill>
              <a:srgbClr val="244E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64992" y="3904488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自驾研学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672584" y="3886200"/>
            <a:ext cx="1216152" cy="310896"/>
          </a:xfrm>
          <a:prstGeom prst="roundRect">
            <a:avLst>
              <a:gd name="adj" fmla="val 23529"/>
            </a:avLst>
          </a:prstGeom>
          <a:solidFill>
            <a:srgbClr val="244E4E"/>
          </a:solidFill>
          <a:ln w="12700">
            <a:solidFill>
              <a:srgbClr val="244E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45736" y="3904488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银发旅居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8823960" y="502920"/>
            <a:ext cx="2788920" cy="5440680"/>
          </a:xfrm>
          <a:prstGeom prst="rect">
            <a:avLst/>
          </a:prstGeom>
          <a:solidFill>
            <a:srgbClr val="E8E3D9"/>
          </a:solidFill>
          <a:ln w="15240">
            <a:solidFill>
              <a:srgbClr val="D450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98280" y="5532120"/>
            <a:ext cx="2240280" cy="-4617720"/>
          </a:xfrm>
          <a:prstGeom prst="line">
            <a:avLst/>
          </a:prstGeom>
          <a:noFill/>
          <a:ln w="10160">
            <a:solidFill>
              <a:srgbClr val="B6B1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98280" y="914400"/>
            <a:ext cx="2240280" cy="4617720"/>
          </a:xfrm>
          <a:prstGeom prst="line">
            <a:avLst/>
          </a:prstGeom>
          <a:noFill/>
          <a:ln w="10160">
            <a:solidFill>
              <a:srgbClr val="B6B1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25128" y="5431536"/>
            <a:ext cx="2386584" cy="310896"/>
          </a:xfrm>
          <a:prstGeom prst="roundRect">
            <a:avLst/>
          </a:prstGeom>
          <a:solidFill>
            <a:srgbClr val="FFFCF5">
              <a:alpha val="93000"/>
            </a:srgbClr>
          </a:solidFill>
          <a:ln w="12700">
            <a:solidFill>
              <a:srgbClr val="FFFCF5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98280" y="54772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图片占位｜章节主视觉</a:t>
            </a:r>
            <a:endParaRPr lang="en-US" sz="68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62636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1A8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丹东城市旅游战略规划 · 政府研讨版</a:t>
            </a:r>
            <a:endParaRPr lang="en-US" sz="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PRODUCT LADDER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以停留时长为主线，构建“半日—三日—旅居”产品阶梯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4069080"/>
            <a:ext cx="1938528" cy="1097280"/>
          </a:xfrm>
          <a:prstGeom prst="roundRect">
            <a:avLst/>
          </a:prstGeom>
          <a:solidFill>
            <a:srgbClr val="DDE9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0664" y="423367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半日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0664" y="472744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断桥 + 纪念馆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47823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城市初识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2834640" y="3538728"/>
            <a:ext cx="1938528" cy="1627632"/>
          </a:xfrm>
          <a:prstGeom prst="roundRect">
            <a:avLst/>
          </a:prstGeom>
          <a:solidFill>
            <a:srgbClr val="D7E4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370332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1日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4197096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虎山—沿江—断桥—夜游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980944" y="47823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核心闭环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5074920" y="3008376"/>
            <a:ext cx="1938528" cy="2157984"/>
          </a:xfrm>
          <a:prstGeom prst="roundRect">
            <a:avLst/>
          </a:prstGeom>
          <a:solidFill>
            <a:srgbClr val="E3EB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21224" y="317296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2日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221224" y="3666744"/>
            <a:ext cx="16093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沿江 + 凤凰山/温泉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221224" y="47823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山水度假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7315200" y="2478024"/>
            <a:ext cx="1938528" cy="2688336"/>
          </a:xfrm>
          <a:prstGeom prst="roundRect">
            <a:avLst/>
          </a:prstGeom>
          <a:solidFill>
            <a:srgbClr val="EEE5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61504" y="264261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3日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461504" y="3136392"/>
            <a:ext cx="160934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沿江 + 海岛/乡村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461504" y="47823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全域体验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9555480" y="1947672"/>
            <a:ext cx="1938528" cy="3218688"/>
          </a:xfrm>
          <a:prstGeom prst="roundRect">
            <a:avLst/>
          </a:prstGeom>
          <a:solidFill>
            <a:srgbClr val="173A3A"/>
          </a:solidFill>
          <a:ln w="12700">
            <a:solidFill>
              <a:srgbClr val="173A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01784" y="211226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7日+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01784" y="2606040"/>
            <a:ext cx="160934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温泉康养 + 社群课程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9701784" y="47823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B9CD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银发旅居</a:t>
            </a:r>
            <a:endParaRPr lang="en-US" sz="68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72414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战略指标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572768" y="56235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优先提升过夜率与夜间消费，不以单纯客流量作为首要考核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TICKETING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以“产品包”替代“景点票”：让游客更容易多玩、多住、多消费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5230368" cy="1490472"/>
          </a:xfrm>
          <a:prstGeom prst="roundRect">
            <a:avLst>
              <a:gd name="adj" fmla="val 3681"/>
            </a:avLst>
          </a:prstGeom>
          <a:solidFill>
            <a:srgbClr val="F2DDD5"/>
          </a:solidFill>
          <a:ln w="12700">
            <a:solidFill>
              <a:srgbClr val="F2DD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" y="1719072"/>
            <a:ext cx="4828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城市夜游包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157984"/>
            <a:ext cx="48280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断桥 + 游船 + 演艺 + 夜食券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172200" y="1536192"/>
            <a:ext cx="5230368" cy="1490472"/>
          </a:xfrm>
          <a:prstGeom prst="roundRect">
            <a:avLst>
              <a:gd name="adj" fmla="val 3681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73368" y="1719072"/>
            <a:ext cx="4828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沿江一日包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2157984"/>
            <a:ext cx="48280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虎山 + 快线 + 驿站权益 + 断桥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3410712"/>
            <a:ext cx="5230368" cy="1490472"/>
          </a:xfrm>
          <a:prstGeom prst="roundRect">
            <a:avLst>
              <a:gd name="adj" fmla="val 3681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3593592"/>
            <a:ext cx="4828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331出发包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4032504"/>
            <a:ext cx="48280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起点仪式 + 自驾路书 + 补能 + 住宿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72200" y="3410712"/>
            <a:ext cx="5230368" cy="1490472"/>
          </a:xfrm>
          <a:prstGeom prst="roundRect">
            <a:avLst>
              <a:gd name="adj" fmla="val 3681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73368" y="3593592"/>
            <a:ext cx="4828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银发旅居包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73368" y="4032504"/>
            <a:ext cx="48280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温泉 + 适老交通 + 课程 + 医疗协同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60520" y="1773936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DDE9E8"/>
          </a:solidFill>
          <a:ln w="12700">
            <a:solidFill>
              <a:srgbClr val="DDE9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33672" y="1792224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年轻人 / 家庭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9738360" y="1773936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DDE9E8"/>
          </a:solidFill>
          <a:ln w="12700">
            <a:solidFill>
              <a:srgbClr val="DDE9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11512" y="1792224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高铁客 / 团队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160520" y="3648456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DDE9E8"/>
          </a:solidFill>
          <a:ln w="12700">
            <a:solidFill>
              <a:srgbClr val="DDE9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33672" y="3666744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自驾 / 摩旅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9738360" y="3648456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DDE9E8"/>
          </a:solidFill>
          <a:ln w="12700">
            <a:solidFill>
              <a:srgbClr val="DDE9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811512" y="3666744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银发 / 疗休养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4406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实施关键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572768" y="53309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统一入口｜动态定价｜跨主体分账｜会员沉淀｜淡旺季调节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AUDIENCE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客群导入：不同人群，不同理由、不同渠道、不同产品</a:t>
            </a:r>
            <a:endParaRPr lang="en-US" sz="2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10972800" cy="3950208"/>
        </p:xfrm>
        <a:graphic>
          <a:graphicData uri="http://schemas.openxmlformats.org/drawingml/2006/table">
            <a:tbl>
              <a:tblPr/>
              <a:tblGrid>
                <a:gridCol w="1828800"/>
                <a:gridCol w="2834640"/>
                <a:gridCol w="3291840"/>
                <a:gridCol w="30175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核心客群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来丹东理由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首推产品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主要渠道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东北城市家庭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避暑、亲子、周末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沿江夜游 + 研学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高铁、亲子社群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全国自驾客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331起点、边境探索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起点仪式 + 路书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自驾平台、车友会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青年客群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边境打卡、夜生活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城市漫游 + 演艺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小红书、抖音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银发客群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温泉、康养、慢节奏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7—21日旅居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协会、疗休养机构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研学团队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红色、国防、地理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主题课程 + 任务线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学校、研学机构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58368" y="5687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近程做频次｜远程做主题｜年轻人做传播｜银发做停留｜研学做淡季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LONG-STAY ECONOMY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更高维度：让旅游成为人口回流与城市更新的入口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041648" y="1435608"/>
            <a:ext cx="4114800" cy="4114800"/>
          </a:xfrm>
          <a:prstGeom prst="ellipse">
            <a:avLst/>
          </a:prstGeom>
          <a:solidFill>
            <a:srgbClr val="DDE9E8">
              <a:alpha val="92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76672" y="17190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旅游到访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5152" y="2039112"/>
            <a:ext cx="2907792" cy="2907792"/>
          </a:xfrm>
          <a:prstGeom prst="ellipse">
            <a:avLst/>
          </a:prstGeom>
          <a:solidFill>
            <a:srgbClr val="E3EBDD">
              <a:alpha val="92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0" y="23042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旅居停留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39512" y="2633472"/>
            <a:ext cx="1719072" cy="1719072"/>
          </a:xfrm>
          <a:prstGeom prst="ellipse">
            <a:avLst/>
          </a:prstGeom>
          <a:solidFill>
            <a:srgbClr val="173A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59552" y="3182112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人口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1600200"/>
            <a:ext cx="3017520" cy="1188720"/>
          </a:xfrm>
          <a:prstGeom prst="roundRect">
            <a:avLst>
              <a:gd name="adj" fmla="val 4615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178308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银发旅居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221992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温泉、医疗协同、老年大学、社群活动、长期租住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4069080"/>
            <a:ext cx="3017520" cy="1188720"/>
          </a:xfrm>
          <a:prstGeom prst="roundRect">
            <a:avLst>
              <a:gd name="adj" fmla="val 4615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425196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返乡消费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4690872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面向丹东籍外地人口设计探亲度假、节庆与置业服务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577072" y="1600200"/>
            <a:ext cx="3017520" cy="1188720"/>
          </a:xfrm>
          <a:prstGeom prst="roundRect">
            <a:avLst>
              <a:gd name="adj" fmla="val 4615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0" y="178308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青年主理人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2221992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用低成本空间、内容场景和创业支持吸引返乡创业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577072" y="4069080"/>
            <a:ext cx="3017520" cy="1188720"/>
          </a:xfrm>
          <a:prstGeom prst="roundRect">
            <a:avLst>
              <a:gd name="adj" fmla="val 4615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78240" y="425196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城市宜居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778240" y="4690872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文旅改善夜生活、公共空间与服务，反向增强留人能力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CITY IP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城市IP不是一句口号，而是一套持续生产内容的系统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53712" y="1828800"/>
            <a:ext cx="2971800" cy="2971800"/>
          </a:xfrm>
          <a:prstGeom prst="ellipse">
            <a:avLst/>
          </a:prstGeom>
          <a:solidFill>
            <a:srgbClr val="173A3A"/>
          </a:solidFill>
          <a:ln w="25400">
            <a:solidFill>
              <a:srgbClr val="D9A4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38928" y="2514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城市母IP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74920" y="3063240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江山起点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边境丹东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2834640" cy="1143000"/>
          </a:xfrm>
          <a:prstGeom prst="roundRect">
            <a:avLst>
              <a:gd name="adj" fmla="val 4800"/>
            </a:avLst>
          </a:prstGeom>
          <a:solidFill>
            <a:srgbClr val="FFFCF5"/>
          </a:solidFill>
          <a:ln w="19050">
            <a:solidFill>
              <a:srgbClr val="D450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160020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331起点IP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039112"/>
            <a:ext cx="24323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出发仪式 / 自驾节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29000" y="1984248"/>
            <a:ext cx="1143000" cy="621792"/>
          </a:xfrm>
          <a:prstGeom prst="line">
            <a:avLst/>
          </a:prstGeom>
          <a:noFill/>
          <a:ln w="16510">
            <a:solidFill>
              <a:srgbClr val="D450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77072" y="1417320"/>
            <a:ext cx="2834640" cy="1143000"/>
          </a:xfrm>
          <a:prstGeom prst="roundRect">
            <a:avLst>
              <a:gd name="adj" fmla="val 4800"/>
            </a:avLst>
          </a:prstGeom>
          <a:solidFill>
            <a:srgbClr val="FFFCF5"/>
          </a:solidFill>
          <a:ln w="19050">
            <a:solidFill>
              <a:srgbClr val="2E64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78240" y="160020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鸭绿江夜IP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0" y="2039112"/>
            <a:ext cx="24323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夜航 / 演艺 / 夜食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516368" y="1984248"/>
            <a:ext cx="1060704" cy="621792"/>
          </a:xfrm>
          <a:prstGeom prst="line">
            <a:avLst/>
          </a:prstGeom>
          <a:noFill/>
          <a:ln w="16510">
            <a:solidFill>
              <a:srgbClr val="2E647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4343400"/>
            <a:ext cx="2834640" cy="1143000"/>
          </a:xfrm>
          <a:prstGeom prst="roundRect">
            <a:avLst>
              <a:gd name="adj" fmla="val 4800"/>
            </a:avLst>
          </a:prstGeom>
          <a:solidFill>
            <a:srgbClr val="FFFCF5"/>
          </a:solidFill>
          <a:ln w="19050">
            <a:solidFill>
              <a:srgbClr val="4D72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" y="452628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四季生活IP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4965192"/>
            <a:ext cx="24323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草莓 / 银杏 / 温泉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429000" y="4910328"/>
            <a:ext cx="1143000" cy="-621792"/>
          </a:xfrm>
          <a:prstGeom prst="line">
            <a:avLst/>
          </a:prstGeom>
          <a:noFill/>
          <a:ln w="16510">
            <a:solidFill>
              <a:srgbClr val="4D72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77072" y="4343400"/>
            <a:ext cx="2834640" cy="1143000"/>
          </a:xfrm>
          <a:prstGeom prst="roundRect">
            <a:avLst>
              <a:gd name="adj" fmla="val 4800"/>
            </a:avLst>
          </a:prstGeom>
          <a:solidFill>
            <a:srgbClr val="FFFCF5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78240" y="452628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和平记忆IP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778240" y="4965192"/>
            <a:ext cx="24323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断桥 / 研学 / 国际表达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516368" y="4910328"/>
            <a:ext cx="1060704" cy="-621792"/>
          </a:xfrm>
          <a:prstGeom prst="line">
            <a:avLst/>
          </a:prstGeom>
          <a:noFill/>
          <a:ln w="16510">
            <a:solidFill>
              <a:srgbClr val="D9A44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BENCHMARKS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学河南，不学“仿古”：学习持续运营、全城联动与内容更新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洛阳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029968" y="14813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64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全城场景化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703320" y="148132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一个主题贯穿景区、街区、服饰、餐饮与传播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640080" y="2075688"/>
            <a:ext cx="10561320" cy="0"/>
          </a:xfrm>
          <a:prstGeom prst="line">
            <a:avLst/>
          </a:prstGeom>
          <a:noFill/>
          <a:ln w="10160">
            <a:solidFill>
              <a:srgbClr val="E7E1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32257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开封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029968" y="232257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64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高频演艺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322576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演出成为日常运营，不依赖一次性大型节庆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40080" y="2916936"/>
            <a:ext cx="10561320" cy="0"/>
          </a:xfrm>
          <a:prstGeom prst="line">
            <a:avLst/>
          </a:prstGeom>
          <a:noFill/>
          <a:ln w="10160">
            <a:solidFill>
              <a:srgbClr val="E7E1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16382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老君山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029968" y="316382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64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情绪内容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316382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用年轻化表达把资源转化为社交传播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40080" y="3758184"/>
            <a:ext cx="10561320" cy="0"/>
          </a:xfrm>
          <a:prstGeom prst="line">
            <a:avLst/>
          </a:prstGeom>
          <a:noFill/>
          <a:ln w="10160">
            <a:solidFill>
              <a:srgbClr val="E7E1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0050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淄博 / 天水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029968" y="40050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64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全城承接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400507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政府服务、价格治理与市民参与共同托住流量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40080" y="4599432"/>
            <a:ext cx="10561320" cy="0"/>
          </a:xfrm>
          <a:prstGeom prst="line">
            <a:avLst/>
          </a:prstGeom>
          <a:noFill/>
          <a:ln w="10160">
            <a:solidFill>
              <a:srgbClr val="E7E1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8463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阿勒泰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029968" y="48463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64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生活方式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703320" y="48463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目的地卖的不是景点，而是向往的日常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40080" y="5440680"/>
            <a:ext cx="10561320" cy="0"/>
          </a:xfrm>
          <a:prstGeom prst="line">
            <a:avLst/>
          </a:prstGeom>
          <a:noFill/>
          <a:ln w="10160">
            <a:solidFill>
              <a:srgbClr val="E7E1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779008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D45035"/>
          </a:solidFill>
          <a:ln w="12700">
            <a:solidFill>
              <a:srgbClr val="D4503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5797296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丹东转化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2011680" y="5696712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边境真实场景 + 鸭绿江生活 + 高频内容运营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7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5035"/>
          </a:solidFill>
          <a:ln w="12700">
            <a:solidFill>
              <a:srgbClr val="D450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5943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8288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行动机制：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从共识走向项目落地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61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AD9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先解决跨部门统筹，再解决项目投资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3886200"/>
            <a:ext cx="1216152" cy="310896"/>
          </a:xfrm>
          <a:prstGeom prst="roundRect">
            <a:avLst>
              <a:gd name="adj" fmla="val 23529"/>
            </a:avLst>
          </a:prstGeom>
          <a:solidFill>
            <a:srgbClr val="244E4E"/>
          </a:solidFill>
          <a:ln w="12700">
            <a:solidFill>
              <a:srgbClr val="244E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3904488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一套机制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112264" y="3886200"/>
            <a:ext cx="1216152" cy="310896"/>
          </a:xfrm>
          <a:prstGeom prst="roundRect">
            <a:avLst>
              <a:gd name="adj" fmla="val 23529"/>
            </a:avLst>
          </a:prstGeom>
          <a:solidFill>
            <a:srgbClr val="244E4E"/>
          </a:solidFill>
          <a:ln w="12700">
            <a:solidFill>
              <a:srgbClr val="244E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85416" y="3904488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一张清单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93008" y="388620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44E4E"/>
          </a:solidFill>
          <a:ln w="12700">
            <a:solidFill>
              <a:srgbClr val="244E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3904488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一个示范区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074920" y="3886200"/>
            <a:ext cx="1819656" cy="310896"/>
          </a:xfrm>
          <a:prstGeom prst="roundRect">
            <a:avLst>
              <a:gd name="adj" fmla="val 23529"/>
            </a:avLst>
          </a:prstGeom>
          <a:solidFill>
            <a:srgbClr val="244E4E"/>
          </a:solidFill>
          <a:ln w="12700">
            <a:solidFill>
              <a:srgbClr val="244E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48072" y="390448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一组可量化指标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8823960" y="502920"/>
            <a:ext cx="2788920" cy="5440680"/>
          </a:xfrm>
          <a:prstGeom prst="rect">
            <a:avLst/>
          </a:prstGeom>
          <a:solidFill>
            <a:srgbClr val="E8E3D9"/>
          </a:solidFill>
          <a:ln w="15240">
            <a:solidFill>
              <a:srgbClr val="D450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98280" y="5532120"/>
            <a:ext cx="2240280" cy="-4617720"/>
          </a:xfrm>
          <a:prstGeom prst="line">
            <a:avLst/>
          </a:prstGeom>
          <a:noFill/>
          <a:ln w="10160">
            <a:solidFill>
              <a:srgbClr val="B6B1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98280" y="914400"/>
            <a:ext cx="2240280" cy="4617720"/>
          </a:xfrm>
          <a:prstGeom prst="line">
            <a:avLst/>
          </a:prstGeom>
          <a:noFill/>
          <a:ln w="10160">
            <a:solidFill>
              <a:srgbClr val="B6B1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25128" y="5431536"/>
            <a:ext cx="2386584" cy="310896"/>
          </a:xfrm>
          <a:prstGeom prst="roundRect">
            <a:avLst/>
          </a:prstGeom>
          <a:solidFill>
            <a:srgbClr val="FFFCF5">
              <a:alpha val="93000"/>
            </a:srgbClr>
          </a:solidFill>
          <a:ln w="12700">
            <a:solidFill>
              <a:srgbClr val="FFFCF5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98280" y="54772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图片占位｜章节主视觉</a:t>
            </a:r>
            <a:endParaRPr lang="en-US" sz="68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62636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1A8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丹东城市旅游战略规划 · 政府研讨版</a:t>
            </a:r>
            <a:endParaRPr lang="en-US" sz="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GOVERNANCE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建议建立市级沿江文旅统筹机制，打破条块分割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99432" y="2423160"/>
            <a:ext cx="2880360" cy="1188720"/>
          </a:xfrm>
          <a:prstGeom prst="roundRect">
            <a:avLst/>
          </a:prstGeom>
          <a:solidFill>
            <a:srgbClr val="173A3A"/>
          </a:solidFill>
          <a:ln w="12700">
            <a:solidFill>
              <a:srgbClr val="173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73752" y="2670048"/>
            <a:ext cx="2331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鸭绿江沿江文旅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统筹协调机制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2880360" cy="822960"/>
          </a:xfrm>
          <a:prstGeom prst="roundRect">
            <a:avLst>
              <a:gd name="adj" fmla="val 6667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" y="148132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文旅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1920240"/>
            <a:ext cx="2478024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产品与运营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3474720" y="2121408"/>
            <a:ext cx="1124712" cy="301752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4370832"/>
            <a:ext cx="2880360" cy="822960"/>
          </a:xfrm>
          <a:prstGeom prst="roundRect">
            <a:avLst>
              <a:gd name="adj" fmla="val 6667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455371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住建 / 城管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4992624"/>
            <a:ext cx="2478024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风貌与夜景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3474720" y="3611880"/>
            <a:ext cx="1124712" cy="758952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07992" y="4736592"/>
            <a:ext cx="2880360" cy="822960"/>
          </a:xfrm>
          <a:prstGeom prst="roundRect">
            <a:avLst>
              <a:gd name="adj" fmla="val 6667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491947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5358384"/>
            <a:ext cx="2478024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快线与慢行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5952744" y="3611880"/>
            <a:ext cx="82296" cy="1124712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0" y="4370832"/>
            <a:ext cx="2880360" cy="822960"/>
          </a:xfrm>
          <a:prstGeom prst="roundRect">
            <a:avLst>
              <a:gd name="adj" fmla="val 6667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87968" y="455371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属地政府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887968" y="4992624"/>
            <a:ext cx="2478024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村镇与社区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7479792" y="3611880"/>
            <a:ext cx="0" cy="758952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1298448"/>
            <a:ext cx="2880360" cy="822960"/>
          </a:xfrm>
          <a:prstGeom prst="roundRect">
            <a:avLst>
              <a:gd name="adj" fmla="val 6667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87968" y="148132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公安 / 边防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887968" y="1920240"/>
            <a:ext cx="2478024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安全与秩序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7479792" y="2121408"/>
            <a:ext cx="0" cy="301752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07992" y="960120"/>
            <a:ext cx="2880360" cy="822960"/>
          </a:xfrm>
          <a:prstGeom prst="roundRect">
            <a:avLst>
              <a:gd name="adj" fmla="val 6667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09160" y="114300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国资 / 市场主体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709160" y="1581912"/>
            <a:ext cx="2478024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投资与分账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5952744" y="1783080"/>
            <a:ext cx="82296" cy="64008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FIRST 90 DAYS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先做八件可启动、可见效、可形成共识的事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4475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16152" y="14447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成立沿江统筹专班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216152" y="183794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明确牵头领导、部门接口与周调度机制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594360" y="2340864"/>
            <a:ext cx="5047488" cy="0"/>
          </a:xfrm>
          <a:prstGeom prst="line">
            <a:avLst/>
          </a:prstGeom>
          <a:noFill/>
          <a:ln w="10160">
            <a:solidFill>
              <a:srgbClr val="E7E1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44475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93992" y="14447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启动专项规划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793992" y="183794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编制虎山—断桥空间与产业一体化方案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6172200" y="2340864"/>
            <a:ext cx="5047488" cy="0"/>
          </a:xfrm>
          <a:prstGeom prst="line">
            <a:avLst/>
          </a:prstGeom>
          <a:noFill/>
          <a:ln w="10160">
            <a:solidFill>
              <a:srgbClr val="E7E1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57860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16152" y="257860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确定夜游示范区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216152" y="29718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优先断桥—码头，先内容后重资产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94360" y="3474720"/>
            <a:ext cx="5047488" cy="0"/>
          </a:xfrm>
          <a:prstGeom prst="line">
            <a:avLst/>
          </a:prstGeom>
          <a:noFill/>
          <a:ln w="10160">
            <a:solidFill>
              <a:srgbClr val="E7E1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257860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93992" y="257860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发布暑期行动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793992" y="29718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夜航、快线、延时开放、周末演出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6172200" y="3474720"/>
            <a:ext cx="5047488" cy="0"/>
          </a:xfrm>
          <a:prstGeom prst="line">
            <a:avLst/>
          </a:prstGeom>
          <a:noFill/>
          <a:ln w="10160">
            <a:solidFill>
              <a:srgbClr val="E7E1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712464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216152" y="371246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设计组合票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216152" y="410565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打通景区、游船、交通、演艺和酒店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594360" y="4608576"/>
            <a:ext cx="5047488" cy="0"/>
          </a:xfrm>
          <a:prstGeom prst="line">
            <a:avLst/>
          </a:prstGeom>
          <a:noFill/>
          <a:ln w="10160">
            <a:solidFill>
              <a:srgbClr val="E7E1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72200" y="3712464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793992" y="371246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形成品质导则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793992" y="410565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风貌、店招、灯光、业态准入统一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6172200" y="4608576"/>
            <a:ext cx="5047488" cy="0"/>
          </a:xfrm>
          <a:prstGeom prst="line">
            <a:avLst/>
          </a:prstGeom>
          <a:noFill/>
          <a:ln w="10160">
            <a:solidFill>
              <a:srgbClr val="E7E1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484632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216152" y="4846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策划331起点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216152" y="52395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标志、仪式、路书、车友运营同步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594360" y="5742432"/>
            <a:ext cx="5047488" cy="0"/>
          </a:xfrm>
          <a:prstGeom prst="line">
            <a:avLst/>
          </a:prstGeom>
          <a:noFill/>
          <a:ln w="10160">
            <a:solidFill>
              <a:srgbClr val="E7E1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72200" y="484632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793992" y="4846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引入运营团队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793992" y="52395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演艺、游船、票务和城市内容专业化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6172200" y="5742432"/>
            <a:ext cx="5047488" cy="0"/>
          </a:xfrm>
          <a:prstGeom prst="line">
            <a:avLst/>
          </a:prstGeom>
          <a:noFill/>
          <a:ln w="10160">
            <a:solidFill>
              <a:srgbClr val="E7E1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605332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首个可见成果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1938528" y="593445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“鸭绿江之夜”暑期样板 + 虎山—断桥沿江品质提升任务书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ROADMAP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三阶段推进：示范引爆—廊道成型—全域联动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近期示范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395728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FFFCF5"/>
          </a:solidFill>
          <a:ln w="12700">
            <a:solidFill>
              <a:srgbClr val="FFFC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414016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0—12个月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2999232"/>
            <a:ext cx="3273552" cy="0"/>
          </a:xfrm>
          <a:prstGeom prst="line">
            <a:avLst/>
          </a:prstGeom>
          <a:noFill/>
          <a:ln w="63500">
            <a:solidFill>
              <a:srgbClr val="D4503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401568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断桥—码头夜游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96849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暑期快线与组合票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535424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沿江导则与节点整治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50208" y="2834640"/>
            <a:ext cx="292608" cy="347472"/>
          </a:xfrm>
          <a:prstGeom prst="chevron">
            <a:avLst/>
          </a:prstGeom>
          <a:solidFill>
            <a:srgbClr val="D45035"/>
          </a:solidFill>
          <a:ln w="12700">
            <a:solidFill>
              <a:srgbClr val="D4503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34840" y="1481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A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18470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廊道成型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434840" y="2395728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FFFCF5"/>
          </a:solidFill>
          <a:ln w="12700">
            <a:solidFill>
              <a:srgbClr val="FFFC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07992" y="2414016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1—3年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434840" y="2999232"/>
            <a:ext cx="3273552" cy="0"/>
          </a:xfrm>
          <a:prstGeom prst="line">
            <a:avLst/>
          </a:prstGeom>
          <a:noFill/>
          <a:ln w="63500">
            <a:solidFill>
              <a:srgbClr val="D9A4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34840" y="3401568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驿站与慢行系统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396849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三级演艺常态化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4535424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331起点品牌运营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44968" y="2834640"/>
            <a:ext cx="292608" cy="347472"/>
          </a:xfrm>
          <a:prstGeom prst="chevron">
            <a:avLst/>
          </a:prstGeom>
          <a:solidFill>
            <a:srgbClr val="D45035"/>
          </a:solidFill>
          <a:ln w="12700">
            <a:solidFill>
              <a:srgbClr val="D4503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0" y="1481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D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18470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全域升级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229600" y="2395728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FFFCF5"/>
          </a:solidFill>
          <a:ln w="12700">
            <a:solidFill>
              <a:srgbClr val="FFFC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02752" y="2414016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3—5年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229600" y="2999232"/>
            <a:ext cx="3273552" cy="0"/>
          </a:xfrm>
          <a:prstGeom prst="line">
            <a:avLst/>
          </a:prstGeom>
          <a:noFill/>
          <a:ln w="63500">
            <a:solidFill>
              <a:srgbClr val="4D725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0" y="3401568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山海温泉联动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396849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银发旅居网络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4535424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东北亚边境旅游门户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56509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投资逻辑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5541264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公共空间政府先行｜运营项目市场主导｜重资产项目以验证后的真实需求为前提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KPI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评价标准从“来了多少人”转向“留下多少价值”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7335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029968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停留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423160"/>
            <a:ext cx="30266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平均停留时长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过夜率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61688" y="1536192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4568" y="167335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62856" y="2029968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62856" y="2423160"/>
            <a:ext cx="30266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游客客单价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夜间消费占比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29016" y="1536192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CF5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11896" y="167335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330184" y="2029968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30184" y="2423160"/>
            <a:ext cx="30266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组合票转化率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演艺上座率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502152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DDE9E8"/>
          </a:solidFill>
          <a:ln w="12700">
            <a:solidFill>
              <a:srgbClr val="DDE9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63931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3995928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四季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4389120"/>
            <a:ext cx="30266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淡季入住率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季度客流波动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61688" y="3502152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DDE9E8"/>
          </a:solidFill>
          <a:ln w="12700">
            <a:solidFill>
              <a:srgbClr val="DDE9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44568" y="363931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62856" y="3995928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62856" y="4389120"/>
            <a:ext cx="30266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返乡创业项目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旅居人口规模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29016" y="3502152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DDE9E8"/>
          </a:solidFill>
          <a:ln w="12700">
            <a:solidFill>
              <a:srgbClr val="DDE9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11896" y="363931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330184" y="3995928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口碑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330184" y="4389120"/>
            <a:ext cx="30266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游客满意度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网络正向声量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" y="5715000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建议建立月度驾驶舱：文旅、交通、住宿、票务、舆情数据联动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01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60" kern="0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1264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本次政府研讨建议聚焦六个需要拍板的问题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90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52728" y="149047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是否将虎山—断桥确定为全市文旅第一战略廊道？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2560320"/>
            <a:ext cx="5029200" cy="0"/>
          </a:xfrm>
          <a:prstGeom prst="line">
            <a:avLst/>
          </a:prstGeom>
          <a:noFill/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90488" y="1490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48856" y="149047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由哪个市级机制统一规划、建设、运营和利益协调？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0488" y="2560320"/>
            <a:ext cx="5029200" cy="0"/>
          </a:xfrm>
          <a:prstGeom prst="line">
            <a:avLst/>
          </a:prstGeom>
          <a:noFill/>
          <a:ln w="12700">
            <a:solidFill>
              <a:srgbClr val="E7E1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9077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52728" y="290779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断桥—码头夜游示范区的边界、投入和运营主体如何确定？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3977640"/>
            <a:ext cx="5029200" cy="0"/>
          </a:xfrm>
          <a:prstGeom prst="line">
            <a:avLst/>
          </a:prstGeom>
          <a:noFill/>
          <a:ln w="12700">
            <a:solidFill>
              <a:srgbClr val="E7E1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90488" y="29077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48856" y="290779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331起点如何从标志工程转为长期运营的国家级IP？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90488" y="3977640"/>
            <a:ext cx="5029200" cy="0"/>
          </a:xfrm>
          <a:prstGeom prst="line">
            <a:avLst/>
          </a:prstGeom>
          <a:noFill/>
          <a:ln w="12700">
            <a:solidFill>
              <a:srgbClr val="E7E1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43251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52728" y="432511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暑期行动中哪些事项可立即启动，哪些需要专项论证？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" y="5394960"/>
            <a:ext cx="5029200" cy="0"/>
          </a:xfrm>
          <a:prstGeom prst="line">
            <a:avLst/>
          </a:prstGeom>
          <a:noFill/>
          <a:ln w="12700">
            <a:solidFill>
              <a:srgbClr val="E7E1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90488" y="43251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48856" y="432511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如何用过夜率、夜间消费和淡季入住率重设考核指标？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90488" y="5394960"/>
            <a:ext cx="5029200" cy="0"/>
          </a:xfrm>
          <a:prstGeom prst="line">
            <a:avLst/>
          </a:prstGeom>
          <a:noFill/>
          <a:ln w="12700">
            <a:solidFill>
              <a:srgbClr val="E7E1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5806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建议会后形成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847088" y="5687568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一个领导机制｜一份专项任务书｜一批近期项目｜一套年度运营日历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7B827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7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5035"/>
          </a:solidFill>
          <a:ln w="12700">
            <a:solidFill>
              <a:srgbClr val="D450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129844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9CC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下一步，不是再讨论丹东“有什么”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0848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而是决定先把什么做成。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31520" y="3127248"/>
            <a:ext cx="1828800" cy="0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67588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建议首抓：虎山—断桥沿江廊道 × 鸭绿江之夜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869680" y="960120"/>
            <a:ext cx="2697480" cy="4617720"/>
          </a:xfrm>
          <a:prstGeom prst="rect">
            <a:avLst/>
          </a:prstGeom>
          <a:solidFill>
            <a:srgbClr val="E8E3D9"/>
          </a:solidFill>
          <a:ln w="15240">
            <a:solidFill>
              <a:srgbClr val="D450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0" y="5166360"/>
            <a:ext cx="2148840" cy="-3794760"/>
          </a:xfrm>
          <a:prstGeom prst="line">
            <a:avLst/>
          </a:prstGeom>
          <a:noFill/>
          <a:ln w="10160">
            <a:solidFill>
              <a:srgbClr val="B6B1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0" y="1371600"/>
            <a:ext cx="2148840" cy="3794760"/>
          </a:xfrm>
          <a:prstGeom prst="line">
            <a:avLst/>
          </a:prstGeom>
          <a:noFill/>
          <a:ln w="10160">
            <a:solidFill>
              <a:srgbClr val="B6B1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70848" y="5065776"/>
            <a:ext cx="2295144" cy="310896"/>
          </a:xfrm>
          <a:prstGeom prst="roundRect">
            <a:avLst/>
          </a:prstGeom>
          <a:solidFill>
            <a:srgbClr val="FFFCF5">
              <a:alpha val="93000"/>
            </a:srgbClr>
          </a:solidFill>
          <a:ln w="12700">
            <a:solidFill>
              <a:srgbClr val="FFFCF5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0" y="511149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672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图片占位｜结束页城市夜景</a:t>
            </a:r>
            <a:endParaRPr lang="en-US" sz="68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07161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896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图片替换说明：所有灰色虚线框均为独立形状，可在PowerPoint中删除后插入图片；其余图形和文字均可编辑。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城市文旅战略研究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丹东城市旅游战略提升与鸭绿江沿江文旅发展规划</dc:title>
  <dc:subject>政府研讨版战略规划</dc:subject>
  <dc:creator>丹东城市旅游战略研究</dc:creator>
  <cp:lastModifiedBy>丹东城市旅游战略研究</cp:lastModifiedBy>
  <cp:revision>1</cp:revision>
  <dcterms:created xsi:type="dcterms:W3CDTF">2026-07-28T14:22:55Z</dcterms:created>
  <dcterms:modified xsi:type="dcterms:W3CDTF">2026-07-28T14:22:55Z</dcterms:modified>
</cp:coreProperties>
</file>